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slideLayouts/slideLayout14.xml" ContentType="application/vnd.openxmlformats-officedocument.presentationml.slideLayout+xml"/>
  <Override PartName="/ppt/theme/theme13.xml" ContentType="application/vnd.openxmlformats-officedocument.theme+xml"/>
  <Override PartName="/ppt/slideLayouts/slideLayout15.xml" ContentType="application/vnd.openxmlformats-officedocument.presentationml.slideLayout+xml"/>
  <Override PartName="/ppt/theme/theme14.xml" ContentType="application/vnd.openxmlformats-officedocument.theme+xml"/>
  <Override PartName="/ppt/slideLayouts/slideLayout16.xml" ContentType="application/vnd.openxmlformats-officedocument.presentationml.slideLayout+xml"/>
  <Override PartName="/ppt/theme/theme15.xml" ContentType="application/vnd.openxmlformats-officedocument.theme+xml"/>
  <Override PartName="/ppt/slideLayouts/slideLayout17.xml" ContentType="application/vnd.openxmlformats-officedocument.presentationml.slideLayout+xml"/>
  <Override PartName="/ppt/theme/theme16.xml" ContentType="application/vnd.openxmlformats-officedocument.theme+xml"/>
  <Override PartName="/ppt/slideLayouts/slideLayout18.xml" ContentType="application/vnd.openxmlformats-officedocument.presentationml.slideLayout+xml"/>
  <Override PartName="/ppt/theme/theme17.xml" ContentType="application/vnd.openxmlformats-officedocument.theme+xml"/>
  <Override PartName="/ppt/slideLayouts/slideLayout19.xml" ContentType="application/vnd.openxmlformats-officedocument.presentationml.slideLayout+xml"/>
  <Override PartName="/ppt/theme/theme18.xml" ContentType="application/vnd.openxmlformats-officedocument.theme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slideLayouts/slideLayout21.xml" ContentType="application/vnd.openxmlformats-officedocument.presentationml.slideLayout+xml"/>
  <Override PartName="/ppt/theme/theme20.xml" ContentType="application/vnd.openxmlformats-officedocument.theme+xml"/>
  <Override PartName="/ppt/slideLayouts/slideLayout22.xml" ContentType="application/vnd.openxmlformats-officedocument.presentationml.slideLayout+xml"/>
  <Override PartName="/ppt/theme/theme21.xml" ContentType="application/vnd.openxmlformats-officedocument.theme+xml"/>
  <Override PartName="/ppt/slideLayouts/slideLayout23.xml" ContentType="application/vnd.openxmlformats-officedocument.presentationml.slideLayout+xml"/>
  <Override PartName="/ppt/theme/theme22.xml" ContentType="application/vnd.openxmlformats-officedocument.theme+xml"/>
  <Override PartName="/ppt/slideLayouts/slideLayout24.xml" ContentType="application/vnd.openxmlformats-officedocument.presentationml.slideLayout+xml"/>
  <Override PartName="/ppt/theme/theme23.xml" ContentType="application/vnd.openxmlformats-officedocument.theme+xml"/>
  <Override PartName="/ppt/slideLayouts/slideLayout25.xml" ContentType="application/vnd.openxmlformats-officedocument.presentationml.slideLayout+xml"/>
  <Override PartName="/ppt/theme/theme24.xml" ContentType="application/vnd.openxmlformats-officedocument.theme+xml"/>
  <Override PartName="/ppt/slideLayouts/slideLayout26.xml" ContentType="application/vnd.openxmlformats-officedocument.presentationml.slideLayout+xml"/>
  <Override PartName="/ppt/theme/theme25.xml" ContentType="application/vnd.openxmlformats-officedocument.theme+xml"/>
  <Override PartName="/ppt/slideLayouts/slideLayout27.xml" ContentType="application/vnd.openxmlformats-officedocument.presentationml.slideLayout+xml"/>
  <Override PartName="/ppt/theme/theme26.xml" ContentType="application/vnd.openxmlformats-officedocument.theme+xml"/>
  <Override PartName="/ppt/slideLayouts/slideLayout28.xml" ContentType="application/vnd.openxmlformats-officedocument.presentationml.slideLayout+xml"/>
  <Override PartName="/ppt/theme/theme27.xml" ContentType="application/vnd.openxmlformats-officedocument.theme+xml"/>
  <Override PartName="/ppt/slideLayouts/slideLayout29.xml" ContentType="application/vnd.openxmlformats-officedocument.presentationml.slideLayout+xml"/>
  <Override PartName="/ppt/theme/theme28.xml" ContentType="application/vnd.openxmlformats-officedocument.theme+xml"/>
  <Override PartName="/ppt/slideLayouts/slideLayout30.xml" ContentType="application/vnd.openxmlformats-officedocument.presentationml.slideLayout+xml"/>
  <Override PartName="/ppt/theme/theme29.xml" ContentType="application/vnd.openxmlformats-officedocument.theme+xml"/>
  <Override PartName="/ppt/slideLayouts/slideLayout31.xml" ContentType="application/vnd.openxmlformats-officedocument.presentationml.slideLayout+xml"/>
  <Override PartName="/ppt/theme/theme30.xml" ContentType="application/vnd.openxmlformats-officedocument.theme+xml"/>
  <Override PartName="/ppt/slideLayouts/slideLayout32.xml" ContentType="application/vnd.openxmlformats-officedocument.presentationml.slideLayout+xml"/>
  <Override PartName="/ppt/theme/theme31.xml" ContentType="application/vnd.openxmlformats-officedocument.theme+xml"/>
  <Override PartName="/ppt/slideLayouts/slideLayout33.xml" ContentType="application/vnd.openxmlformats-officedocument.presentationml.slideLayout+xml"/>
  <Override PartName="/ppt/theme/theme32.xml" ContentType="application/vnd.openxmlformats-officedocument.theme+xml"/>
  <Override PartName="/ppt/slideLayouts/slideLayout34.xml" ContentType="application/vnd.openxmlformats-officedocument.presentationml.slideLayout+xml"/>
  <Override PartName="/ppt/theme/theme33.xml" ContentType="application/vnd.openxmlformats-officedocument.theme+xml"/>
  <Override PartName="/ppt/slideLayouts/slideLayout35.xml" ContentType="application/vnd.openxmlformats-officedocument.presentationml.slideLayout+xml"/>
  <Override PartName="/ppt/theme/theme34.xml" ContentType="application/vnd.openxmlformats-officedocument.theme+xml"/>
  <Override PartName="/ppt/slideLayouts/slideLayout36.xml" ContentType="application/vnd.openxmlformats-officedocument.presentationml.slideLayout+xml"/>
  <Override PartName="/ppt/theme/theme35.xml" ContentType="application/vnd.openxmlformats-officedocument.theme+xml"/>
  <Override PartName="/ppt/slideLayouts/slideLayout37.xml" ContentType="application/vnd.openxmlformats-officedocument.presentationml.slideLayout+xml"/>
  <Override PartName="/ppt/theme/theme36.xml" ContentType="application/vnd.openxmlformats-officedocument.theme+xml"/>
  <Override PartName="/ppt/slideLayouts/slideLayout38.xml" ContentType="application/vnd.openxmlformats-officedocument.presentationml.slideLayout+xml"/>
  <Override PartName="/ppt/theme/theme37.xml" ContentType="application/vnd.openxmlformats-officedocument.theme+xml"/>
  <Override PartName="/ppt/slideLayouts/slideLayout39.xml" ContentType="application/vnd.openxmlformats-officedocument.presentationml.slideLayout+xml"/>
  <Override PartName="/ppt/theme/theme38.xml" ContentType="application/vnd.openxmlformats-officedocument.theme+xml"/>
  <Override PartName="/ppt/slideLayouts/slideLayout40.xml" ContentType="application/vnd.openxmlformats-officedocument.presentationml.slideLayout+xml"/>
  <Override PartName="/ppt/theme/theme39.xml" ContentType="application/vnd.openxmlformats-officedocument.theme+xml"/>
  <Override PartName="/ppt/slideLayouts/slideLayout41.xml" ContentType="application/vnd.openxmlformats-officedocument.presentationml.slideLayout+xml"/>
  <Override PartName="/ppt/theme/theme40.xml" ContentType="application/vnd.openxmlformats-officedocument.theme+xml"/>
  <Override PartName="/ppt/slideLayouts/slideLayout42.xml" ContentType="application/vnd.openxmlformats-officedocument.presentationml.slideLayout+xml"/>
  <Override PartName="/ppt/theme/theme41.xml" ContentType="application/vnd.openxmlformats-officedocument.theme+xml"/>
  <Override PartName="/ppt/theme/theme4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651" r:id="rId2"/>
    <p:sldMasterId id="2147483955" r:id="rId3"/>
    <p:sldMasterId id="2147483957" r:id="rId4"/>
    <p:sldMasterId id="2147483959" r:id="rId5"/>
    <p:sldMasterId id="2147483961" r:id="rId6"/>
    <p:sldMasterId id="2147483652" r:id="rId7"/>
    <p:sldMasterId id="2147483963" r:id="rId8"/>
    <p:sldMasterId id="2147483965" r:id="rId9"/>
    <p:sldMasterId id="2147483967" r:id="rId10"/>
    <p:sldMasterId id="2147483969" r:id="rId11"/>
    <p:sldMasterId id="2147483970" r:id="rId12"/>
    <p:sldMasterId id="2147483972" r:id="rId13"/>
    <p:sldMasterId id="2147483974" r:id="rId14"/>
    <p:sldMasterId id="2147483976" r:id="rId15"/>
    <p:sldMasterId id="2147483977" r:id="rId16"/>
    <p:sldMasterId id="2147483979" r:id="rId17"/>
    <p:sldMasterId id="2147483981" r:id="rId18"/>
    <p:sldMasterId id="2147483983" r:id="rId19"/>
    <p:sldMasterId id="2147483985" r:id="rId20"/>
    <p:sldMasterId id="2147483987" r:id="rId21"/>
    <p:sldMasterId id="2147483989" r:id="rId22"/>
    <p:sldMasterId id="2147483991" r:id="rId23"/>
    <p:sldMasterId id="2147483993" r:id="rId24"/>
    <p:sldMasterId id="2147483995" r:id="rId25"/>
    <p:sldMasterId id="2147483996" r:id="rId26"/>
    <p:sldMasterId id="2147483998" r:id="rId27"/>
    <p:sldMasterId id="2147484000" r:id="rId28"/>
    <p:sldMasterId id="2147484002" r:id="rId29"/>
    <p:sldMasterId id="2147484004" r:id="rId30"/>
    <p:sldMasterId id="2147484006" r:id="rId31"/>
    <p:sldMasterId id="2147484008" r:id="rId32"/>
    <p:sldMasterId id="2147484010" r:id="rId33"/>
    <p:sldMasterId id="2147484014" r:id="rId34"/>
    <p:sldMasterId id="2147484016" r:id="rId35"/>
    <p:sldMasterId id="2147484018" r:id="rId36"/>
    <p:sldMasterId id="2147484020" r:id="rId37"/>
    <p:sldMasterId id="2147484022" r:id="rId38"/>
    <p:sldMasterId id="2147484024" r:id="rId39"/>
    <p:sldMasterId id="2147484026" r:id="rId40"/>
    <p:sldMasterId id="2147484028" r:id="rId41"/>
  </p:sldMasterIdLst>
  <p:notesMasterIdLst>
    <p:notesMasterId r:id="rId90"/>
  </p:notesMasterIdLst>
  <p:sldIdLst>
    <p:sldId id="257" r:id="rId42"/>
    <p:sldId id="258" r:id="rId43"/>
    <p:sldId id="259" r:id="rId44"/>
    <p:sldId id="265" r:id="rId45"/>
    <p:sldId id="260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61" r:id="rId54"/>
    <p:sldId id="262" r:id="rId55"/>
    <p:sldId id="277" r:id="rId56"/>
    <p:sldId id="278" r:id="rId57"/>
    <p:sldId id="279" r:id="rId58"/>
    <p:sldId id="280" r:id="rId59"/>
    <p:sldId id="281" r:id="rId60"/>
    <p:sldId id="282" r:id="rId61"/>
    <p:sldId id="283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292" r:id="rId71"/>
    <p:sldId id="293" r:id="rId72"/>
    <p:sldId id="294" r:id="rId73"/>
    <p:sldId id="295" r:id="rId74"/>
    <p:sldId id="296" r:id="rId75"/>
    <p:sldId id="263" r:id="rId76"/>
    <p:sldId id="266" r:id="rId77"/>
    <p:sldId id="264" r:id="rId78"/>
    <p:sldId id="298" r:id="rId79"/>
    <p:sldId id="299" r:id="rId80"/>
    <p:sldId id="300" r:id="rId81"/>
    <p:sldId id="301" r:id="rId82"/>
    <p:sldId id="302" r:id="rId83"/>
    <p:sldId id="267" r:id="rId84"/>
    <p:sldId id="268" r:id="rId85"/>
    <p:sldId id="269" r:id="rId86"/>
    <p:sldId id="303" r:id="rId87"/>
    <p:sldId id="304" r:id="rId88"/>
    <p:sldId id="305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1.xml"/><Relationship Id="rId47" Type="http://schemas.openxmlformats.org/officeDocument/2006/relationships/slide" Target="slides/slide6.xml"/><Relationship Id="rId63" Type="http://schemas.openxmlformats.org/officeDocument/2006/relationships/slide" Target="slides/slide22.xml"/><Relationship Id="rId68" Type="http://schemas.openxmlformats.org/officeDocument/2006/relationships/slide" Target="slides/slide27.xml"/><Relationship Id="rId84" Type="http://schemas.openxmlformats.org/officeDocument/2006/relationships/slide" Target="slides/slide43.xml"/><Relationship Id="rId89" Type="http://schemas.openxmlformats.org/officeDocument/2006/relationships/slide" Target="slides/slide48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" Target="slides/slide12.xml"/><Relationship Id="rId58" Type="http://schemas.openxmlformats.org/officeDocument/2006/relationships/slide" Target="slides/slide17.xml"/><Relationship Id="rId74" Type="http://schemas.openxmlformats.org/officeDocument/2006/relationships/slide" Target="slides/slide33.xml"/><Relationship Id="rId79" Type="http://schemas.openxmlformats.org/officeDocument/2006/relationships/slide" Target="slides/slide38.xml"/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" Target="slides/slide2.xml"/><Relationship Id="rId48" Type="http://schemas.openxmlformats.org/officeDocument/2006/relationships/slide" Target="slides/slide7.xml"/><Relationship Id="rId64" Type="http://schemas.openxmlformats.org/officeDocument/2006/relationships/slide" Target="slides/slide23.xml"/><Relationship Id="rId69" Type="http://schemas.openxmlformats.org/officeDocument/2006/relationships/slide" Target="slides/slide2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0.xml"/><Relationship Id="rId72" Type="http://schemas.openxmlformats.org/officeDocument/2006/relationships/slide" Target="slides/slide31.xml"/><Relationship Id="rId80" Type="http://schemas.openxmlformats.org/officeDocument/2006/relationships/slide" Target="slides/slide39.xml"/><Relationship Id="rId85" Type="http://schemas.openxmlformats.org/officeDocument/2006/relationships/slide" Target="slides/slide44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" Target="slides/slide5.xml"/><Relationship Id="rId59" Type="http://schemas.openxmlformats.org/officeDocument/2006/relationships/slide" Target="slides/slide18.xml"/><Relationship Id="rId67" Type="http://schemas.openxmlformats.org/officeDocument/2006/relationships/slide" Target="slides/slide26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" Target="slides/slide13.xml"/><Relationship Id="rId62" Type="http://schemas.openxmlformats.org/officeDocument/2006/relationships/slide" Target="slides/slide21.xml"/><Relationship Id="rId70" Type="http://schemas.openxmlformats.org/officeDocument/2006/relationships/slide" Target="slides/slide29.xml"/><Relationship Id="rId75" Type="http://schemas.openxmlformats.org/officeDocument/2006/relationships/slide" Target="slides/slide34.xml"/><Relationship Id="rId83" Type="http://schemas.openxmlformats.org/officeDocument/2006/relationships/slide" Target="slides/slide42.xml"/><Relationship Id="rId88" Type="http://schemas.openxmlformats.org/officeDocument/2006/relationships/slide" Target="slides/slide4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8.xml"/><Relationship Id="rId57" Type="http://schemas.openxmlformats.org/officeDocument/2006/relationships/slide" Target="slides/slide16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3.xml"/><Relationship Id="rId52" Type="http://schemas.openxmlformats.org/officeDocument/2006/relationships/slide" Target="slides/slide11.xml"/><Relationship Id="rId60" Type="http://schemas.openxmlformats.org/officeDocument/2006/relationships/slide" Target="slides/slide19.xml"/><Relationship Id="rId65" Type="http://schemas.openxmlformats.org/officeDocument/2006/relationships/slide" Target="slides/slide24.xml"/><Relationship Id="rId73" Type="http://schemas.openxmlformats.org/officeDocument/2006/relationships/slide" Target="slides/slide32.xml"/><Relationship Id="rId78" Type="http://schemas.openxmlformats.org/officeDocument/2006/relationships/slide" Target="slides/slide37.xml"/><Relationship Id="rId81" Type="http://schemas.openxmlformats.org/officeDocument/2006/relationships/slide" Target="slides/slide40.xml"/><Relationship Id="rId86" Type="http://schemas.openxmlformats.org/officeDocument/2006/relationships/slide" Target="slides/slide45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" Target="slides/slide9.xml"/><Relationship Id="rId55" Type="http://schemas.openxmlformats.org/officeDocument/2006/relationships/slide" Target="slides/slide14.xml"/><Relationship Id="rId76" Type="http://schemas.openxmlformats.org/officeDocument/2006/relationships/slide" Target="slides/slide35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0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" Target="slides/slide4.xml"/><Relationship Id="rId66" Type="http://schemas.openxmlformats.org/officeDocument/2006/relationships/slide" Target="slides/slide25.xml"/><Relationship Id="rId87" Type="http://schemas.openxmlformats.org/officeDocument/2006/relationships/slide" Target="slides/slide46.xml"/><Relationship Id="rId61" Type="http://schemas.openxmlformats.org/officeDocument/2006/relationships/slide" Target="slides/slide20.xml"/><Relationship Id="rId82" Type="http://schemas.openxmlformats.org/officeDocument/2006/relationships/slide" Target="slides/slide4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" Target="slides/slide15.xml"/><Relationship Id="rId77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2B39F-34C7-4E0E-9A67-CF4DC83A0204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C914E-087B-4501-8EE3-4F8EB4CD4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17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2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19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8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E24DF6E-C75C-E069-A78F-02B261C02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2FA58F-2C9F-43CD-A26E-FE414B9C51F3}" type="slidenum">
              <a:rPr lang="en-US" altLang="en-US" sz="1200" b="0"/>
              <a:pPr/>
              <a:t>4</a:t>
            </a:fld>
            <a:endParaRPr lang="en-US" altLang="en-US" sz="1200" b="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B4E394CD-D9BB-4004-661D-5C72A0025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6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8C4B9EA-D840-C717-2893-FF3AC30523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1B20AA3-7785-45BF-9B96-530560111A89}" type="slidenum">
              <a:rPr lang="en-US" altLang="en-US" sz="1200" b="0"/>
              <a:pPr algn="r"/>
              <a:t>6</a:t>
            </a:fld>
            <a:endParaRPr lang="en-US" altLang="en-US" sz="1200" b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8EDF5FF-D74C-2D40-AA29-906972B5D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04FDF3BC-3DD7-A9CB-732F-2BB0858BC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3D620E-D4CC-4DFA-8DD8-3BE621EED578}" type="slidenum">
              <a:rPr lang="en-US" altLang="en-US" sz="1200" b="0"/>
              <a:pPr algn="r"/>
              <a:t>7</a:t>
            </a:fld>
            <a:endParaRPr lang="en-US" altLang="en-US" sz="1200" b="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CAACA2C-C1C7-ABAF-697E-5F16CFC49B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C87BC23-3D87-DDE6-65F8-B172C48B0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5CA1372-1116-45F7-9826-ACE36AA4129D}" type="slidenum">
              <a:rPr lang="en-US" altLang="en-US" sz="1200" b="0"/>
              <a:pPr algn="r"/>
              <a:t>8</a:t>
            </a:fld>
            <a:endParaRPr lang="en-US" altLang="en-US" sz="1200" b="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81D6AB7-4DD8-4BDE-7EF4-AC475F6867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9F60973-4E15-5BC6-B528-1742202ADC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D77F378-3F5A-4FF7-A56B-0F973C9B786D}" type="slidenum">
              <a:rPr lang="en-US" altLang="en-US" sz="1200" b="0"/>
              <a:pPr algn="r"/>
              <a:t>9</a:t>
            </a:fld>
            <a:endParaRPr lang="en-US" altLang="en-US" sz="1200" b="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BA25E92-D852-4319-EA10-A146C04E7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9D582EC-2E55-31D9-D3DC-4BFDA3170C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E222BEE-A962-46D2-9414-31E0F3A1BDD6}" type="slidenum">
              <a:rPr lang="en-US" altLang="en-US" sz="1200" b="0"/>
              <a:pPr algn="r"/>
              <a:t>10</a:t>
            </a:fld>
            <a:endParaRPr lang="en-US" altLang="en-US" sz="1200" b="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6FAB50D-55F0-5B35-B03E-7E7037614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A0EDB553-A931-D6BE-57C4-F47F4CC777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B9D9199-9F41-421F-832B-B8D0345E64F3}" type="slidenum">
              <a:rPr lang="en-US" altLang="en-US" sz="1200" b="0"/>
              <a:pPr algn="r"/>
              <a:t>11</a:t>
            </a:fld>
            <a:endParaRPr lang="en-US" altLang="en-US" sz="1200" b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038C0BD-B22F-B234-ABC4-AC75DE6F1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7EC323D7-C2CC-60F8-DFF5-5D917DBE7D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D897743-A1EC-4C4C-B0DB-7435C37C3233}" type="slidenum">
              <a:rPr lang="en-US" altLang="en-US" sz="1200" b="0"/>
              <a:pPr algn="r"/>
              <a:t>12</a:t>
            </a:fld>
            <a:endParaRPr lang="en-US" altLang="en-US" sz="1200" b="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484F6B0-81B0-AE35-1B10-695E6AFA6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61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7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B68EFAF4-6937-6B5D-F9D7-08D22DED6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70FC9E3-94F0-4F93-A5FB-CC1742EA8498}" type="slidenum">
              <a:rPr lang="en-US" altLang="en-US" sz="1200" b="0"/>
              <a:pPr algn="r"/>
              <a:t>15</a:t>
            </a:fld>
            <a:endParaRPr lang="en-US" altLang="en-US" sz="1200" b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E74A88F-C8AB-3B14-4257-8338D1F035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51AFB59-5082-C7E8-9E2E-0D1A971FB8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C789BD8-A0C9-495A-B8AB-42B736312605}" type="slidenum">
              <a:rPr lang="en-US" altLang="en-US" sz="1200" b="0"/>
              <a:pPr algn="r"/>
              <a:t>16</a:t>
            </a:fld>
            <a:endParaRPr lang="en-US" altLang="en-US" sz="1200" b="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5E7579D-E58D-BF2D-CD35-7A270BFF7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341F6DEF-E996-5196-907F-C4D18192B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718075E-2FF7-478B-8507-1EADB4AFE782}" type="slidenum">
              <a:rPr lang="en-US" altLang="en-US" sz="1200" b="0"/>
              <a:pPr algn="r"/>
              <a:t>17</a:t>
            </a:fld>
            <a:endParaRPr lang="en-US" altLang="en-US" sz="1200" b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CB80316-1D4A-6145-4257-697C62E07A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347DF6B-CEB0-A6FA-00F7-B9AED85948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F7B2B42-40F7-4CC6-8DFF-6163F6300A8A}" type="slidenum">
              <a:rPr lang="en-US" altLang="en-US" sz="1200" b="0"/>
              <a:pPr algn="r"/>
              <a:t>18</a:t>
            </a:fld>
            <a:endParaRPr lang="en-US" altLang="en-US" sz="1200" b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BF7DCD63-181B-C438-5A8A-D42978B026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F60C3F6-74ED-6832-6D35-EB53BE96AD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765CA7D-C45D-464A-B42E-A4BFBF9D29ED}" type="slidenum">
              <a:rPr lang="en-US" altLang="en-US" sz="1200" b="0"/>
              <a:pPr algn="r"/>
              <a:t>19</a:t>
            </a:fld>
            <a:endParaRPr lang="en-US" altLang="en-US" sz="1200" b="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8E9D947-C7C8-F934-1382-42710F8883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C8A52B38-31FE-DB3D-E047-E1F1E76414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31151B2E-0321-4511-B170-6F83CC529984}" type="slidenum">
              <a:rPr lang="en-US" altLang="en-US" sz="1200" b="0"/>
              <a:pPr algn="r"/>
              <a:t>20</a:t>
            </a:fld>
            <a:endParaRPr lang="en-US" altLang="en-US" sz="1200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34C4A6E-B2BB-BF98-1992-E0ECE3B192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845735D1-50BD-0357-51BB-D9102969F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C15BEE6D-E0A4-4A4D-A558-366FB647AFDA}" type="slidenum">
              <a:rPr lang="en-US" altLang="en-US" sz="1200" b="0"/>
              <a:pPr algn="r"/>
              <a:t>21</a:t>
            </a:fld>
            <a:endParaRPr lang="en-US" altLang="en-US" sz="1200" b="0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8EB28B95-BA13-0C69-0BD8-C2750FB8B0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5BEAB41A-752C-FF5B-40EB-C6601E27AE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C1B3C51-EF90-4370-A255-560B3BDD9C1D}" type="slidenum">
              <a:rPr lang="en-US" altLang="en-US" sz="1200" b="0"/>
              <a:pPr algn="r"/>
              <a:t>22</a:t>
            </a:fld>
            <a:endParaRPr lang="en-US" altLang="en-US" sz="1200" b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82755FED-603D-E470-BF62-AE0EC849E4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3F397E98-2DBE-516F-A7EA-8600B6AF54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7F842E4-C001-4278-BDA4-33EE033E8615}" type="slidenum">
              <a:rPr lang="en-US" altLang="en-US" sz="1200" b="0"/>
              <a:pPr algn="r"/>
              <a:t>23</a:t>
            </a:fld>
            <a:endParaRPr lang="en-US" altLang="en-US" sz="1200" b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71C3FFF-4AA4-27BC-12E9-25024AE849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0CAC390-A73B-2F5D-F59F-546FA9A7E5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2ED4953E-0A66-4F54-A02F-4F2B062815B2}" type="slidenum">
              <a:rPr lang="en-US" altLang="en-US" sz="1200" b="0"/>
              <a:pPr algn="r"/>
              <a:t>24</a:t>
            </a:fld>
            <a:endParaRPr lang="en-US" altLang="en-US" sz="1200" b="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FD16B76-D375-CB6A-AE18-11FFB2691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1FCC21C0-CCAC-3B85-CF86-757FEEA7E8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9A21012-A22E-475C-8A39-9214E115E3C6}" type="slidenum">
              <a:rPr lang="en-US" altLang="en-US" sz="1200" b="0"/>
              <a:pPr algn="r"/>
              <a:t>25</a:t>
            </a:fld>
            <a:endParaRPr lang="en-US" altLang="en-US" sz="1200" b="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A0739C8-065C-DD9D-A66D-FE3D684328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7DAD92B5-F978-3FFE-E59D-EDE4555125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60A6A17E-7046-4A6C-B945-25832BC14E0E}" type="slidenum">
              <a:rPr lang="en-US" altLang="en-US" sz="1200" b="0"/>
              <a:pPr algn="r"/>
              <a:t>26</a:t>
            </a:fld>
            <a:endParaRPr lang="en-US" altLang="en-US" sz="1200" b="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DB51A43-F781-6D3E-D588-BEA65AD5A7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B1852DA1-073A-746F-3632-E1CCCCCB2F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F3F839A-2287-4787-AEA5-A707A6CDFDB5}" type="slidenum">
              <a:rPr lang="en-US" altLang="en-US" sz="1200" b="0"/>
              <a:pPr algn="r"/>
              <a:t>27</a:t>
            </a:fld>
            <a:endParaRPr lang="en-US" altLang="en-US" sz="1200" b="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A37D8ED8-E94D-B2CC-B8B2-8B02432211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3CD54CBA-1D42-5A34-7FC3-B8F3CA2F5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C42569DE-B887-490B-84DE-F0C0B6FE8BAD}" type="slidenum">
              <a:rPr lang="en-US" altLang="en-US" sz="1200" b="0"/>
              <a:pPr algn="r"/>
              <a:t>28</a:t>
            </a:fld>
            <a:endParaRPr lang="en-US" altLang="en-US" sz="1200" b="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939AD0EF-04A8-931A-7901-CB23224CC0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8AF7452-D5DA-FA26-2EF2-7502D4000C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20739A6-BB86-4222-9266-0C94CFD55EEE}" type="slidenum">
              <a:rPr lang="en-US" altLang="en-US" sz="1200" b="0"/>
              <a:pPr algn="r"/>
              <a:t>29</a:t>
            </a:fld>
            <a:endParaRPr lang="en-US" altLang="en-US" sz="1200" b="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5D9569DD-5303-21AB-6C7D-0B01FB1400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F19492AD-87D9-DF33-E6EF-B04971118E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106B50E-5605-4FDE-A066-2D5FB7063C1F}" type="slidenum">
              <a:rPr lang="en-US" altLang="en-US" sz="1200" b="0"/>
              <a:pPr algn="r"/>
              <a:t>30</a:t>
            </a:fld>
            <a:endParaRPr lang="en-US" altLang="en-US" sz="1200" b="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551CFE7-B165-D784-B8EE-35A77CC1D2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76F87921-C0D4-F0E5-B37B-5114107570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4C029B2-4D00-48BF-9723-5AD3163A8E5F}" type="slidenum">
              <a:rPr lang="en-US" altLang="en-US" sz="1200" b="0"/>
              <a:pPr algn="r"/>
              <a:t>31</a:t>
            </a:fld>
            <a:endParaRPr lang="en-US" altLang="en-US" sz="1200" b="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CAC3744-7CE6-1670-32E3-10A1E80C2B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BE915408-A778-6FE0-EE1A-0DF2783104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66BC709-F4CC-4951-904B-62775B425F53}" type="slidenum">
              <a:rPr lang="en-US" altLang="en-US" sz="1200" b="0"/>
              <a:pPr algn="r"/>
              <a:t>32</a:t>
            </a:fld>
            <a:endParaRPr lang="en-US" altLang="en-US" sz="1200" b="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3D14F3B7-EECB-4914-0420-E8B85B8543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212EA200-AEAA-081B-9FD1-F4B4E03E30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6C6E238A-9E90-4F02-B52F-703A1D19D74C}" type="slidenum">
              <a:rPr lang="en-US" altLang="en-US" sz="1200" b="0"/>
              <a:pPr algn="r"/>
              <a:t>33</a:t>
            </a:fld>
            <a:endParaRPr lang="en-US" altLang="en-US" sz="1200" b="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EEA48470-0FCF-2825-59E9-3BD8D82609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171E2BED-6D2F-55BD-DF0A-B3718E168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D51916A-75CD-4470-B01F-3DB846BFCF70}" type="slidenum">
              <a:rPr lang="en-US" altLang="en-US" sz="1200" b="0"/>
              <a:pPr algn="r"/>
              <a:t>34</a:t>
            </a:fld>
            <a:endParaRPr lang="en-US" altLang="en-US" sz="1200" b="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C193A47-7CD6-B494-66EF-DA6FF0DB7D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95FAA1C7-7224-3E08-3ECE-F0B0E08F1F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972C01-7678-4B9F-846C-940E5293C7D7}" type="slidenum">
              <a:rPr lang="en-US" altLang="en-US" sz="1200" b="0"/>
              <a:pPr/>
              <a:t>35</a:t>
            </a:fld>
            <a:endParaRPr lang="en-US" altLang="en-US" sz="1200" b="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813F12A5-B837-5437-0933-8EB439CA1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E3EDC361-972D-F63A-1F18-E3F3A8F7E1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37FDA1-393B-47ED-98C4-D4AC948BB5A2}" type="slidenum">
              <a:rPr lang="en-US" altLang="en-US" sz="1200" b="0"/>
              <a:pPr/>
              <a:t>36</a:t>
            </a:fld>
            <a:endParaRPr lang="en-US" altLang="en-US" sz="1200" b="0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0B031528-F111-2696-E9D4-B74853525D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909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311BDCCA-AD18-B44B-9FB4-1181546D1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4999A12-C6EE-46D1-815A-71191BF87FCF}" type="slidenum">
              <a:rPr lang="en-US" altLang="en-US" sz="1200" b="0"/>
              <a:pPr algn="r"/>
              <a:t>38</a:t>
            </a:fld>
            <a:endParaRPr lang="en-US" altLang="en-US" sz="1200" b="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F0EE1959-1C4F-7E96-195C-7A64FB9B6B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00D23328-5267-D61E-5DAB-9873558CC2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980E78AC-8997-4157-B425-909E78438C5F}" type="slidenum">
              <a:rPr lang="en-US" altLang="en-US" sz="1200" b="0"/>
              <a:pPr algn="r"/>
              <a:t>39</a:t>
            </a:fld>
            <a:endParaRPr lang="en-US" altLang="en-US" sz="1200" b="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76E25802-29BA-B71F-0947-15A95F1C2F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17A68331-3FC4-39E8-0B91-04C38CEE18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73D14C1-8EB4-4004-A8D3-36105397B900}" type="slidenum">
              <a:rPr lang="en-US" altLang="en-US" sz="1200" b="0"/>
              <a:pPr algn="r"/>
              <a:t>40</a:t>
            </a:fld>
            <a:endParaRPr lang="en-US" altLang="en-US" sz="1200" b="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7E1E7522-4E12-A394-2DA2-46ADC7F3A1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033740C9-8C09-2ECF-00F7-543200686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F44D2F3-06B7-485F-9AAA-3417F02F7D52}" type="slidenum">
              <a:rPr lang="en-US" altLang="en-US" sz="1200" b="0"/>
              <a:pPr algn="r"/>
              <a:t>41</a:t>
            </a:fld>
            <a:endParaRPr lang="en-US" altLang="en-US" sz="1200" b="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A4EAD35-F9CE-E86B-8E79-EF701A0E2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980F32C0-0B78-54BC-1740-BC66299776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6A439980-F506-4BC6-A4A9-38B7FAFAFBBD}" type="slidenum">
              <a:rPr lang="en-US" altLang="en-US" sz="1200" b="0"/>
              <a:pPr algn="r"/>
              <a:t>42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7D478206-1BFB-A1B5-EE3A-E3E572D3E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EAF864B-A154-40F5-A8EB-926517DE7F16}" type="slidenum">
              <a:rPr lang="en-US" altLang="en-US" sz="1200" b="0"/>
              <a:pPr/>
              <a:t>43</a:t>
            </a:fld>
            <a:endParaRPr lang="en-US" altLang="en-US" sz="1200" b="0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0B5D2926-C9F8-0CEB-4613-0B9218517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C914E-087B-4501-8EE3-4F8EB4CD42C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502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B5A85DCC-6EBF-DFC3-6D1F-97E63F93F8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87B2B62-C061-41AE-B676-04280F1C37C2}" type="slidenum">
              <a:rPr lang="en-US" altLang="en-US" sz="1200" b="0"/>
              <a:pPr/>
              <a:t>45</a:t>
            </a:fld>
            <a:endParaRPr lang="en-US" altLang="en-US" sz="1200" b="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99DB48D9-7FC0-EB72-A9EF-1FB292772B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E914D618-C9B3-DD7E-50FB-A8C2BA8E7B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B2CE6AE-616C-472A-9230-660B90A4D4B3}" type="slidenum">
              <a:rPr lang="en-US" altLang="en-US" sz="1200" b="0"/>
              <a:pPr algn="r"/>
              <a:t>46</a:t>
            </a:fld>
            <a:endParaRPr lang="en-US" altLang="en-US" sz="1200" b="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9D123BEB-FCF0-C4F4-E7A1-D4863C3BB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4092CFE-0737-9B89-F4D5-200531757B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27E5F81-745C-47AC-B97E-5321BEDB32F5}" type="slidenum">
              <a:rPr lang="en-US" altLang="en-US" sz="1200" b="0"/>
              <a:pPr algn="r"/>
              <a:t>47</a:t>
            </a:fld>
            <a:endParaRPr lang="en-US" altLang="en-US" sz="1200" b="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1082BC1-8768-1E03-3ACA-56068BE7E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CF88A58-1319-2715-F188-E171E5C08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709662A-5562-4C4D-959E-D2ABDDBBCCF1}" type="slidenum">
              <a:rPr lang="en-US" altLang="en-US" sz="1200" b="0"/>
              <a:pPr algn="r"/>
              <a:t>48</a:t>
            </a:fld>
            <a:endParaRPr lang="en-US" altLang="en-US" sz="1200" b="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75F66915-3C86-0A2B-DE81-95E9ECCCB4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E29D-3708-948F-977A-94A83411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CC92-D6D8-C8D7-6A69-B7FC38C40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1BBA1-9167-9A02-55F5-91539069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D796-BBEE-4AC8-8376-02BB2576714E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62437-94A8-0DCB-145B-FCC577AB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B1475-0CA5-4C83-9223-89473CAE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983D-6C08-497E-8988-D2781C41C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9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E9CB-3833-3218-5395-657462B05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59D63-C9EF-D414-54C4-DFB5E710E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1575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7413380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741338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7413380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7413380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741338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087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087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0873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08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0873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0873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028917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232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008736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8800" y="222250"/>
            <a:ext cx="108712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1200" y="3771900"/>
            <a:ext cx="10668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789997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45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6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7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9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0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1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2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3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4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7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8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9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0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1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D8881-F679-D811-60D1-BC5978FC5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F46D7-104B-49DD-A06D-8A63B5AF7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4C1E2-8597-F8AE-B481-0212FBA5B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7D796-BBEE-4AC8-8376-02BB2576714E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07A47-D2E0-B338-C4DD-34BF1A49B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F1245-82DD-0562-632A-8976F6EC9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2983D-6C08-497E-8988-D2781C41C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8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EEB8E6-F85B-FCB4-C056-AFD90440C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442245-1E92-966D-7BA4-6EE161F73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EEB8E6-F85B-FCB4-C056-AFD90440C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442245-1E92-966D-7BA4-6EE161F73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EEB8E6-F85B-FCB4-C056-AFD90440C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442245-1E92-966D-7BA4-6EE161F73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EEB8E6-F85B-FCB4-C056-AFD90440C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442245-1E92-966D-7BA4-6EE161F73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EEB8E6-F85B-FCB4-C056-AFD90440C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442245-1E92-966D-7BA4-6EE161F73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AE35A1-2D67-58D0-26F2-5449AC619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1066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9118B0-D7C0-2CA4-3DD8-3091D49F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22250"/>
            <a:ext cx="108712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A788-4B84-5111-B493-33A0180B450E}"/>
              </a:ext>
            </a:extLst>
          </p:cNvPr>
          <p:cNvSpPr/>
          <p:nvPr userDrawn="1"/>
        </p:nvSpPr>
        <p:spPr>
          <a:xfrm>
            <a:off x="5289551" y="3198814"/>
            <a:ext cx="245533" cy="4603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entury Gothic" pitchFamily="-10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hlink"/>
        </a:buClr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Times" pitchFamily="-108" charset="0"/>
        <a:buChar char="•"/>
        <a:defRPr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18EB-A750-19E9-E27C-81CF55FB8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941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/>
              <a:t>Lecture </a:t>
            </a:r>
            <a:r>
              <a:rPr lang="en-US" sz="4000"/>
              <a:t>- 2</a:t>
            </a:r>
            <a:endParaRPr lang="en-US" sz="4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47FB5B-E53F-C954-689D-26D972F629EC}"/>
              </a:ext>
            </a:extLst>
          </p:cNvPr>
          <p:cNvSpPr txBox="1">
            <a:spLocks/>
          </p:cNvSpPr>
          <p:nvPr/>
        </p:nvSpPr>
        <p:spPr>
          <a:xfrm>
            <a:off x="1524000" y="245352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Introduction to Unified Modeling Language</a:t>
            </a:r>
          </a:p>
        </p:txBody>
      </p:sp>
    </p:spTree>
    <p:extLst>
      <p:ext uri="{BB962C8B-B14F-4D97-AF65-F5344CB8AC3E}">
        <p14:creationId xmlns:p14="http://schemas.microsoft.com/office/powerpoint/2010/main" val="119226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0AE6-2513-1FE5-31E0-A5B8ABE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308A-EF6B-273D-A0E0-C28FCAFF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Concepts of modeling in general and object-oriented modeling.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 case diagrams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Class diagrams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Sequence diagrams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Statechart diagrams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Activity diagrams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07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0AE6-2513-1FE5-31E0-A5B8ABE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308A-EF6B-273D-A0E0-C28FCAFF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Functional model: represented by use case diagrams </a:t>
            </a:r>
            <a:r>
              <a:rPr lang="en-US" altLang="en-US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</a:t>
            </a:r>
            <a:r>
              <a:rPr lang="en-US" altLang="en-US" dirty="0">
                <a:ea typeface="ＭＳ Ｐゴシック" panose="020B0600070205080204" pitchFamily="34" charset="-128"/>
              </a:rPr>
              <a:t>describes the functionality of the system from the user’s point of view.</a:t>
            </a:r>
          </a:p>
          <a:p>
            <a:pPr marL="457200" lvl="1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dirty="0"/>
              <a:t>Object model: represented by class diagrams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describes the structure of the system in terms of objects, attributes, associations, and operations.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lvl="1"/>
            <a:r>
              <a:rPr lang="en-US" dirty="0"/>
              <a:t>Dynamic model: represented by interaction diagrams, state machine diagrams, activity diagrams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describes the internal behavior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352898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9" name="Rectangle 5">
            <a:extLst>
              <a:ext uri="{FF2B5EF4-FFF2-40B4-BE49-F238E27FC236}">
                <a16:creationId xmlns:a16="http://schemas.microsoft.com/office/drawing/2014/main" id="{F0BB9CB9-41F2-8B4B-6D67-B3878BCF5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565" y="1104900"/>
            <a:ext cx="9632272" cy="4967426"/>
          </a:xfrm>
        </p:spPr>
        <p:txBody>
          <a:bodyPr/>
          <a:lstStyle/>
          <a:p>
            <a:r>
              <a:rPr lang="en-US" altLang="en-US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Use case diagrams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Describe the functional behavior of the system as seen by the user.</a:t>
            </a:r>
          </a:p>
          <a:p>
            <a:r>
              <a:rPr lang="en-US" altLang="en-US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Class diagrams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Describe the static structure of the system: Objects, attributes, associations.</a:t>
            </a:r>
          </a:p>
          <a:p>
            <a:r>
              <a:rPr lang="en-US" altLang="en-US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Sequence diagrams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Describe the dynamic behavior between objects of the system.</a:t>
            </a:r>
          </a:p>
          <a:p>
            <a:r>
              <a:rPr lang="en-US" altLang="en-US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Statechart diagrams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Describe the dynamic behavior of an individual object.</a:t>
            </a:r>
          </a:p>
          <a:p>
            <a:r>
              <a:rPr lang="en-US" altLang="en-US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Activity diagrams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Describe the dynamic behavior of a system, in particular the workflow.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4E0D879-DD0C-E312-CAC8-66DAFF17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4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19024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0AE6-2513-1FE5-31E0-A5B8ABE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Use Case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308A-EF6B-273D-A0E0-C28FCAFF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Used during requirements elicitation and analysis to represent the functionality of the system.</a:t>
            </a:r>
          </a:p>
          <a:p>
            <a:pPr marL="457200" lvl="1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Focuses on the behavior of the system from an external point of view.</a:t>
            </a:r>
          </a:p>
          <a:p>
            <a:pPr marL="457200" lvl="1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Describes a function provided by the system that yields a visible result for an actor.</a:t>
            </a:r>
          </a:p>
          <a:p>
            <a:pPr marL="457200" lvl="1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Identification of actors and use cases results in the definition of the boundary of the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9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4">
            <a:extLst>
              <a:ext uri="{FF2B5EF4-FFF2-40B4-BE49-F238E27FC236}">
                <a16:creationId xmlns:a16="http://schemas.microsoft.com/office/drawing/2014/main" id="{5DCA3C05-F654-F4C9-CD1F-AEC779C632A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576889" y="2522538"/>
            <a:ext cx="4478337" cy="804862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An </a:t>
            </a:r>
            <a:r>
              <a:rPr lang="en-US" altLang="en-US" sz="2000" b="1" i="1">
                <a:ea typeface="ＭＳ Ｐゴシック" panose="020B0600070205080204" pitchFamily="34" charset="-128"/>
              </a:rPr>
              <a:t>Actor</a:t>
            </a:r>
            <a:r>
              <a:rPr lang="en-US" altLang="en-US" sz="2000">
                <a:ea typeface="ＭＳ Ｐゴシック" panose="020B0600070205080204" pitchFamily="34" charset="-128"/>
              </a:rPr>
              <a:t> represents a role, that is, a type of user of the system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7D7AC669-F08D-8DE9-BE46-013005D55222}"/>
              </a:ext>
            </a:extLst>
          </p:cNvPr>
          <p:cNvGrpSpPr>
            <a:grpSpLocks/>
          </p:cNvGrpSpPr>
          <p:nvPr/>
        </p:nvGrpSpPr>
        <p:grpSpPr bwMode="auto">
          <a:xfrm>
            <a:off x="1947864" y="1754189"/>
            <a:ext cx="1646237" cy="1677987"/>
            <a:chOff x="517" y="1105"/>
            <a:chExt cx="1037" cy="1057"/>
          </a:xfrm>
        </p:grpSpPr>
        <p:grpSp>
          <p:nvGrpSpPr>
            <p:cNvPr id="18445" name="Group 17">
              <a:extLst>
                <a:ext uri="{FF2B5EF4-FFF2-40B4-BE49-F238E27FC236}">
                  <a16:creationId xmlns:a16="http://schemas.microsoft.com/office/drawing/2014/main" id="{C5B2F54A-2D52-F4FB-DA17-7B4735B42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5" y="1105"/>
              <a:ext cx="445" cy="783"/>
              <a:chOff x="659" y="1833"/>
              <a:chExt cx="299" cy="526"/>
            </a:xfrm>
          </p:grpSpPr>
          <p:sp>
            <p:nvSpPr>
              <p:cNvPr id="18447" name="Freeform 6">
                <a:extLst>
                  <a:ext uri="{FF2B5EF4-FFF2-40B4-BE49-F238E27FC236}">
                    <a16:creationId xmlns:a16="http://schemas.microsoft.com/office/drawing/2014/main" id="{49C49D75-A8BA-1F3B-112D-03908F8AE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8448" name="Line 7">
                <a:extLst>
                  <a:ext uri="{FF2B5EF4-FFF2-40B4-BE49-F238E27FC236}">
                    <a16:creationId xmlns:a16="http://schemas.microsoft.com/office/drawing/2014/main" id="{F2ACE6A6-F773-56BE-88A5-321F9E4F6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8449" name="Line 8">
                <a:extLst>
                  <a:ext uri="{FF2B5EF4-FFF2-40B4-BE49-F238E27FC236}">
                    <a16:creationId xmlns:a16="http://schemas.microsoft.com/office/drawing/2014/main" id="{B38BFC1B-E69A-4C50-CB5F-E46C6DF4A7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8450" name="Oval 9">
                <a:extLst>
                  <a:ext uri="{FF2B5EF4-FFF2-40B4-BE49-F238E27FC236}">
                    <a16:creationId xmlns:a16="http://schemas.microsoft.com/office/drawing/2014/main" id="{CDB1938B-D6A6-0237-F444-CA06F8972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18446" name="Rectangle 10">
              <a:extLst>
                <a:ext uri="{FF2B5EF4-FFF2-40B4-BE49-F238E27FC236}">
                  <a16:creationId xmlns:a16="http://schemas.microsoft.com/office/drawing/2014/main" id="{BEFC60CC-5D83-A9D0-63A4-2E6640CC3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1932"/>
              <a:ext cx="103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1D7FC8E7-B721-2771-46A2-DF194F47B4EE}"/>
              </a:ext>
            </a:extLst>
          </p:cNvPr>
          <p:cNvGrpSpPr>
            <a:grpSpLocks/>
          </p:cNvGrpSpPr>
          <p:nvPr/>
        </p:nvGrpSpPr>
        <p:grpSpPr bwMode="auto">
          <a:xfrm>
            <a:off x="2597150" y="3495676"/>
            <a:ext cx="2736850" cy="1801813"/>
            <a:chOff x="1358" y="2283"/>
            <a:chExt cx="1724" cy="1135"/>
          </a:xfrm>
        </p:grpSpPr>
        <p:grpSp>
          <p:nvGrpSpPr>
            <p:cNvPr id="18441" name="Group 15">
              <a:extLst>
                <a:ext uri="{FF2B5EF4-FFF2-40B4-BE49-F238E27FC236}">
                  <a16:creationId xmlns:a16="http://schemas.microsoft.com/office/drawing/2014/main" id="{8C14B987-58F4-734E-9DC6-42A59B34A5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9" y="2682"/>
              <a:ext cx="1613" cy="736"/>
              <a:chOff x="2212" y="1949"/>
              <a:chExt cx="1084" cy="495"/>
            </a:xfrm>
          </p:grpSpPr>
          <p:sp>
            <p:nvSpPr>
              <p:cNvPr id="18443" name="Oval 12">
                <a:extLst>
                  <a:ext uri="{FF2B5EF4-FFF2-40B4-BE49-F238E27FC236}">
                    <a16:creationId xmlns:a16="http://schemas.microsoft.com/office/drawing/2014/main" id="{8D62C709-F69E-1892-82C7-365FEB277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9" y="1949"/>
                <a:ext cx="753" cy="32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8444" name="Rectangle 13">
                <a:extLst>
                  <a:ext uri="{FF2B5EF4-FFF2-40B4-BE49-F238E27FC236}">
                    <a16:creationId xmlns:a16="http://schemas.microsoft.com/office/drawing/2014/main" id="{9EA99B86-200E-0E57-8145-A563188A2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" y="2289"/>
                <a:ext cx="1084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rgbClr val="000000"/>
                    </a:solidFill>
                    <a:latin typeface="Courier" charset="0"/>
                  </a:rPr>
                  <a:t>PurchaseTicket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442" name="Line 14">
              <a:extLst>
                <a:ext uri="{FF2B5EF4-FFF2-40B4-BE49-F238E27FC236}">
                  <a16:creationId xmlns:a16="http://schemas.microsoft.com/office/drawing/2014/main" id="{A24139DE-F00A-7244-18A2-00D9780FE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283"/>
              <a:ext cx="367" cy="3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94229" name="Rectangle 21">
            <a:extLst>
              <a:ext uri="{FF2B5EF4-FFF2-40B4-BE49-F238E27FC236}">
                <a16:creationId xmlns:a16="http://schemas.microsoft.com/office/drawing/2014/main" id="{9A47AC66-FC51-A3D2-8F7B-D9A3BBF0D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49" y="969963"/>
            <a:ext cx="6343033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buFont typeface="Times" panose="02020603050405020304" pitchFamily="18" charset="0"/>
              <a:buNone/>
            </a:pPr>
            <a:r>
              <a:rPr lang="en-US" altLang="en-US" sz="2400" b="0" dirty="0">
                <a:solidFill>
                  <a:schemeClr val="tx1"/>
                </a:solidFill>
                <a:latin typeface="Verdana" panose="020B0604030504040204" pitchFamily="34" charset="0"/>
              </a:rPr>
              <a:t>Visible from the outside of the system.</a:t>
            </a:r>
          </a:p>
        </p:txBody>
      </p:sp>
      <p:sp>
        <p:nvSpPr>
          <p:cNvPr id="94230" name="Rectangle 22">
            <a:extLst>
              <a:ext uri="{FF2B5EF4-FFF2-40B4-BE49-F238E27FC236}">
                <a16:creationId xmlns:a16="http://schemas.microsoft.com/office/drawing/2014/main" id="{C42A999E-BC65-69C8-93FC-A3B7F1EDE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6" y="4376739"/>
            <a:ext cx="4911725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buFont typeface="Times" panose="02020603050405020304" pitchFamily="18" charset="0"/>
              <a:buNone/>
            </a:pPr>
            <a:r>
              <a:rPr lang="en-US" altLang="en-US" sz="2000" i="1">
                <a:solidFill>
                  <a:schemeClr val="tx1"/>
                </a:solidFill>
                <a:latin typeface="Verdana" panose="020B0604030504040204" pitchFamily="34" charset="0"/>
              </a:rPr>
              <a:t>Use case model</a:t>
            </a: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:</a:t>
            </a:r>
          </a:p>
          <a:p>
            <a:pPr lvl="1" algn="l">
              <a:buFont typeface="Times" panose="02020603050405020304" pitchFamily="18" charset="0"/>
              <a:buNone/>
            </a:pP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The set of all use cases that completely describe the functionality of the  system.</a:t>
            </a:r>
          </a:p>
        </p:txBody>
      </p:sp>
      <p:sp>
        <p:nvSpPr>
          <p:cNvPr id="94231" name="Rectangle 23">
            <a:extLst>
              <a:ext uri="{FF2B5EF4-FFF2-40B4-BE49-F238E27FC236}">
                <a16:creationId xmlns:a16="http://schemas.microsoft.com/office/drawing/2014/main" id="{D405F999-1749-0BF9-8039-B63F43D8F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314700"/>
            <a:ext cx="48704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buFont typeface="Times" panose="02020603050405020304" pitchFamily="18" charset="0"/>
              <a:buNone/>
            </a:pPr>
            <a:r>
              <a:rPr lang="en-US" altLang="en-US" sz="2000" b="0" dirty="0">
                <a:solidFill>
                  <a:schemeClr val="tx1"/>
                </a:solidFill>
                <a:latin typeface="Verdana" panose="020B0604030504040204" pitchFamily="34" charset="0"/>
              </a:rPr>
              <a:t>A </a:t>
            </a:r>
            <a:r>
              <a:rPr lang="en-US" altLang="en-US" sz="2000" i="1" dirty="0">
                <a:solidFill>
                  <a:schemeClr val="tx1"/>
                </a:solidFill>
                <a:latin typeface="Verdana" panose="020B0604030504040204" pitchFamily="34" charset="0"/>
              </a:rPr>
              <a:t>use case</a:t>
            </a:r>
            <a:r>
              <a:rPr lang="en-US" altLang="en-US" sz="2000" b="0" dirty="0">
                <a:solidFill>
                  <a:schemeClr val="tx1"/>
                </a:solidFill>
                <a:latin typeface="Verdana" panose="020B0604030504040204" pitchFamily="34" charset="0"/>
              </a:rPr>
              <a:t> represents a class of functionality provided by the system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031530-293C-2F0C-90B7-89E9BD89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4" y="-6282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Use Case Diagrams</a:t>
            </a:r>
          </a:p>
        </p:txBody>
      </p:sp>
    </p:spTree>
    <p:extLst>
      <p:ext uri="{BB962C8B-B14F-4D97-AF65-F5344CB8AC3E}">
        <p14:creationId xmlns:p14="http://schemas.microsoft.com/office/powerpoint/2010/main" val="58593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build="p" autoUpdateAnimBg="0"/>
      <p:bldP spid="94229" grpId="0" build="p" autoUpdateAnimBg="0"/>
      <p:bldP spid="94230" grpId="0" build="p" autoUpdateAnimBg="0"/>
      <p:bldP spid="9423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33334DE-D71E-A968-2005-49291DC14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Actors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3DAF63FE-5262-4756-6EB8-487BE8194C7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32250" y="1109663"/>
            <a:ext cx="6026150" cy="4800600"/>
          </a:xfrm>
        </p:spPr>
        <p:txBody>
          <a:bodyPr/>
          <a:lstStyle/>
          <a:p>
            <a:r>
              <a:rPr lang="en-US" altLang="en-US" sz="2400">
                <a:ea typeface="ＭＳ Ｐゴシック" panose="020B0600070205080204" pitchFamily="34" charset="-128"/>
              </a:rPr>
              <a:t>An actor is a model for an external entity which interacts (communicates) with the system: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User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External system (Another system)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Physical environment (e.g. Weather)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An actor has a unique name and an optional description</a:t>
            </a:r>
          </a:p>
          <a:p>
            <a:pPr>
              <a:lnSpc>
                <a:spcPct val="11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Examples:</a:t>
            </a:r>
          </a:p>
          <a:p>
            <a:pPr lvl="1"/>
            <a:r>
              <a:rPr lang="en-US" altLang="en-US" sz="2000" b="1">
                <a:ea typeface="ＭＳ Ｐゴシック" panose="020B0600070205080204" pitchFamily="34" charset="-128"/>
              </a:rPr>
              <a:t>Passenger</a:t>
            </a:r>
            <a:r>
              <a:rPr lang="en-US" altLang="en-US" sz="2000">
                <a:ea typeface="ＭＳ Ｐゴシック" panose="020B0600070205080204" pitchFamily="34" charset="-128"/>
              </a:rPr>
              <a:t>: A person in the train</a:t>
            </a:r>
          </a:p>
          <a:p>
            <a:pPr lvl="1"/>
            <a:r>
              <a:rPr lang="en-US" altLang="en-US" sz="2000" b="1">
                <a:ea typeface="ＭＳ Ｐゴシック" panose="020B0600070205080204" pitchFamily="34" charset="-128"/>
              </a:rPr>
              <a:t>GPS satellite</a:t>
            </a:r>
            <a:r>
              <a:rPr lang="en-US" altLang="en-US" sz="2000">
                <a:ea typeface="ＭＳ Ｐゴシック" panose="020B0600070205080204" pitchFamily="34" charset="-128"/>
              </a:rPr>
              <a:t>: An external system that provides the system with  GPS coordinates.</a:t>
            </a:r>
          </a:p>
        </p:txBody>
      </p:sp>
      <p:grpSp>
        <p:nvGrpSpPr>
          <p:cNvPr id="20484" name="Group 12">
            <a:extLst>
              <a:ext uri="{FF2B5EF4-FFF2-40B4-BE49-F238E27FC236}">
                <a16:creationId xmlns:a16="http://schemas.microsoft.com/office/drawing/2014/main" id="{F79CDCE9-A5D6-6A56-710B-28FB367E2B5B}"/>
              </a:ext>
            </a:extLst>
          </p:cNvPr>
          <p:cNvGrpSpPr>
            <a:grpSpLocks/>
          </p:cNvGrpSpPr>
          <p:nvPr/>
        </p:nvGrpSpPr>
        <p:grpSpPr bwMode="auto">
          <a:xfrm>
            <a:off x="2217739" y="2122489"/>
            <a:ext cx="1646237" cy="1679575"/>
            <a:chOff x="1021" y="1337"/>
            <a:chExt cx="1037" cy="1058"/>
          </a:xfrm>
        </p:grpSpPr>
        <p:grpSp>
          <p:nvGrpSpPr>
            <p:cNvPr id="20487" name="Group 6">
              <a:extLst>
                <a:ext uri="{FF2B5EF4-FFF2-40B4-BE49-F238E27FC236}">
                  <a16:creationId xmlns:a16="http://schemas.microsoft.com/office/drawing/2014/main" id="{47388862-2C60-EA6C-FC22-DB9535167C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7" y="1337"/>
              <a:ext cx="445" cy="783"/>
              <a:chOff x="659" y="1833"/>
              <a:chExt cx="299" cy="526"/>
            </a:xfrm>
          </p:grpSpPr>
          <p:sp>
            <p:nvSpPr>
              <p:cNvPr id="20489" name="Freeform 7">
                <a:extLst>
                  <a:ext uri="{FF2B5EF4-FFF2-40B4-BE49-F238E27FC236}">
                    <a16:creationId xmlns:a16="http://schemas.microsoft.com/office/drawing/2014/main" id="{FA481545-D36B-3A89-827C-E0DADF99B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0490" name="Line 8">
                <a:extLst>
                  <a:ext uri="{FF2B5EF4-FFF2-40B4-BE49-F238E27FC236}">
                    <a16:creationId xmlns:a16="http://schemas.microsoft.com/office/drawing/2014/main" id="{4CCD380A-90F7-59C8-F199-C0AA605E6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0491" name="Line 9">
                <a:extLst>
                  <a:ext uri="{FF2B5EF4-FFF2-40B4-BE49-F238E27FC236}">
                    <a16:creationId xmlns:a16="http://schemas.microsoft.com/office/drawing/2014/main" id="{944E93DF-DEA4-DEF5-A2F9-24E13187F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0492" name="Oval 10">
                <a:extLst>
                  <a:ext uri="{FF2B5EF4-FFF2-40B4-BE49-F238E27FC236}">
                    <a16:creationId xmlns:a16="http://schemas.microsoft.com/office/drawing/2014/main" id="{BBCA1AA2-A9BA-D5D3-0A8D-509603F0D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20488" name="Rectangle 11">
              <a:extLst>
                <a:ext uri="{FF2B5EF4-FFF2-40B4-BE49-F238E27FC236}">
                  <a16:creationId xmlns:a16="http://schemas.microsoft.com/office/drawing/2014/main" id="{FE0FBB8A-3809-A886-0467-209293C3E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2165"/>
              <a:ext cx="103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97293" name="AutoShape 13">
            <a:extLst>
              <a:ext uri="{FF2B5EF4-FFF2-40B4-BE49-F238E27FC236}">
                <a16:creationId xmlns:a16="http://schemas.microsoft.com/office/drawing/2014/main" id="{BB5D5728-75FF-D29A-8F32-06376D914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3" y="4889501"/>
            <a:ext cx="1670050" cy="633413"/>
          </a:xfrm>
          <a:prstGeom prst="wedgeRoundRectCallout">
            <a:avLst>
              <a:gd name="adj1" fmla="val 92014"/>
              <a:gd name="adj2" fmla="val -5927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Name</a:t>
            </a:r>
          </a:p>
        </p:txBody>
      </p:sp>
      <p:sp>
        <p:nvSpPr>
          <p:cNvPr id="97294" name="AutoShape 14">
            <a:extLst>
              <a:ext uri="{FF2B5EF4-FFF2-40B4-BE49-F238E27FC236}">
                <a16:creationId xmlns:a16="http://schemas.microsoft.com/office/drawing/2014/main" id="{5D2F3549-2990-7094-E3F2-C020292A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4" y="3649664"/>
            <a:ext cx="2243137" cy="846137"/>
          </a:xfrm>
          <a:prstGeom prst="wedgeRoundRectCallout">
            <a:avLst>
              <a:gd name="adj1" fmla="val -91472"/>
              <a:gd name="adj2" fmla="val 68199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Optional </a:t>
            </a:r>
          </a:p>
          <a:p>
            <a:r>
              <a:rPr lang="en-US" altLang="en-US" sz="200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59175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build="p" autoUpdateAnimBg="0"/>
      <p:bldP spid="97293" grpId="0" animBg="1"/>
      <p:bldP spid="9729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ED74C83-D69D-B131-B41C-AA92ED8A4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400" dirty="0">
                <a:ea typeface="ＭＳ Ｐゴシック" panose="020B0600070205080204" pitchFamily="34" charset="-128"/>
              </a:rPr>
              <a:t>Use Case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EB4F0B7D-EA4E-95E6-74AB-6A7848D49EF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72011" y="1028700"/>
            <a:ext cx="5670550" cy="4800600"/>
          </a:xfrm>
        </p:spPr>
        <p:txBody>
          <a:bodyPr/>
          <a:lstStyle/>
          <a:p>
            <a:pPr marL="381000" indent="-381000">
              <a:buFont typeface="Times" panose="02020603050405020304" pitchFamily="18" charset="0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• A use case represents a class of functionality provided by the system </a:t>
            </a:r>
          </a:p>
          <a:p>
            <a:pPr marL="381000" indent="-381000">
              <a:buFont typeface="Times" panose="02020603050405020304" pitchFamily="18" charset="0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• Use cases can be described textually, with a focus on the event flow between actor and system</a:t>
            </a:r>
          </a:p>
          <a:p>
            <a:pPr marL="381000" indent="-381000">
              <a:buFont typeface="Times" panose="02020603050405020304" pitchFamily="18" charset="0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• The textual use case description consists of 6 parts: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Unique name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Participating actors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Entry conditions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Exit conditions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Flow of events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ea typeface="ＭＳ Ｐゴシック" panose="020B0600070205080204" pitchFamily="34" charset="-128"/>
              </a:rPr>
              <a:t>Special requirements.</a:t>
            </a:r>
          </a:p>
        </p:txBody>
      </p:sp>
      <p:grpSp>
        <p:nvGrpSpPr>
          <p:cNvPr id="22532" name="Group 5">
            <a:extLst>
              <a:ext uri="{FF2B5EF4-FFF2-40B4-BE49-F238E27FC236}">
                <a16:creationId xmlns:a16="http://schemas.microsoft.com/office/drawing/2014/main" id="{1E54D035-F8F3-9A7B-D4F4-A21DF40F7AC8}"/>
              </a:ext>
            </a:extLst>
          </p:cNvPr>
          <p:cNvGrpSpPr>
            <a:grpSpLocks/>
          </p:cNvGrpSpPr>
          <p:nvPr/>
        </p:nvGrpSpPr>
        <p:grpSpPr bwMode="auto">
          <a:xfrm>
            <a:off x="1849439" y="2505075"/>
            <a:ext cx="2560637" cy="1168400"/>
            <a:chOff x="2212" y="1949"/>
            <a:chExt cx="1084" cy="495"/>
          </a:xfrm>
        </p:grpSpPr>
        <p:sp>
          <p:nvSpPr>
            <p:cNvPr id="22533" name="Oval 6">
              <a:extLst>
                <a:ext uri="{FF2B5EF4-FFF2-40B4-BE49-F238E27FC236}">
                  <a16:creationId xmlns:a16="http://schemas.microsoft.com/office/drawing/2014/main" id="{62C0E722-5EB4-FDFD-7DEB-1BCD4BFA7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" y="1949"/>
              <a:ext cx="753" cy="32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22534" name="Rectangle 7">
              <a:extLst>
                <a:ext uri="{FF2B5EF4-FFF2-40B4-BE49-F238E27FC236}">
                  <a16:creationId xmlns:a16="http://schemas.microsoft.com/office/drawing/2014/main" id="{615D4EF1-F3EC-65DB-CACD-BCDA43D8A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289"/>
              <a:ext cx="108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400">
                  <a:solidFill>
                    <a:srgbClr val="000000"/>
                  </a:solidFill>
                  <a:latin typeface="Courier" charset="0"/>
                </a:rPr>
                <a:t>PurchaseTicket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743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4C198A4-4ED0-E3A5-32A5-B7ACAB2D3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Textual Use Case 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Description Example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39F56BE-B04C-2FC1-6404-D1F8E5424F8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57401" y="1473200"/>
            <a:ext cx="3922713" cy="48006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 i="1">
                <a:solidFill>
                  <a:srgbClr val="FF3300"/>
                </a:solidFill>
                <a:ea typeface="ＭＳ Ｐゴシック" panose="020B0600070205080204" pitchFamily="34" charset="-128"/>
              </a:rPr>
              <a:t>1. Name: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Purchase ticket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>
                <a:solidFill>
                  <a:srgbClr val="FF3300"/>
                </a:solidFill>
                <a:ea typeface="ＭＳ Ｐゴシック" panose="020B0600070205080204" pitchFamily="34" charset="-128"/>
              </a:rPr>
              <a:t>2. Participating actor: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Passenger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>
                <a:solidFill>
                  <a:srgbClr val="FF3300"/>
                </a:solidFill>
                <a:ea typeface="ＭＳ Ｐゴシック" panose="020B0600070205080204" pitchFamily="34" charset="-128"/>
              </a:rPr>
              <a:t>3. Entry condition: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Passenger</a:t>
            </a:r>
            <a:r>
              <a:rPr lang="en-US" altLang="en-US" sz="2000">
                <a:ea typeface="ＭＳ Ｐゴシック" panose="020B0600070205080204" pitchFamily="34" charset="-128"/>
              </a:rPr>
              <a:t> stands in front of ticket distributor</a:t>
            </a:r>
          </a:p>
          <a:p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Passenger</a:t>
            </a:r>
            <a:r>
              <a:rPr lang="en-US" altLang="en-US" sz="2000">
                <a:ea typeface="ＭＳ Ｐゴシック" panose="020B0600070205080204" pitchFamily="34" charset="-128"/>
              </a:rPr>
              <a:t> has sufficient money to purchase ticket</a:t>
            </a:r>
          </a:p>
          <a:p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>
                <a:solidFill>
                  <a:srgbClr val="FF3300"/>
                </a:solidFill>
                <a:ea typeface="ＭＳ Ｐゴシック" panose="020B0600070205080204" pitchFamily="34" charset="-128"/>
              </a:rPr>
              <a:t>4. Exit condition:</a:t>
            </a:r>
            <a:endParaRPr lang="en-US" altLang="en-US" sz="2000" i="1">
              <a:ea typeface="ＭＳ Ｐゴシック" panose="020B0600070205080204" pitchFamily="34" charset="-128"/>
            </a:endParaRPr>
          </a:p>
          <a:p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Passenger</a:t>
            </a:r>
            <a:r>
              <a:rPr lang="en-US" altLang="en-US" sz="2000">
                <a:ea typeface="ＭＳ Ｐゴシック" panose="020B0600070205080204" pitchFamily="34" charset="-128"/>
              </a:rPr>
              <a:t> has ticket</a:t>
            </a:r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9EDC3A48-9C02-01AA-DF08-DD17389A203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35688" y="1511300"/>
            <a:ext cx="3922712" cy="48006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 i="1">
                <a:solidFill>
                  <a:srgbClr val="FF3300"/>
                </a:solidFill>
                <a:ea typeface="ＭＳ Ｐゴシック" panose="020B0600070205080204" pitchFamily="34" charset="-128"/>
              </a:rPr>
              <a:t>5. Flow of events: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1. </a:t>
            </a:r>
            <a:r>
              <a:rPr lang="en-US" altLang="en-US" sz="1800">
                <a:latin typeface="Courier" charset="0"/>
                <a:ea typeface="ＭＳ Ｐゴシック" panose="020B0600070205080204" pitchFamily="34" charset="-128"/>
              </a:rPr>
              <a:t>Passenger</a:t>
            </a:r>
            <a:r>
              <a:rPr lang="en-US" altLang="en-US" sz="1800">
                <a:ea typeface="ＭＳ Ｐゴシック" panose="020B0600070205080204" pitchFamily="34" charset="-128"/>
              </a:rPr>
              <a:t> selects the number of zones to be traveled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2. </a:t>
            </a:r>
            <a:r>
              <a:rPr lang="en-US" altLang="en-US" sz="1800">
                <a:latin typeface="ヒラギノ角ゴ Pro W3" charset="-128"/>
                <a:ea typeface="ＭＳ Ｐゴシック" panose="020B0600070205080204" pitchFamily="34" charset="-128"/>
              </a:rPr>
              <a:t>Ticket </a:t>
            </a:r>
            <a:r>
              <a:rPr lang="en-US" altLang="en-US" sz="1800">
                <a:ea typeface="ＭＳ Ｐゴシック" panose="020B0600070205080204" pitchFamily="34" charset="-128"/>
              </a:rPr>
              <a:t>Distributor displays the amount due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3. </a:t>
            </a:r>
            <a:r>
              <a:rPr lang="en-US" altLang="en-US" sz="1800">
                <a:latin typeface="Courier" charset="0"/>
                <a:ea typeface="ＭＳ Ｐゴシック" panose="020B0600070205080204" pitchFamily="34" charset="-128"/>
              </a:rPr>
              <a:t>Passenger</a:t>
            </a:r>
            <a:r>
              <a:rPr lang="en-US" altLang="en-US" sz="1800">
                <a:ea typeface="ＭＳ Ｐゴシック" panose="020B0600070205080204" pitchFamily="34" charset="-128"/>
              </a:rPr>
              <a:t> inserts money, at least the amount due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4. Ticket Distributor returns change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5. Ticket Distributor issues ticket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>
                <a:ea typeface="ＭＳ Ｐゴシック" panose="020B0600070205080204" pitchFamily="34" charset="-128"/>
              </a:rPr>
              <a:t>6. Special requirements: None.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98309" name="Text Box 5">
            <a:extLst>
              <a:ext uri="{FF2B5EF4-FFF2-40B4-BE49-F238E27FC236}">
                <a16:creationId xmlns:a16="http://schemas.microsoft.com/office/drawing/2014/main" id="{2F764193-E92F-B817-515E-0A8796A47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48641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 b="0"/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E9DFF35E-EEBC-F927-7FBD-5E32F244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4088" y="557053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 b="0"/>
          </a:p>
        </p:txBody>
      </p:sp>
      <p:grpSp>
        <p:nvGrpSpPr>
          <p:cNvPr id="24583" name="Group 7">
            <a:extLst>
              <a:ext uri="{FF2B5EF4-FFF2-40B4-BE49-F238E27FC236}">
                <a16:creationId xmlns:a16="http://schemas.microsoft.com/office/drawing/2014/main" id="{E72DAC34-F1C5-664C-082C-5C190C8FDBFF}"/>
              </a:ext>
            </a:extLst>
          </p:cNvPr>
          <p:cNvGrpSpPr>
            <a:grpSpLocks/>
          </p:cNvGrpSpPr>
          <p:nvPr/>
        </p:nvGrpSpPr>
        <p:grpSpPr bwMode="auto">
          <a:xfrm>
            <a:off x="6316663" y="150813"/>
            <a:ext cx="1096962" cy="1179512"/>
            <a:chOff x="1021" y="1337"/>
            <a:chExt cx="1118" cy="1044"/>
          </a:xfrm>
        </p:grpSpPr>
        <p:grpSp>
          <p:nvGrpSpPr>
            <p:cNvPr id="24588" name="Group 8">
              <a:extLst>
                <a:ext uri="{FF2B5EF4-FFF2-40B4-BE49-F238E27FC236}">
                  <a16:creationId xmlns:a16="http://schemas.microsoft.com/office/drawing/2014/main" id="{5416CFE7-B9BE-3682-556D-1E5F5A1B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7" y="1337"/>
              <a:ext cx="445" cy="783"/>
              <a:chOff x="659" y="1833"/>
              <a:chExt cx="299" cy="526"/>
            </a:xfrm>
          </p:grpSpPr>
          <p:sp>
            <p:nvSpPr>
              <p:cNvPr id="24590" name="Freeform 9">
                <a:extLst>
                  <a:ext uri="{FF2B5EF4-FFF2-40B4-BE49-F238E27FC236}">
                    <a16:creationId xmlns:a16="http://schemas.microsoft.com/office/drawing/2014/main" id="{CB26A18B-CBBC-780F-5F67-54CBACD88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4591" name="Line 10">
                <a:extLst>
                  <a:ext uri="{FF2B5EF4-FFF2-40B4-BE49-F238E27FC236}">
                    <a16:creationId xmlns:a16="http://schemas.microsoft.com/office/drawing/2014/main" id="{ED25B802-CB6D-954D-771A-D29A9A989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4592" name="Line 11">
                <a:extLst>
                  <a:ext uri="{FF2B5EF4-FFF2-40B4-BE49-F238E27FC236}">
                    <a16:creationId xmlns:a16="http://schemas.microsoft.com/office/drawing/2014/main" id="{1661371E-EC9E-7B47-3A42-79DE5A214C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4593" name="Oval 12">
                <a:extLst>
                  <a:ext uri="{FF2B5EF4-FFF2-40B4-BE49-F238E27FC236}">
                    <a16:creationId xmlns:a16="http://schemas.microsoft.com/office/drawing/2014/main" id="{77A7655F-E499-2885-2891-9928E63BF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24589" name="Rectangle 13">
              <a:extLst>
                <a:ext uri="{FF2B5EF4-FFF2-40B4-BE49-F238E27FC236}">
                  <a16:creationId xmlns:a16="http://schemas.microsoft.com/office/drawing/2014/main" id="{1376E0C8-0F1E-BC93-6FCE-B5D689FDE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2165"/>
              <a:ext cx="111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16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24584" name="Group 14">
            <a:extLst>
              <a:ext uri="{FF2B5EF4-FFF2-40B4-BE49-F238E27FC236}">
                <a16:creationId xmlns:a16="http://schemas.microsoft.com/office/drawing/2014/main" id="{B9D9EA44-0D07-42AE-A05C-FEB577753A83}"/>
              </a:ext>
            </a:extLst>
          </p:cNvPr>
          <p:cNvGrpSpPr>
            <a:grpSpLocks/>
          </p:cNvGrpSpPr>
          <p:nvPr/>
        </p:nvGrpSpPr>
        <p:grpSpPr bwMode="auto">
          <a:xfrm>
            <a:off x="8104188" y="377825"/>
            <a:ext cx="1706562" cy="831850"/>
            <a:chOff x="2212" y="1949"/>
            <a:chExt cx="976" cy="482"/>
          </a:xfrm>
        </p:grpSpPr>
        <p:sp>
          <p:nvSpPr>
            <p:cNvPr id="24586" name="Oval 15">
              <a:extLst>
                <a:ext uri="{FF2B5EF4-FFF2-40B4-BE49-F238E27FC236}">
                  <a16:creationId xmlns:a16="http://schemas.microsoft.com/office/drawing/2014/main" id="{1793C2E5-62AD-8687-F5E1-C5230A558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" y="1949"/>
              <a:ext cx="753" cy="32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24587" name="Rectangle 16">
              <a:extLst>
                <a:ext uri="{FF2B5EF4-FFF2-40B4-BE49-F238E27FC236}">
                  <a16:creationId xmlns:a16="http://schemas.microsoft.com/office/drawing/2014/main" id="{667D421A-45D4-B4A3-3CFE-1D0FFE646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289"/>
              <a:ext cx="976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PurchaseTicket</a:t>
              </a:r>
              <a:endParaRPr lang="en-US" altLang="en-US" sz="1600" b="0">
                <a:solidFill>
                  <a:schemeClr val="tx1"/>
                </a:solidFill>
              </a:endParaRPr>
            </a:p>
          </p:txBody>
        </p:sp>
      </p:grpSp>
      <p:sp>
        <p:nvSpPr>
          <p:cNvPr id="24585" name="Line 17">
            <a:extLst>
              <a:ext uri="{FF2B5EF4-FFF2-40B4-BE49-F238E27FC236}">
                <a16:creationId xmlns:a16="http://schemas.microsoft.com/office/drawing/2014/main" id="{11FEFDA2-448E-3540-2C75-85B21C5C0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4375" y="628650"/>
            <a:ext cx="127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793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  <p:bldP spid="98308" grpId="0" build="p" autoUpdateAnimBg="0"/>
      <p:bldP spid="98309" grpId="0" autoUpdateAnimBg="0"/>
      <p:bldP spid="983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>
            <a:extLst>
              <a:ext uri="{FF2B5EF4-FFF2-40B4-BE49-F238E27FC236}">
                <a16:creationId xmlns:a16="http://schemas.microsoft.com/office/drawing/2014/main" id="{08049F23-67D0-596E-DA81-93D374950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Uses Cases can be related</a:t>
            </a:r>
          </a:p>
        </p:txBody>
      </p:sp>
      <p:sp>
        <p:nvSpPr>
          <p:cNvPr id="234502" name="Rectangle 6">
            <a:extLst>
              <a:ext uri="{FF2B5EF4-FFF2-40B4-BE49-F238E27FC236}">
                <a16:creationId xmlns:a16="http://schemas.microsoft.com/office/drawing/2014/main" id="{F7F92B1E-9EBD-45C8-3815-089609761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solidFill>
                <a:srgbClr val="FF3300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Extends Relationship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To represent seldom invoked use cases or exceptional functionality.</a:t>
            </a:r>
          </a:p>
          <a:p>
            <a:endParaRPr lang="en-US" altLang="en-US" dirty="0">
              <a:solidFill>
                <a:srgbClr val="FF3300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Includes Relationship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To represent functional behavior common to more than one use case.</a:t>
            </a:r>
          </a:p>
        </p:txBody>
      </p:sp>
    </p:spTree>
    <p:extLst>
      <p:ext uri="{BB962C8B-B14F-4D97-AF65-F5344CB8AC3E}">
        <p14:creationId xmlns:p14="http://schemas.microsoft.com/office/powerpoint/2010/main" val="382327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2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C1174C1-0B5B-1A78-E37C-89B4202A2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i="1" dirty="0">
                <a:ea typeface="ＭＳ Ｐゴシック" panose="020B0600070205080204" pitchFamily="34" charset="-128"/>
              </a:rPr>
              <a:t>&lt;&lt;extends&gt;&gt;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Relationship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6CFE6CD1-F9EB-90D2-4091-9C92C0DABB9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96000" y="857250"/>
            <a:ext cx="4470400" cy="4800600"/>
          </a:xfrm>
        </p:spPr>
        <p:txBody>
          <a:bodyPr/>
          <a:lstStyle/>
          <a:p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&lt;&lt;extends&gt;&gt;</a:t>
            </a:r>
            <a:r>
              <a:rPr lang="en-US" altLang="en-US" sz="2000">
                <a:ea typeface="ＭＳ Ｐゴシック" panose="020B0600070205080204" pitchFamily="34" charset="-128"/>
              </a:rPr>
              <a:t> relationships model exceptional or seldom invoked cases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The exceptional event flows are factored out of the main event flow for clarity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The direction of an </a:t>
            </a:r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&lt;&lt;extends&gt;&gt;</a:t>
            </a:r>
            <a:r>
              <a:rPr lang="en-US" altLang="en-US" sz="2000">
                <a:ea typeface="ＭＳ Ｐゴシック" panose="020B0600070205080204" pitchFamily="34" charset="-128"/>
              </a:rPr>
              <a:t> relationship is to the extended use case 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Use cases representing exceptional flows can extend more than one use case.</a:t>
            </a:r>
          </a:p>
          <a:p>
            <a:endParaRPr lang="en-US" altLang="en-US" sz="2000">
              <a:ea typeface="ＭＳ Ｐゴシック" panose="020B0600070205080204" pitchFamily="34" charset="-128"/>
            </a:endParaRPr>
          </a:p>
        </p:txBody>
      </p:sp>
      <p:grpSp>
        <p:nvGrpSpPr>
          <p:cNvPr id="28676" name="Group 47">
            <a:extLst>
              <a:ext uri="{FF2B5EF4-FFF2-40B4-BE49-F238E27FC236}">
                <a16:creationId xmlns:a16="http://schemas.microsoft.com/office/drawing/2014/main" id="{07DAF0AB-6885-1850-F70F-9DF7C69BDB1D}"/>
              </a:ext>
            </a:extLst>
          </p:cNvPr>
          <p:cNvGrpSpPr>
            <a:grpSpLocks/>
          </p:cNvGrpSpPr>
          <p:nvPr/>
        </p:nvGrpSpPr>
        <p:grpSpPr bwMode="auto">
          <a:xfrm>
            <a:off x="3659189" y="1271589"/>
            <a:ext cx="1920875" cy="2357437"/>
            <a:chOff x="945" y="801"/>
            <a:chExt cx="1210" cy="1485"/>
          </a:xfrm>
        </p:grpSpPr>
        <p:grpSp>
          <p:nvGrpSpPr>
            <p:cNvPr id="28701" name="Group 18">
              <a:extLst>
                <a:ext uri="{FF2B5EF4-FFF2-40B4-BE49-F238E27FC236}">
                  <a16:creationId xmlns:a16="http://schemas.microsoft.com/office/drawing/2014/main" id="{F54D7B82-75CA-1955-74FD-8AB106A15A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801"/>
              <a:ext cx="778" cy="694"/>
              <a:chOff x="1616" y="801"/>
              <a:chExt cx="778" cy="694"/>
            </a:xfrm>
          </p:grpSpPr>
          <p:grpSp>
            <p:nvGrpSpPr>
              <p:cNvPr id="28706" name="Group 6">
                <a:extLst>
                  <a:ext uri="{FF2B5EF4-FFF2-40B4-BE49-F238E27FC236}">
                    <a16:creationId xmlns:a16="http://schemas.microsoft.com/office/drawing/2014/main" id="{DE2C3C61-A1ED-1B67-9363-4169877F2D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3" y="801"/>
                <a:ext cx="280" cy="493"/>
                <a:chOff x="659" y="1833"/>
                <a:chExt cx="299" cy="526"/>
              </a:xfrm>
            </p:grpSpPr>
            <p:sp>
              <p:nvSpPr>
                <p:cNvPr id="28708" name="Freeform 7">
                  <a:extLst>
                    <a:ext uri="{FF2B5EF4-FFF2-40B4-BE49-F238E27FC236}">
                      <a16:creationId xmlns:a16="http://schemas.microsoft.com/office/drawing/2014/main" id="{D4F7ACB9-24CB-0C53-A56A-F46BB184F4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9" y="1941"/>
                  <a:ext cx="143" cy="418"/>
                </a:xfrm>
                <a:custGeom>
                  <a:avLst/>
                  <a:gdLst>
                    <a:gd name="T0" fmla="*/ 143 w 143"/>
                    <a:gd name="T1" fmla="*/ 0 h 418"/>
                    <a:gd name="T2" fmla="*/ 143 w 143"/>
                    <a:gd name="T3" fmla="*/ 263 h 418"/>
                    <a:gd name="T4" fmla="*/ 0 w 143"/>
                    <a:gd name="T5" fmla="*/ 418 h 418"/>
                    <a:gd name="T6" fmla="*/ 0 60000 65536"/>
                    <a:gd name="T7" fmla="*/ 0 60000 65536"/>
                    <a:gd name="T8" fmla="*/ 0 60000 65536"/>
                    <a:gd name="T9" fmla="*/ 0 w 143"/>
                    <a:gd name="T10" fmla="*/ 0 h 418"/>
                    <a:gd name="T11" fmla="*/ 143 w 143"/>
                    <a:gd name="T12" fmla="*/ 418 h 4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3" h="418">
                      <a:moveTo>
                        <a:pt x="143" y="0"/>
                      </a:moveTo>
                      <a:lnTo>
                        <a:pt x="143" y="263"/>
                      </a:lnTo>
                      <a:lnTo>
                        <a:pt x="0" y="41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28709" name="Line 8">
                  <a:extLst>
                    <a:ext uri="{FF2B5EF4-FFF2-40B4-BE49-F238E27FC236}">
                      <a16:creationId xmlns:a16="http://schemas.microsoft.com/office/drawing/2014/main" id="{9A6EF566-6956-4CBA-B5FC-76AFFDAC11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02" y="2204"/>
                  <a:ext cx="156" cy="15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28710" name="Line 9">
                  <a:extLst>
                    <a:ext uri="{FF2B5EF4-FFF2-40B4-BE49-F238E27FC236}">
                      <a16:creationId xmlns:a16="http://schemas.microsoft.com/office/drawing/2014/main" id="{F4C57F44-4455-8BFE-E4CC-67CF63B282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9" y="2060"/>
                  <a:ext cx="299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28711" name="Oval 10">
                  <a:extLst>
                    <a:ext uri="{FF2B5EF4-FFF2-40B4-BE49-F238E27FC236}">
                      <a16:creationId xmlns:a16="http://schemas.microsoft.com/office/drawing/2014/main" id="{D8601EFE-05AB-B9CE-E91F-C6EF4D1ED0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1" y="1833"/>
                  <a:ext cx="155" cy="15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</p:grpSp>
          <p:sp>
            <p:nvSpPr>
              <p:cNvPr id="28707" name="Rectangle 11">
                <a:extLst>
                  <a:ext uri="{FF2B5EF4-FFF2-40B4-BE49-F238E27FC236}">
                    <a16:creationId xmlns:a16="http://schemas.microsoft.com/office/drawing/2014/main" id="{D3D7E659-1AB1-48C9-F2E3-9376C4ADE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1322"/>
                <a:ext cx="77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Passenger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702" name="Group 17">
              <a:extLst>
                <a:ext uri="{FF2B5EF4-FFF2-40B4-BE49-F238E27FC236}">
                  <a16:creationId xmlns:a16="http://schemas.microsoft.com/office/drawing/2014/main" id="{85E7FC65-CA05-6F03-AD02-C8CBD2D027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" y="1795"/>
              <a:ext cx="1210" cy="491"/>
              <a:chOff x="1401" y="1795"/>
              <a:chExt cx="1210" cy="491"/>
            </a:xfrm>
          </p:grpSpPr>
          <p:sp>
            <p:nvSpPr>
              <p:cNvPr id="28704" name="Oval 13">
                <a:extLst>
                  <a:ext uri="{FF2B5EF4-FFF2-40B4-BE49-F238E27FC236}">
                    <a16:creationId xmlns:a16="http://schemas.microsoft.com/office/drawing/2014/main" id="{8D7D2DCF-08A4-C0BC-E53F-AC6B24E7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0" y="17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28705" name="Rectangle 14">
                <a:extLst>
                  <a:ext uri="{FF2B5EF4-FFF2-40B4-BE49-F238E27FC236}">
                    <a16:creationId xmlns:a16="http://schemas.microsoft.com/office/drawing/2014/main" id="{B6FE8077-3F06-9816-5B6A-BB677C15F0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1" y="2113"/>
                <a:ext cx="121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PurchaseTicket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703" name="Line 15">
              <a:extLst>
                <a:ext uri="{FF2B5EF4-FFF2-40B4-BE49-F238E27FC236}">
                  <a16:creationId xmlns:a16="http://schemas.microsoft.com/office/drawing/2014/main" id="{5614BBF2-05C8-EDBF-5364-ECF582A2E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6" y="1543"/>
              <a:ext cx="1" cy="2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6" name="Group 37">
            <a:extLst>
              <a:ext uri="{FF2B5EF4-FFF2-40B4-BE49-F238E27FC236}">
                <a16:creationId xmlns:a16="http://schemas.microsoft.com/office/drawing/2014/main" id="{A650C110-94CE-8D9F-3D68-C1937B1C8289}"/>
              </a:ext>
            </a:extLst>
          </p:cNvPr>
          <p:cNvGrpSpPr>
            <a:grpSpLocks/>
          </p:cNvGrpSpPr>
          <p:nvPr/>
        </p:nvGrpSpPr>
        <p:grpSpPr bwMode="auto">
          <a:xfrm>
            <a:off x="7508876" y="4900613"/>
            <a:ext cx="1120775" cy="779462"/>
            <a:chOff x="1762" y="2595"/>
            <a:chExt cx="706" cy="491"/>
          </a:xfrm>
        </p:grpSpPr>
        <p:sp>
          <p:nvSpPr>
            <p:cNvPr id="28699" name="Oval 33">
              <a:extLst>
                <a:ext uri="{FF2B5EF4-FFF2-40B4-BE49-F238E27FC236}">
                  <a16:creationId xmlns:a16="http://schemas.microsoft.com/office/drawing/2014/main" id="{6ED35E0C-FFF2-46C1-95CD-62229C15B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2595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28700" name="Rectangle 34">
              <a:extLst>
                <a:ext uri="{FF2B5EF4-FFF2-40B4-BE49-F238E27FC236}">
                  <a16:creationId xmlns:a16="http://schemas.microsoft.com/office/drawing/2014/main" id="{8961380E-498B-DBEF-145D-2C0B995A5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2913"/>
              <a:ext cx="6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TimeOut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59">
            <a:extLst>
              <a:ext uri="{FF2B5EF4-FFF2-40B4-BE49-F238E27FC236}">
                <a16:creationId xmlns:a16="http://schemas.microsoft.com/office/drawing/2014/main" id="{EA72EEA2-CBFD-2D18-82B6-90557E397FB5}"/>
              </a:ext>
            </a:extLst>
          </p:cNvPr>
          <p:cNvGrpSpPr>
            <a:grpSpLocks/>
          </p:cNvGrpSpPr>
          <p:nvPr/>
        </p:nvGrpSpPr>
        <p:grpSpPr bwMode="auto">
          <a:xfrm>
            <a:off x="5122864" y="3821114"/>
            <a:ext cx="2281237" cy="1463675"/>
            <a:chOff x="2307" y="2351"/>
            <a:chExt cx="1437" cy="922"/>
          </a:xfrm>
        </p:grpSpPr>
        <p:sp>
          <p:nvSpPr>
            <p:cNvPr id="28697" name="Line 43">
              <a:extLst>
                <a:ext uri="{FF2B5EF4-FFF2-40B4-BE49-F238E27FC236}">
                  <a16:creationId xmlns:a16="http://schemas.microsoft.com/office/drawing/2014/main" id="{8754F171-857A-951F-4FF5-3F9F2FE51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351"/>
              <a:ext cx="1423" cy="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698" name="Text Box 44">
              <a:extLst>
                <a:ext uri="{FF2B5EF4-FFF2-40B4-BE49-F238E27FC236}">
                  <a16:creationId xmlns:a16="http://schemas.microsoft.com/office/drawing/2014/main" id="{1B0063EA-0029-2D2C-81E0-1EBFDA658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3" y="306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grpSp>
        <p:nvGrpSpPr>
          <p:cNvPr id="8" name="Group 53">
            <a:extLst>
              <a:ext uri="{FF2B5EF4-FFF2-40B4-BE49-F238E27FC236}">
                <a16:creationId xmlns:a16="http://schemas.microsoft.com/office/drawing/2014/main" id="{7001E9C0-93B7-414B-3CB9-E439577658FE}"/>
              </a:ext>
            </a:extLst>
          </p:cNvPr>
          <p:cNvGrpSpPr>
            <a:grpSpLocks/>
          </p:cNvGrpSpPr>
          <p:nvPr/>
        </p:nvGrpSpPr>
        <p:grpSpPr bwMode="auto">
          <a:xfrm>
            <a:off x="5686426" y="5707063"/>
            <a:ext cx="1120775" cy="779462"/>
            <a:chOff x="2550" y="3595"/>
            <a:chExt cx="706" cy="491"/>
          </a:xfrm>
        </p:grpSpPr>
        <p:sp>
          <p:nvSpPr>
            <p:cNvPr id="28695" name="Oval 27">
              <a:extLst>
                <a:ext uri="{FF2B5EF4-FFF2-40B4-BE49-F238E27FC236}">
                  <a16:creationId xmlns:a16="http://schemas.microsoft.com/office/drawing/2014/main" id="{469E8F91-1755-837D-7903-2273701FF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" y="3595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28696" name="Rectangle 28">
              <a:extLst>
                <a:ext uri="{FF2B5EF4-FFF2-40B4-BE49-F238E27FC236}">
                  <a16:creationId xmlns:a16="http://schemas.microsoft.com/office/drawing/2014/main" id="{5EDDDAAE-9DD6-45E7-8F74-EB8C74F7A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3913"/>
              <a:ext cx="6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NoChange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57">
            <a:extLst>
              <a:ext uri="{FF2B5EF4-FFF2-40B4-BE49-F238E27FC236}">
                <a16:creationId xmlns:a16="http://schemas.microsoft.com/office/drawing/2014/main" id="{A96A0AC8-1B01-E901-6EBD-EE031BD0499F}"/>
              </a:ext>
            </a:extLst>
          </p:cNvPr>
          <p:cNvGrpSpPr>
            <a:grpSpLocks/>
          </p:cNvGrpSpPr>
          <p:nvPr/>
        </p:nvGrpSpPr>
        <p:grpSpPr bwMode="auto">
          <a:xfrm>
            <a:off x="4494213" y="3795714"/>
            <a:ext cx="1617662" cy="1844675"/>
            <a:chOff x="1871" y="2391"/>
            <a:chExt cx="1019" cy="1162"/>
          </a:xfrm>
        </p:grpSpPr>
        <p:sp>
          <p:nvSpPr>
            <p:cNvPr id="28693" name="Line 42">
              <a:extLst>
                <a:ext uri="{FF2B5EF4-FFF2-40B4-BE49-F238E27FC236}">
                  <a16:creationId xmlns:a16="http://schemas.microsoft.com/office/drawing/2014/main" id="{418BDE6D-B8D3-1988-80C7-CC5D148B8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1" y="2391"/>
              <a:ext cx="799" cy="11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694" name="Text Box 45">
              <a:extLst>
                <a:ext uri="{FF2B5EF4-FFF2-40B4-BE49-F238E27FC236}">
                  <a16:creationId xmlns:a16="http://schemas.microsoft.com/office/drawing/2014/main" id="{A539C66E-A9FB-6399-465F-35E13DC4B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" y="334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grpSp>
        <p:nvGrpSpPr>
          <p:cNvPr id="10" name="Group 35">
            <a:extLst>
              <a:ext uri="{FF2B5EF4-FFF2-40B4-BE49-F238E27FC236}">
                <a16:creationId xmlns:a16="http://schemas.microsoft.com/office/drawing/2014/main" id="{5CC31206-22FD-BF4F-ED4D-757797877C0B}"/>
              </a:ext>
            </a:extLst>
          </p:cNvPr>
          <p:cNvGrpSpPr>
            <a:grpSpLocks/>
          </p:cNvGrpSpPr>
          <p:nvPr/>
        </p:nvGrpSpPr>
        <p:grpSpPr bwMode="auto">
          <a:xfrm>
            <a:off x="1746250" y="4799013"/>
            <a:ext cx="1384300" cy="779462"/>
            <a:chOff x="518" y="2443"/>
            <a:chExt cx="872" cy="491"/>
          </a:xfrm>
        </p:grpSpPr>
        <p:sp>
          <p:nvSpPr>
            <p:cNvPr id="28691" name="Oval 21">
              <a:extLst>
                <a:ext uri="{FF2B5EF4-FFF2-40B4-BE49-F238E27FC236}">
                  <a16:creationId xmlns:a16="http://schemas.microsoft.com/office/drawing/2014/main" id="{BA6AE1D6-16F3-1DB2-F1EB-894A091B5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2443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28692" name="Rectangle 22">
              <a:extLst>
                <a:ext uri="{FF2B5EF4-FFF2-40B4-BE49-F238E27FC236}">
                  <a16:creationId xmlns:a16="http://schemas.microsoft.com/office/drawing/2014/main" id="{015BEC2A-39CF-804F-E976-768EB1390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2761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OutOfOrder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95FD2C1C-B9EF-2BC9-2A56-B17A8C2B50AA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757614"/>
            <a:ext cx="2152650" cy="968375"/>
            <a:chOff x="295" y="2367"/>
            <a:chExt cx="1356" cy="610"/>
          </a:xfrm>
        </p:grpSpPr>
        <p:sp>
          <p:nvSpPr>
            <p:cNvPr id="28689" name="Line 40">
              <a:extLst>
                <a:ext uri="{FF2B5EF4-FFF2-40B4-BE49-F238E27FC236}">
                  <a16:creationId xmlns:a16="http://schemas.microsoft.com/office/drawing/2014/main" id="{AE9F5437-57F3-3D79-E8B9-A764AAE14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" y="2367"/>
              <a:ext cx="921" cy="6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690" name="Text Box 46">
              <a:extLst>
                <a:ext uri="{FF2B5EF4-FFF2-40B4-BE49-F238E27FC236}">
                  <a16:creationId xmlns:a16="http://schemas.microsoft.com/office/drawing/2014/main" id="{90100E00-524C-60D1-278E-272815ABA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0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grpSp>
        <p:nvGrpSpPr>
          <p:cNvPr id="12" name="Group 38">
            <a:extLst>
              <a:ext uri="{FF2B5EF4-FFF2-40B4-BE49-F238E27FC236}">
                <a16:creationId xmlns:a16="http://schemas.microsoft.com/office/drawing/2014/main" id="{0A3D5885-9FF7-6090-1931-F663D1FAD70C}"/>
              </a:ext>
            </a:extLst>
          </p:cNvPr>
          <p:cNvGrpSpPr>
            <a:grpSpLocks/>
          </p:cNvGrpSpPr>
          <p:nvPr/>
        </p:nvGrpSpPr>
        <p:grpSpPr bwMode="auto">
          <a:xfrm>
            <a:off x="3595689" y="5707063"/>
            <a:ext cx="1120775" cy="779462"/>
            <a:chOff x="724" y="3067"/>
            <a:chExt cx="706" cy="491"/>
          </a:xfrm>
        </p:grpSpPr>
        <p:sp>
          <p:nvSpPr>
            <p:cNvPr id="28687" name="Oval 24">
              <a:extLst>
                <a:ext uri="{FF2B5EF4-FFF2-40B4-BE49-F238E27FC236}">
                  <a16:creationId xmlns:a16="http://schemas.microsoft.com/office/drawing/2014/main" id="{9B9F1252-6D2B-8DD1-24E3-CAB4670B0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3067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28688" name="Rectangle 25">
              <a:extLst>
                <a:ext uri="{FF2B5EF4-FFF2-40B4-BE49-F238E27FC236}">
                  <a16:creationId xmlns:a16="http://schemas.microsoft.com/office/drawing/2014/main" id="{A9043338-B49B-AE1F-615A-B7BC3C5BE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3385"/>
              <a:ext cx="51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Cancel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56">
            <a:extLst>
              <a:ext uri="{FF2B5EF4-FFF2-40B4-BE49-F238E27FC236}">
                <a16:creationId xmlns:a16="http://schemas.microsoft.com/office/drawing/2014/main" id="{E5877972-B6A4-50A4-EE15-C6E6EEF2130B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783014"/>
            <a:ext cx="1525588" cy="1844675"/>
            <a:chOff x="922" y="2383"/>
            <a:chExt cx="961" cy="1162"/>
          </a:xfrm>
        </p:grpSpPr>
        <p:sp>
          <p:nvSpPr>
            <p:cNvPr id="28685" name="Line 41">
              <a:extLst>
                <a:ext uri="{FF2B5EF4-FFF2-40B4-BE49-F238E27FC236}">
                  <a16:creationId xmlns:a16="http://schemas.microsoft.com/office/drawing/2014/main" id="{5C62A10D-73E0-5E12-304B-DA1DDB91F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9" y="2383"/>
              <a:ext cx="89" cy="11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686" name="Text Box 48">
              <a:extLst>
                <a:ext uri="{FF2B5EF4-FFF2-40B4-BE49-F238E27FC236}">
                  <a16:creationId xmlns:a16="http://schemas.microsoft.com/office/drawing/2014/main" id="{912D59C0-FEF6-CD26-5A11-CC2FB2BFA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2917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339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55BC13F-2733-B80A-B932-1817555D7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i="1" dirty="0">
                <a:latin typeface="Courier" charset="0"/>
                <a:ea typeface="ＭＳ Ｐゴシック" panose="020B0600070205080204" pitchFamily="34" charset="-128"/>
              </a:rPr>
              <a:t>&lt;&lt;includes&gt;&gt;</a:t>
            </a:r>
            <a:r>
              <a:rPr lang="en-US" altLang="en-US" sz="2600" i="1" dirty="0">
                <a:latin typeface="Courier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Relationship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40B17271-D696-4D87-64F4-CA28EFD347E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477000" y="1085850"/>
            <a:ext cx="4191000" cy="4800600"/>
          </a:xfrm>
        </p:spPr>
        <p:txBody>
          <a:bodyPr/>
          <a:lstStyle/>
          <a:p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&lt;&lt;includes&gt;&gt;</a:t>
            </a:r>
            <a:r>
              <a:rPr lang="en-US" altLang="en-US" sz="2000">
                <a:ea typeface="ＭＳ Ｐゴシック" panose="020B0600070205080204" pitchFamily="34" charset="-128"/>
              </a:rPr>
              <a:t> relationship represents common functionality needed in more than one use case</a:t>
            </a:r>
          </a:p>
          <a:p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&lt;&lt;includes&gt;&gt;</a:t>
            </a:r>
            <a:r>
              <a:rPr lang="en-US" altLang="en-US" sz="2000">
                <a:ea typeface="ＭＳ Ｐゴシック" panose="020B0600070205080204" pitchFamily="34" charset="-128"/>
              </a:rPr>
              <a:t> behavior is factored out for reuse, not because it is an exception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The direction of a </a:t>
            </a:r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&lt;&lt;includes&gt;&gt;</a:t>
            </a:r>
            <a:r>
              <a:rPr lang="en-US" altLang="en-US" sz="2000">
                <a:ea typeface="ＭＳ Ｐゴシック" panose="020B0600070205080204" pitchFamily="34" charset="-128"/>
              </a:rPr>
              <a:t> relationship is to the using use case (unlike  the direction of the </a:t>
            </a:r>
            <a:r>
              <a:rPr lang="en-US" altLang="en-US" sz="2000">
                <a:latin typeface="Courier" charset="0"/>
                <a:ea typeface="ＭＳ Ｐゴシック" panose="020B0600070205080204" pitchFamily="34" charset="-128"/>
              </a:rPr>
              <a:t>&lt;&lt;extends&gt;&gt;</a:t>
            </a:r>
            <a:r>
              <a:rPr lang="en-US" altLang="en-US" sz="2000">
                <a:ea typeface="ＭＳ Ｐゴシック" panose="020B0600070205080204" pitchFamily="34" charset="-128"/>
              </a:rPr>
              <a:t> relationship).</a:t>
            </a:r>
          </a:p>
        </p:txBody>
      </p:sp>
      <p:grpSp>
        <p:nvGrpSpPr>
          <p:cNvPr id="30724" name="Group 6">
            <a:extLst>
              <a:ext uri="{FF2B5EF4-FFF2-40B4-BE49-F238E27FC236}">
                <a16:creationId xmlns:a16="http://schemas.microsoft.com/office/drawing/2014/main" id="{E90A066D-0CA6-731D-FA4B-B05019437014}"/>
              </a:ext>
            </a:extLst>
          </p:cNvPr>
          <p:cNvGrpSpPr>
            <a:grpSpLocks/>
          </p:cNvGrpSpPr>
          <p:nvPr/>
        </p:nvGrpSpPr>
        <p:grpSpPr bwMode="auto">
          <a:xfrm>
            <a:off x="2400301" y="1284289"/>
            <a:ext cx="1235075" cy="1101725"/>
            <a:chOff x="1616" y="801"/>
            <a:chExt cx="778" cy="694"/>
          </a:xfrm>
        </p:grpSpPr>
        <p:grpSp>
          <p:nvGrpSpPr>
            <p:cNvPr id="30760" name="Group 7">
              <a:extLst>
                <a:ext uri="{FF2B5EF4-FFF2-40B4-BE49-F238E27FC236}">
                  <a16:creationId xmlns:a16="http://schemas.microsoft.com/office/drawing/2014/main" id="{15F1D12E-4918-6230-78EC-FC9E5C015B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3" y="801"/>
              <a:ext cx="280" cy="493"/>
              <a:chOff x="659" y="1833"/>
              <a:chExt cx="299" cy="526"/>
            </a:xfrm>
          </p:grpSpPr>
          <p:sp>
            <p:nvSpPr>
              <p:cNvPr id="30762" name="Freeform 8">
                <a:extLst>
                  <a:ext uri="{FF2B5EF4-FFF2-40B4-BE49-F238E27FC236}">
                    <a16:creationId xmlns:a16="http://schemas.microsoft.com/office/drawing/2014/main" id="{1EE00790-047F-1D19-B110-345CBB4D1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763" name="Line 9">
                <a:extLst>
                  <a:ext uri="{FF2B5EF4-FFF2-40B4-BE49-F238E27FC236}">
                    <a16:creationId xmlns:a16="http://schemas.microsoft.com/office/drawing/2014/main" id="{6EAA1EC9-C12E-1EFF-5714-8D3915548C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764" name="Line 10">
                <a:extLst>
                  <a:ext uri="{FF2B5EF4-FFF2-40B4-BE49-F238E27FC236}">
                    <a16:creationId xmlns:a16="http://schemas.microsoft.com/office/drawing/2014/main" id="{DA37799B-94E3-34D4-27E2-0BF825327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765" name="Oval 11">
                <a:extLst>
                  <a:ext uri="{FF2B5EF4-FFF2-40B4-BE49-F238E27FC236}">
                    <a16:creationId xmlns:a16="http://schemas.microsoft.com/office/drawing/2014/main" id="{765EFD35-9ABE-3064-F870-CBA2E6162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30761" name="Rectangle 12">
              <a:extLst>
                <a:ext uri="{FF2B5EF4-FFF2-40B4-BE49-F238E27FC236}">
                  <a16:creationId xmlns:a16="http://schemas.microsoft.com/office/drawing/2014/main" id="{95A94C22-193B-5B00-93B6-208965820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6" y="1322"/>
              <a:ext cx="77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30725" name="Group 38">
            <a:extLst>
              <a:ext uri="{FF2B5EF4-FFF2-40B4-BE49-F238E27FC236}">
                <a16:creationId xmlns:a16="http://schemas.microsoft.com/office/drawing/2014/main" id="{E156A7AC-298D-D9AF-7869-1E0E4FCA58A6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2862263"/>
            <a:ext cx="2743200" cy="779462"/>
            <a:chOff x="337" y="1803"/>
            <a:chExt cx="1728" cy="491"/>
          </a:xfrm>
        </p:grpSpPr>
        <p:sp>
          <p:nvSpPr>
            <p:cNvPr id="30758" name="Oval 14">
              <a:extLst>
                <a:ext uri="{FF2B5EF4-FFF2-40B4-BE49-F238E27FC236}">
                  <a16:creationId xmlns:a16="http://schemas.microsoft.com/office/drawing/2014/main" id="{D431CBBC-00D6-674C-9304-65AB497C9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1803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0759" name="Rectangle 15">
              <a:extLst>
                <a:ext uri="{FF2B5EF4-FFF2-40B4-BE49-F238E27FC236}">
                  <a16:creationId xmlns:a16="http://schemas.microsoft.com/office/drawing/2014/main" id="{848DA2BD-C3AD-AF3D-598E-DAF914742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" y="2121"/>
              <a:ext cx="17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PurchaseSingleTicket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sp>
        <p:nvSpPr>
          <p:cNvPr id="30726" name="Line 16">
            <a:extLst>
              <a:ext uri="{FF2B5EF4-FFF2-40B4-BE49-F238E27FC236}">
                <a16:creationId xmlns:a16="http://schemas.microsoft.com/office/drawing/2014/main" id="{010FE8B5-8271-A56E-EDCB-BF9AEBAFB3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3075" y="2462214"/>
            <a:ext cx="1588" cy="320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grpSp>
        <p:nvGrpSpPr>
          <p:cNvPr id="5" name="Group 53">
            <a:extLst>
              <a:ext uri="{FF2B5EF4-FFF2-40B4-BE49-F238E27FC236}">
                <a16:creationId xmlns:a16="http://schemas.microsoft.com/office/drawing/2014/main" id="{5DE0598D-BC2F-C1B0-40E0-EEDCDFDD4754}"/>
              </a:ext>
            </a:extLst>
          </p:cNvPr>
          <p:cNvGrpSpPr>
            <a:grpSpLocks/>
          </p:cNvGrpSpPr>
          <p:nvPr/>
        </p:nvGrpSpPr>
        <p:grpSpPr bwMode="auto">
          <a:xfrm>
            <a:off x="3751263" y="2017713"/>
            <a:ext cx="2722562" cy="1166812"/>
            <a:chOff x="1403" y="1271"/>
            <a:chExt cx="1715" cy="735"/>
          </a:xfrm>
        </p:grpSpPr>
        <p:sp>
          <p:nvSpPr>
            <p:cNvPr id="30755" name="Oval 18">
              <a:extLst>
                <a:ext uri="{FF2B5EF4-FFF2-40B4-BE49-F238E27FC236}">
                  <a16:creationId xmlns:a16="http://schemas.microsoft.com/office/drawing/2014/main" id="{D8BD3B4D-D356-0BCC-040B-0A242131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1515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0756" name="Rectangle 19">
              <a:extLst>
                <a:ext uri="{FF2B5EF4-FFF2-40B4-BE49-F238E27FC236}">
                  <a16:creationId xmlns:a16="http://schemas.microsoft.com/office/drawing/2014/main" id="{7025EF85-CA31-F1DA-DB4F-9DC980A1B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1833"/>
              <a:ext cx="14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PurchaseMultiCard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30757" name="Line 20">
              <a:extLst>
                <a:ext uri="{FF2B5EF4-FFF2-40B4-BE49-F238E27FC236}">
                  <a16:creationId xmlns:a16="http://schemas.microsoft.com/office/drawing/2014/main" id="{E9DA48FF-62C9-9AF0-AA4C-62B80CC60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" y="1271"/>
              <a:ext cx="703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6" name="Group 42">
            <a:extLst>
              <a:ext uri="{FF2B5EF4-FFF2-40B4-BE49-F238E27FC236}">
                <a16:creationId xmlns:a16="http://schemas.microsoft.com/office/drawing/2014/main" id="{93CCE32A-243D-8F5D-D12C-9951E8998D78}"/>
              </a:ext>
            </a:extLst>
          </p:cNvPr>
          <p:cNvGrpSpPr>
            <a:grpSpLocks/>
          </p:cNvGrpSpPr>
          <p:nvPr/>
        </p:nvGrpSpPr>
        <p:grpSpPr bwMode="auto">
          <a:xfrm>
            <a:off x="4714875" y="3236914"/>
            <a:ext cx="1957388" cy="1069975"/>
            <a:chOff x="2010" y="2039"/>
            <a:chExt cx="1233" cy="674"/>
          </a:xfrm>
        </p:grpSpPr>
        <p:sp>
          <p:nvSpPr>
            <p:cNvPr id="30753" name="Line 36">
              <a:extLst>
                <a:ext uri="{FF2B5EF4-FFF2-40B4-BE49-F238E27FC236}">
                  <a16:creationId xmlns:a16="http://schemas.microsoft.com/office/drawing/2014/main" id="{CB9148EE-3478-7B26-4D14-F5F4110AF2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0" y="2039"/>
              <a:ext cx="329" cy="6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754" name="Text Box 39">
              <a:extLst>
                <a:ext uri="{FF2B5EF4-FFF2-40B4-BE49-F238E27FC236}">
                  <a16:creationId xmlns:a16="http://schemas.microsoft.com/office/drawing/2014/main" id="{920199AC-AD0F-DE03-D19D-7E7E40073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" y="2301"/>
              <a:ext cx="10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&lt;&lt;includes&gt;&gt;</a:t>
              </a:r>
            </a:p>
          </p:txBody>
        </p:sp>
      </p:grpSp>
      <p:grpSp>
        <p:nvGrpSpPr>
          <p:cNvPr id="7" name="Group 33">
            <a:extLst>
              <a:ext uri="{FF2B5EF4-FFF2-40B4-BE49-F238E27FC236}">
                <a16:creationId xmlns:a16="http://schemas.microsoft.com/office/drawing/2014/main" id="{FA516ADC-C703-C81B-E5EC-677404891BAE}"/>
              </a:ext>
            </a:extLst>
          </p:cNvPr>
          <p:cNvGrpSpPr>
            <a:grpSpLocks/>
          </p:cNvGrpSpPr>
          <p:nvPr/>
        </p:nvGrpSpPr>
        <p:grpSpPr bwMode="auto">
          <a:xfrm>
            <a:off x="3722689" y="4386263"/>
            <a:ext cx="1646237" cy="779462"/>
            <a:chOff x="1337" y="2763"/>
            <a:chExt cx="1037" cy="491"/>
          </a:xfrm>
        </p:grpSpPr>
        <p:sp>
          <p:nvSpPr>
            <p:cNvPr id="30751" name="Oval 22">
              <a:extLst>
                <a:ext uri="{FF2B5EF4-FFF2-40B4-BE49-F238E27FC236}">
                  <a16:creationId xmlns:a16="http://schemas.microsoft.com/office/drawing/2014/main" id="{B67CF49A-7128-F565-CB15-585BBE72A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2763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0752" name="Rectangle 23">
              <a:extLst>
                <a:ext uri="{FF2B5EF4-FFF2-40B4-BE49-F238E27FC236}">
                  <a16:creationId xmlns:a16="http://schemas.microsoft.com/office/drawing/2014/main" id="{4370EAAA-1CBD-AE3E-3892-6E7FED312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3081"/>
              <a:ext cx="10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CollectMoney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45">
            <a:extLst>
              <a:ext uri="{FF2B5EF4-FFF2-40B4-BE49-F238E27FC236}">
                <a16:creationId xmlns:a16="http://schemas.microsoft.com/office/drawing/2014/main" id="{C6D735A7-74C2-5249-8FEB-44DB4146C38D}"/>
              </a:ext>
            </a:extLst>
          </p:cNvPr>
          <p:cNvGrpSpPr>
            <a:grpSpLocks/>
          </p:cNvGrpSpPr>
          <p:nvPr/>
        </p:nvGrpSpPr>
        <p:grpSpPr bwMode="auto">
          <a:xfrm>
            <a:off x="2278063" y="3706814"/>
            <a:ext cx="2030412" cy="625475"/>
            <a:chOff x="475" y="2335"/>
            <a:chExt cx="1279" cy="394"/>
          </a:xfrm>
        </p:grpSpPr>
        <p:sp>
          <p:nvSpPr>
            <p:cNvPr id="30749" name="Line 35">
              <a:extLst>
                <a:ext uri="{FF2B5EF4-FFF2-40B4-BE49-F238E27FC236}">
                  <a16:creationId xmlns:a16="http://schemas.microsoft.com/office/drawing/2014/main" id="{C93C4754-1EAD-5328-0DC9-4FDAD5435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9" y="2335"/>
              <a:ext cx="695" cy="3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750" name="Text Box 40">
              <a:extLst>
                <a:ext uri="{FF2B5EF4-FFF2-40B4-BE49-F238E27FC236}">
                  <a16:creationId xmlns:a16="http://schemas.microsoft.com/office/drawing/2014/main" id="{C4F61A4E-452F-43B5-769C-3A2F6F519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2509"/>
              <a:ext cx="10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&lt;&lt;includes&gt;&gt;</a:t>
              </a:r>
            </a:p>
          </p:txBody>
        </p:sp>
      </p:grpSp>
      <p:grpSp>
        <p:nvGrpSpPr>
          <p:cNvPr id="9" name="Group 52">
            <a:extLst>
              <a:ext uri="{FF2B5EF4-FFF2-40B4-BE49-F238E27FC236}">
                <a16:creationId xmlns:a16="http://schemas.microsoft.com/office/drawing/2014/main" id="{55489651-1006-7148-A7B0-F77DB1CC46EE}"/>
              </a:ext>
            </a:extLst>
          </p:cNvPr>
          <p:cNvGrpSpPr>
            <a:grpSpLocks/>
          </p:cNvGrpSpPr>
          <p:nvPr/>
        </p:nvGrpSpPr>
        <p:grpSpPr bwMode="auto">
          <a:xfrm>
            <a:off x="1890713" y="5011738"/>
            <a:ext cx="5548312" cy="1382712"/>
            <a:chOff x="231" y="3157"/>
            <a:chExt cx="3495" cy="871"/>
          </a:xfrm>
        </p:grpSpPr>
        <p:grpSp>
          <p:nvGrpSpPr>
            <p:cNvPr id="30732" name="Group 43">
              <a:extLst>
                <a:ext uri="{FF2B5EF4-FFF2-40B4-BE49-F238E27FC236}">
                  <a16:creationId xmlns:a16="http://schemas.microsoft.com/office/drawing/2014/main" id="{85A0DE2A-298D-5FDE-5831-E62A291579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" y="3157"/>
              <a:ext cx="1044" cy="801"/>
              <a:chOff x="231" y="3157"/>
              <a:chExt cx="1044" cy="801"/>
            </a:xfrm>
          </p:grpSpPr>
          <p:grpSp>
            <p:nvGrpSpPr>
              <p:cNvPr id="30744" name="Group 24">
                <a:extLst>
                  <a:ext uri="{FF2B5EF4-FFF2-40B4-BE49-F238E27FC236}">
                    <a16:creationId xmlns:a16="http://schemas.microsoft.com/office/drawing/2014/main" id="{53E9CF08-5AB8-5A87-A873-EAA3384947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467"/>
                <a:ext cx="706" cy="491"/>
                <a:chOff x="518" y="2443"/>
                <a:chExt cx="706" cy="491"/>
              </a:xfrm>
            </p:grpSpPr>
            <p:sp>
              <p:nvSpPr>
                <p:cNvPr id="30747" name="Oval 25">
                  <a:extLst>
                    <a:ext uri="{FF2B5EF4-FFF2-40B4-BE49-F238E27FC236}">
                      <a16:creationId xmlns:a16="http://schemas.microsoft.com/office/drawing/2014/main" id="{F65958E5-C7CB-DAE7-A3C1-E440197F2F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443"/>
                  <a:ext cx="706" cy="301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30748" name="Rectangle 26">
                  <a:extLst>
                    <a:ext uri="{FF2B5EF4-FFF2-40B4-BE49-F238E27FC236}">
                      <a16:creationId xmlns:a16="http://schemas.microsoft.com/office/drawing/2014/main" id="{EF574107-39FA-F97B-01CF-7BC612F8B4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6" y="2761"/>
                  <a:ext cx="691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NoChange</a:t>
                  </a:r>
                  <a:endParaRPr lang="en-US" altLang="en-US" sz="1800" b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0745" name="Line 30">
                <a:extLst>
                  <a:ext uri="{FF2B5EF4-FFF2-40B4-BE49-F238E27FC236}">
                    <a16:creationId xmlns:a16="http://schemas.microsoft.com/office/drawing/2014/main" id="{ABAC922E-4B5F-D20E-5814-67469D7EE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0" y="3207"/>
                <a:ext cx="305" cy="1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746" name="Text Box 31">
                <a:extLst>
                  <a:ext uri="{FF2B5EF4-FFF2-40B4-BE49-F238E27FC236}">
                    <a16:creationId xmlns:a16="http://schemas.microsoft.com/office/drawing/2014/main" id="{03CD8CE0-9F09-5109-FEF0-62C063FDC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" y="3157"/>
                <a:ext cx="9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Courier" charset="0"/>
                  </a:rPr>
                  <a:t>&lt;&lt;extends&gt;&gt;</a:t>
                </a:r>
              </a:p>
            </p:txBody>
          </p:sp>
        </p:grpSp>
        <p:grpSp>
          <p:nvGrpSpPr>
            <p:cNvPr id="30733" name="Group 44">
              <a:extLst>
                <a:ext uri="{FF2B5EF4-FFF2-40B4-BE49-F238E27FC236}">
                  <a16:creationId xmlns:a16="http://schemas.microsoft.com/office/drawing/2014/main" id="{EB91F5F5-B7FA-99D5-AF19-768FA5B50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9" y="3197"/>
              <a:ext cx="1157" cy="761"/>
              <a:chOff x="2499" y="3197"/>
              <a:chExt cx="1157" cy="761"/>
            </a:xfrm>
          </p:grpSpPr>
          <p:grpSp>
            <p:nvGrpSpPr>
              <p:cNvPr id="30739" name="Group 27">
                <a:extLst>
                  <a:ext uri="{FF2B5EF4-FFF2-40B4-BE49-F238E27FC236}">
                    <a16:creationId xmlns:a16="http://schemas.microsoft.com/office/drawing/2014/main" id="{0BE9C929-0CC7-CF03-A2BC-3D94A80847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86" y="3467"/>
                <a:ext cx="706" cy="491"/>
                <a:chOff x="1762" y="2595"/>
                <a:chExt cx="706" cy="491"/>
              </a:xfrm>
            </p:grpSpPr>
            <p:sp>
              <p:nvSpPr>
                <p:cNvPr id="30742" name="Oval 28">
                  <a:extLst>
                    <a:ext uri="{FF2B5EF4-FFF2-40B4-BE49-F238E27FC236}">
                      <a16:creationId xmlns:a16="http://schemas.microsoft.com/office/drawing/2014/main" id="{157D09D3-2C48-89E0-D460-3E559BC709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2" y="2595"/>
                  <a:ext cx="706" cy="301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30743" name="Rectangle 29">
                  <a:extLst>
                    <a:ext uri="{FF2B5EF4-FFF2-40B4-BE49-F238E27FC236}">
                      <a16:creationId xmlns:a16="http://schemas.microsoft.com/office/drawing/2014/main" id="{3F003E7F-6DA9-E86D-E74C-C42BE6CC7D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3" y="2913"/>
                  <a:ext cx="518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Cancel</a:t>
                  </a:r>
                  <a:endParaRPr lang="en-US" altLang="en-US" sz="1800" b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0740" name="Line 32">
                <a:extLst>
                  <a:ext uri="{FF2B5EF4-FFF2-40B4-BE49-F238E27FC236}">
                    <a16:creationId xmlns:a16="http://schemas.microsoft.com/office/drawing/2014/main" id="{C4B1D739-71DD-8CA3-C68C-F547C5295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9" y="3239"/>
                <a:ext cx="287" cy="18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741" name="Text Box 34">
                <a:extLst>
                  <a:ext uri="{FF2B5EF4-FFF2-40B4-BE49-F238E27FC236}">
                    <a16:creationId xmlns:a16="http://schemas.microsoft.com/office/drawing/2014/main" id="{23D5EB47-E0E3-DA37-2941-64B0CB7866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5" y="3197"/>
                <a:ext cx="9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Courier" charset="0"/>
                  </a:rPr>
                  <a:t>&lt;&lt;extends&gt;&gt;</a:t>
                </a:r>
              </a:p>
            </p:txBody>
          </p:sp>
        </p:grpSp>
        <p:grpSp>
          <p:nvGrpSpPr>
            <p:cNvPr id="30734" name="Group 47">
              <a:extLst>
                <a:ext uri="{FF2B5EF4-FFF2-40B4-BE49-F238E27FC236}">
                  <a16:creationId xmlns:a16="http://schemas.microsoft.com/office/drawing/2014/main" id="{70C51B78-2E17-F131-4066-EFA75129F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4" y="3537"/>
              <a:ext cx="706" cy="491"/>
              <a:chOff x="1762" y="2595"/>
              <a:chExt cx="706" cy="491"/>
            </a:xfrm>
          </p:grpSpPr>
          <p:sp>
            <p:nvSpPr>
              <p:cNvPr id="30737" name="Oval 48">
                <a:extLst>
                  <a:ext uri="{FF2B5EF4-FFF2-40B4-BE49-F238E27FC236}">
                    <a16:creationId xmlns:a16="http://schemas.microsoft.com/office/drawing/2014/main" id="{5DA0C65D-7607-5B45-C452-ABCA5D940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25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30738" name="Rectangle 49">
                <a:extLst>
                  <a:ext uri="{FF2B5EF4-FFF2-40B4-BE49-F238E27FC236}">
                    <a16:creationId xmlns:a16="http://schemas.microsoft.com/office/drawing/2014/main" id="{3C84D1FF-9ECD-8AD8-95DC-382EFB327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3" y="2913"/>
                <a:ext cx="51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Cancel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0735" name="Line 50">
              <a:extLst>
                <a:ext uri="{FF2B5EF4-FFF2-40B4-BE49-F238E27FC236}">
                  <a16:creationId xmlns:a16="http://schemas.microsoft.com/office/drawing/2014/main" id="{6FF3E49E-BE70-CA23-FB03-7B2341BB3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5" y="3238"/>
              <a:ext cx="85" cy="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736" name="Text Box 51">
              <a:extLst>
                <a:ext uri="{FF2B5EF4-FFF2-40B4-BE49-F238E27FC236}">
                  <a16:creationId xmlns:a16="http://schemas.microsoft.com/office/drawing/2014/main" id="{827D433B-48D2-8D61-2850-5ACB7C417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328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82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0AE6-2513-1FE5-31E0-A5B8ABE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Use Case Diagrams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4E0D40-BFB9-0377-E701-1889442E4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2823" r="1889" b="12823"/>
          <a:stretch/>
        </p:blipFill>
        <p:spPr>
          <a:xfrm>
            <a:off x="2114549" y="1690688"/>
            <a:ext cx="8086725" cy="4351338"/>
          </a:xfrm>
        </p:spPr>
      </p:pic>
    </p:spTree>
    <p:extLst>
      <p:ext uri="{BB962C8B-B14F-4D97-AF65-F5344CB8AC3E}">
        <p14:creationId xmlns:p14="http://schemas.microsoft.com/office/powerpoint/2010/main" val="2277048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0AE6-2513-1FE5-31E0-A5B8ABE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Class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308A-EF6B-273D-A0E0-C28FCAFF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Used to describe the structure of the system. 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Classes are abstractions that specify the common structure and behavior of a set of objects. 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Objects are instances of classes that are created, modified, and destroyed during the execution of the system. 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 object has state that includes the values of its attributes and its links with other objects.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96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0C29838-13B1-F5A6-D755-A89B1A425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Class Diagrams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C16C2E9-7B75-F625-97E1-84B6BE472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12950" y="1284289"/>
            <a:ext cx="8001000" cy="2827337"/>
          </a:xfrm>
          <a:noFill/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Used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during requirements analysis to model application domain concepts.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during system design to model subsystems.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during object design to specify the detailed behavior and attributes of classes.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5D51CF4D-10CB-5D97-41AA-F59AE2F70160}"/>
              </a:ext>
            </a:extLst>
          </p:cNvPr>
          <p:cNvGrpSpPr>
            <a:grpSpLocks/>
          </p:cNvGrpSpPr>
          <p:nvPr/>
        </p:nvGrpSpPr>
        <p:grpSpPr bwMode="auto">
          <a:xfrm>
            <a:off x="2062164" y="4516439"/>
            <a:ext cx="8199437" cy="1419225"/>
            <a:chOff x="339" y="2845"/>
            <a:chExt cx="5165" cy="894"/>
          </a:xfrm>
        </p:grpSpPr>
        <p:sp>
          <p:nvSpPr>
            <p:cNvPr id="32773" name="Text Box 5">
              <a:extLst>
                <a:ext uri="{FF2B5EF4-FFF2-40B4-BE49-F238E27FC236}">
                  <a16:creationId xmlns:a16="http://schemas.microsoft.com/office/drawing/2014/main" id="{D94204E5-011C-9E11-481E-6A3831890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087"/>
              <a:ext cx="2085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Courier" charset="0"/>
                </a:rPr>
                <a:t>Table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zone2price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Enumeration getZones()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Price getPrice(Zone)</a:t>
              </a:r>
            </a:p>
          </p:txBody>
        </p:sp>
        <p:grpSp>
          <p:nvGrpSpPr>
            <p:cNvPr id="32774" name="Group 6">
              <a:extLst>
                <a:ext uri="{FF2B5EF4-FFF2-40B4-BE49-F238E27FC236}">
                  <a16:creationId xmlns:a16="http://schemas.microsoft.com/office/drawing/2014/main" id="{1CFF8625-67AB-642D-8D58-FCF12BA01D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2845"/>
              <a:ext cx="2102" cy="282"/>
              <a:chOff x="554" y="1413"/>
              <a:chExt cx="1390" cy="282"/>
            </a:xfrm>
          </p:grpSpPr>
          <p:sp>
            <p:nvSpPr>
              <p:cNvPr id="32788" name="Rectangle 7">
                <a:extLst>
                  <a:ext uri="{FF2B5EF4-FFF2-40B4-BE49-F238E27FC236}">
                    <a16:creationId xmlns:a16="http://schemas.microsoft.com/office/drawing/2014/main" id="{A4A4D836-4646-6075-3147-A287D81A0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32789" name="Rectangle 8">
                <a:extLst>
                  <a:ext uri="{FF2B5EF4-FFF2-40B4-BE49-F238E27FC236}">
                    <a16:creationId xmlns:a16="http://schemas.microsoft.com/office/drawing/2014/main" id="{11ED6290-E278-9189-F91F-B2F4FD961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7" y="1507"/>
                <a:ext cx="74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TarifSchedule</a:t>
                </a:r>
              </a:p>
            </p:txBody>
          </p:sp>
        </p:grpSp>
        <p:sp>
          <p:nvSpPr>
            <p:cNvPr id="32775" name="Rectangle 9">
              <a:extLst>
                <a:ext uri="{FF2B5EF4-FFF2-40B4-BE49-F238E27FC236}">
                  <a16:creationId xmlns:a16="http://schemas.microsoft.com/office/drawing/2014/main" id="{9BB0FC00-3786-AC3F-C153-E7FAFDE4C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" y="3130"/>
              <a:ext cx="2103" cy="16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2776" name="Rectangle 10">
              <a:extLst>
                <a:ext uri="{FF2B5EF4-FFF2-40B4-BE49-F238E27FC236}">
                  <a16:creationId xmlns:a16="http://schemas.microsoft.com/office/drawing/2014/main" id="{28F204B9-5D60-CE1A-3FF4-1FAF3C834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" y="3298"/>
              <a:ext cx="2101" cy="37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2777" name="Line 22">
              <a:extLst>
                <a:ext uri="{FF2B5EF4-FFF2-40B4-BE49-F238E27FC236}">
                  <a16:creationId xmlns:a16="http://schemas.microsoft.com/office/drawing/2014/main" id="{E2579113-F847-0685-A745-5B3659BF4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3256"/>
              <a:ext cx="1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2778" name="Text Box 29">
              <a:extLst>
                <a:ext uri="{FF2B5EF4-FFF2-40B4-BE49-F238E27FC236}">
                  <a16:creationId xmlns:a16="http://schemas.microsoft.com/office/drawing/2014/main" id="{7CAB3EE6-008D-ACC0-EF4C-F5E156D58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1" y="3288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400" b="0">
                  <a:solidFill>
                    <a:schemeClr val="tx1"/>
                  </a:solidFill>
                </a:rPr>
                <a:t>*</a:t>
              </a:r>
              <a:endParaRPr lang="en-US" altLang="en-US" sz="2400" b="0"/>
            </a:p>
          </p:txBody>
        </p:sp>
        <p:sp>
          <p:nvSpPr>
            <p:cNvPr id="32779" name="Text Box 31">
              <a:extLst>
                <a:ext uri="{FF2B5EF4-FFF2-40B4-BE49-F238E27FC236}">
                  <a16:creationId xmlns:a16="http://schemas.microsoft.com/office/drawing/2014/main" id="{0CD819E7-F5E5-2BEC-5FD2-D118D23C0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3304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400" b="0">
                  <a:solidFill>
                    <a:schemeClr val="tx1"/>
                  </a:solidFill>
                </a:rPr>
                <a:t>*</a:t>
              </a:r>
              <a:endParaRPr lang="en-US" altLang="en-US" sz="2400" b="0"/>
            </a:p>
          </p:txBody>
        </p:sp>
        <p:grpSp>
          <p:nvGrpSpPr>
            <p:cNvPr id="32780" name="Group 36">
              <a:extLst>
                <a:ext uri="{FF2B5EF4-FFF2-40B4-BE49-F238E27FC236}">
                  <a16:creationId xmlns:a16="http://schemas.microsoft.com/office/drawing/2014/main" id="{ED2B0DEE-3FE1-D415-2ECE-DB9261C83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911"/>
              <a:ext cx="1650" cy="282"/>
              <a:chOff x="554" y="1413"/>
              <a:chExt cx="1390" cy="282"/>
            </a:xfrm>
          </p:grpSpPr>
          <p:sp>
            <p:nvSpPr>
              <p:cNvPr id="32786" name="Rectangle 37">
                <a:extLst>
                  <a:ext uri="{FF2B5EF4-FFF2-40B4-BE49-F238E27FC236}">
                    <a16:creationId xmlns:a16="http://schemas.microsoft.com/office/drawing/2014/main" id="{80B60AA0-D4D3-4FDE-4695-D2F8C50B3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32787" name="Rectangle 38">
                <a:extLst>
                  <a:ext uri="{FF2B5EF4-FFF2-40B4-BE49-F238E27FC236}">
                    <a16:creationId xmlns:a16="http://schemas.microsoft.com/office/drawing/2014/main" id="{91E457BE-919A-D640-6EA3-9C66A1A8C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3" y="1507"/>
                <a:ext cx="29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Trip</a:t>
                </a:r>
              </a:p>
            </p:txBody>
          </p:sp>
        </p:grpSp>
        <p:sp>
          <p:nvSpPr>
            <p:cNvPr id="32781" name="Rectangle 39">
              <a:extLst>
                <a:ext uri="{FF2B5EF4-FFF2-40B4-BE49-F238E27FC236}">
                  <a16:creationId xmlns:a16="http://schemas.microsoft.com/office/drawing/2014/main" id="{15B894D4-6765-7F55-DFE0-F7EECA533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3192"/>
              <a:ext cx="1649" cy="36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2782" name="Rectangle 40">
              <a:extLst>
                <a:ext uri="{FF2B5EF4-FFF2-40B4-BE49-F238E27FC236}">
                  <a16:creationId xmlns:a16="http://schemas.microsoft.com/office/drawing/2014/main" id="{D5F1A9A0-69DE-6A38-7553-8441D77EC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3553"/>
              <a:ext cx="1649" cy="186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32783" name="Group 41">
              <a:extLst>
                <a:ext uri="{FF2B5EF4-FFF2-40B4-BE49-F238E27FC236}">
                  <a16:creationId xmlns:a16="http://schemas.microsoft.com/office/drawing/2014/main" id="{60F71C23-2FFF-E6CD-24DE-7F8E88CB5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3" y="3174"/>
              <a:ext cx="1037" cy="361"/>
              <a:chOff x="1743" y="1368"/>
              <a:chExt cx="1325" cy="361"/>
            </a:xfrm>
          </p:grpSpPr>
          <p:sp>
            <p:nvSpPr>
              <p:cNvPr id="32784" name="Rectangle 42">
                <a:extLst>
                  <a:ext uri="{FF2B5EF4-FFF2-40B4-BE49-F238E27FC236}">
                    <a16:creationId xmlns:a16="http://schemas.microsoft.com/office/drawing/2014/main" id="{D2421553-E691-4B58-155A-5F01326BF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" y="1368"/>
                <a:ext cx="8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32785" name="Rectangle 43">
                <a:extLst>
                  <a:ext uri="{FF2B5EF4-FFF2-40B4-BE49-F238E27FC236}">
                    <a16:creationId xmlns:a16="http://schemas.microsoft.com/office/drawing/2014/main" id="{A5C4E171-0D9F-82D3-4318-E266C2928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1383"/>
                <a:ext cx="132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zone:Zone</a:t>
                </a:r>
              </a:p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Price: Price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819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83EF44D-3105-D69F-FA35-54490BA85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Classes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3D80985-A9F2-0E52-1996-BF00D0472F2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57400" y="4311651"/>
            <a:ext cx="8001000" cy="6826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A </a:t>
            </a:r>
            <a:r>
              <a:rPr lang="en-US" altLang="en-US" sz="2000" b="1" i="1">
                <a:ea typeface="ＭＳ Ｐゴシック" panose="020B0600070205080204" pitchFamily="34" charset="-128"/>
              </a:rPr>
              <a:t>class</a:t>
            </a:r>
            <a:r>
              <a:rPr lang="en-US" altLang="en-US" sz="2000">
                <a:ea typeface="ＭＳ Ｐゴシック" panose="020B0600070205080204" pitchFamily="34" charset="-128"/>
              </a:rPr>
              <a:t> represents a concept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A class encapsulates state </a:t>
            </a:r>
            <a:r>
              <a:rPr lang="en-US" altLang="en-US" sz="2000" b="1" i="1">
                <a:ea typeface="ＭＳ Ｐゴシック" panose="020B0600070205080204" pitchFamily="34" charset="-128"/>
              </a:rPr>
              <a:t>(attributes)</a:t>
            </a:r>
            <a:r>
              <a:rPr lang="en-US" altLang="en-US" sz="2000">
                <a:ea typeface="ＭＳ Ｐゴシック" panose="020B0600070205080204" pitchFamily="34" charset="-128"/>
              </a:rPr>
              <a:t> and behavior </a:t>
            </a:r>
            <a:r>
              <a:rPr lang="en-US" altLang="en-US" sz="2000" b="1" i="1">
                <a:ea typeface="ＭＳ Ｐゴシック" panose="020B0600070205080204" pitchFamily="34" charset="-128"/>
              </a:rPr>
              <a:t>(operations)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937DC990-CD8B-8E85-549A-2B20FF489089}"/>
              </a:ext>
            </a:extLst>
          </p:cNvPr>
          <p:cNvGrpSpPr>
            <a:grpSpLocks/>
          </p:cNvGrpSpPr>
          <p:nvPr/>
        </p:nvGrpSpPr>
        <p:grpSpPr bwMode="auto">
          <a:xfrm>
            <a:off x="6711951" y="922338"/>
            <a:ext cx="3635375" cy="1306512"/>
            <a:chOff x="3212" y="1405"/>
            <a:chExt cx="2290" cy="823"/>
          </a:xfrm>
        </p:grpSpPr>
        <p:sp>
          <p:nvSpPr>
            <p:cNvPr id="34839" name="Text Box 13">
              <a:extLst>
                <a:ext uri="{FF2B5EF4-FFF2-40B4-BE49-F238E27FC236}">
                  <a16:creationId xmlns:a16="http://schemas.microsoft.com/office/drawing/2014/main" id="{E408D4B5-07ED-1E9F-AB69-3EB4085CF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1" y="1647"/>
              <a:ext cx="2241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Table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zone2price</a:t>
              </a:r>
            </a:p>
            <a:p>
              <a:pPr algn="l"/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Enumeration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getZones()</a:t>
              </a:r>
            </a:p>
            <a:p>
              <a:pPr algn="l"/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Price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getPrice(</a:t>
              </a:r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Zone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)</a:t>
              </a:r>
            </a:p>
          </p:txBody>
        </p:sp>
        <p:sp>
          <p:nvSpPr>
            <p:cNvPr id="34840" name="Rectangle 14">
              <a:extLst>
                <a:ext uri="{FF2B5EF4-FFF2-40B4-BE49-F238E27FC236}">
                  <a16:creationId xmlns:a16="http://schemas.microsoft.com/office/drawing/2014/main" id="{A22331E0-C110-F63D-53DF-388B5C19B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" y="1405"/>
              <a:ext cx="2254" cy="2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4841" name="Rectangle 15">
              <a:extLst>
                <a:ext uri="{FF2B5EF4-FFF2-40B4-BE49-F238E27FC236}">
                  <a16:creationId xmlns:a16="http://schemas.microsoft.com/office/drawing/2014/main" id="{9938C566-5601-8573-54E4-6E4569A12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7" y="1499"/>
              <a:ext cx="11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TarifSchedule</a:t>
              </a:r>
            </a:p>
          </p:txBody>
        </p:sp>
        <p:sp>
          <p:nvSpPr>
            <p:cNvPr id="34842" name="Rectangle 16">
              <a:extLst>
                <a:ext uri="{FF2B5EF4-FFF2-40B4-BE49-F238E27FC236}">
                  <a16:creationId xmlns:a16="http://schemas.microsoft.com/office/drawing/2014/main" id="{AFA0AF9F-5BE6-69D0-47CB-E5780B84C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" y="1690"/>
              <a:ext cx="2251" cy="16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4843" name="Rectangle 17">
              <a:extLst>
                <a:ext uri="{FF2B5EF4-FFF2-40B4-BE49-F238E27FC236}">
                  <a16:creationId xmlns:a16="http://schemas.microsoft.com/office/drawing/2014/main" id="{3BFF1375-8696-002C-0560-59590D4AB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1858"/>
              <a:ext cx="2251" cy="37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grpSp>
        <p:nvGrpSpPr>
          <p:cNvPr id="3" name="Group 32">
            <a:extLst>
              <a:ext uri="{FF2B5EF4-FFF2-40B4-BE49-F238E27FC236}">
                <a16:creationId xmlns:a16="http://schemas.microsoft.com/office/drawing/2014/main" id="{870400D1-AF2C-4B52-C442-7733EDE66F76}"/>
              </a:ext>
            </a:extLst>
          </p:cNvPr>
          <p:cNvGrpSpPr>
            <a:grpSpLocks/>
          </p:cNvGrpSpPr>
          <p:nvPr/>
        </p:nvGrpSpPr>
        <p:grpSpPr bwMode="auto">
          <a:xfrm>
            <a:off x="2397126" y="1676400"/>
            <a:ext cx="4295775" cy="2222500"/>
            <a:chOff x="550" y="1056"/>
            <a:chExt cx="2706" cy="1400"/>
          </a:xfrm>
        </p:grpSpPr>
        <p:grpSp>
          <p:nvGrpSpPr>
            <p:cNvPr id="34829" name="Group 28">
              <a:extLst>
                <a:ext uri="{FF2B5EF4-FFF2-40B4-BE49-F238E27FC236}">
                  <a16:creationId xmlns:a16="http://schemas.microsoft.com/office/drawing/2014/main" id="{295FBB39-43B6-587B-7D4D-C54D3A2C0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1413"/>
              <a:ext cx="1416" cy="823"/>
              <a:chOff x="550" y="1413"/>
              <a:chExt cx="1416" cy="823"/>
            </a:xfrm>
          </p:grpSpPr>
          <p:sp>
            <p:nvSpPr>
              <p:cNvPr id="34833" name="Text Box 6">
                <a:extLst>
                  <a:ext uri="{FF2B5EF4-FFF2-40B4-BE49-F238E27FC236}">
                    <a16:creationId xmlns:a16="http://schemas.microsoft.com/office/drawing/2014/main" id="{A6089B0F-51D9-4A06-7E08-639F7FAF79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" y="1655"/>
                <a:ext cx="1382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zone2price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getZones()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getPrice()</a:t>
                </a:r>
              </a:p>
            </p:txBody>
          </p:sp>
          <p:grpSp>
            <p:nvGrpSpPr>
              <p:cNvPr id="34834" name="Group 24">
                <a:extLst>
                  <a:ext uri="{FF2B5EF4-FFF2-40B4-BE49-F238E27FC236}">
                    <a16:creationId xmlns:a16="http://schemas.microsoft.com/office/drawing/2014/main" id="{D5D185B5-FDE9-8980-8199-9E4BD8858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" y="1413"/>
                <a:ext cx="1390" cy="282"/>
                <a:chOff x="554" y="1413"/>
                <a:chExt cx="1390" cy="282"/>
              </a:xfrm>
            </p:grpSpPr>
            <p:sp>
              <p:nvSpPr>
                <p:cNvPr id="34837" name="Rectangle 7">
                  <a:extLst>
                    <a:ext uri="{FF2B5EF4-FFF2-40B4-BE49-F238E27FC236}">
                      <a16:creationId xmlns:a16="http://schemas.microsoft.com/office/drawing/2014/main" id="{E915E238-D8F5-FBF0-9006-47D12554E9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34838" name="Rectangle 8">
                  <a:extLst>
                    <a:ext uri="{FF2B5EF4-FFF2-40B4-BE49-F238E27FC236}">
                      <a16:creationId xmlns:a16="http://schemas.microsoft.com/office/drawing/2014/main" id="{E61637A8-982F-3FF1-EB25-C1CA0DFA7C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7" y="1507"/>
                  <a:ext cx="1123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TarifSchedule</a:t>
                  </a:r>
                </a:p>
              </p:txBody>
            </p:sp>
          </p:grpSp>
          <p:sp>
            <p:nvSpPr>
              <p:cNvPr id="34835" name="Rectangle 9">
                <a:extLst>
                  <a:ext uri="{FF2B5EF4-FFF2-40B4-BE49-F238E27FC236}">
                    <a16:creationId xmlns:a16="http://schemas.microsoft.com/office/drawing/2014/main" id="{52452128-8F5C-C8B6-AD5B-61F29F08F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1698"/>
                <a:ext cx="1394" cy="16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34836" name="Rectangle 10">
                <a:extLst>
                  <a:ext uri="{FF2B5EF4-FFF2-40B4-BE49-F238E27FC236}">
                    <a16:creationId xmlns:a16="http://schemas.microsoft.com/office/drawing/2014/main" id="{012E66C6-6849-77DF-BDA5-C029E37E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" y="1866"/>
                <a:ext cx="1393" cy="370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34830" name="AutoShape 19">
              <a:extLst>
                <a:ext uri="{FF2B5EF4-FFF2-40B4-BE49-F238E27FC236}">
                  <a16:creationId xmlns:a16="http://schemas.microsoft.com/office/drawing/2014/main" id="{1B8A25C7-CB1A-68E5-B388-B708813D2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1056"/>
              <a:ext cx="784" cy="384"/>
            </a:xfrm>
            <a:prstGeom prst="wedgeRoundRectCallout">
              <a:avLst>
                <a:gd name="adj1" fmla="val -91329"/>
                <a:gd name="adj2" fmla="val 86718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400" b="0"/>
                <a:t>Name</a:t>
              </a:r>
            </a:p>
          </p:txBody>
        </p:sp>
        <p:sp>
          <p:nvSpPr>
            <p:cNvPr id="34831" name="AutoShape 20">
              <a:extLst>
                <a:ext uri="{FF2B5EF4-FFF2-40B4-BE49-F238E27FC236}">
                  <a16:creationId xmlns:a16="http://schemas.microsoft.com/office/drawing/2014/main" id="{13F40055-43E0-E7BC-3C8E-55D9ECFDB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1568"/>
              <a:ext cx="1064" cy="384"/>
            </a:xfrm>
            <a:prstGeom prst="wedgeRoundRectCallout">
              <a:avLst>
                <a:gd name="adj1" fmla="val -68421"/>
                <a:gd name="adj2" fmla="val 9634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400" b="0"/>
                <a:t>Attributes</a:t>
              </a:r>
            </a:p>
          </p:txBody>
        </p:sp>
        <p:sp>
          <p:nvSpPr>
            <p:cNvPr id="34832" name="AutoShape 21">
              <a:extLst>
                <a:ext uri="{FF2B5EF4-FFF2-40B4-BE49-F238E27FC236}">
                  <a16:creationId xmlns:a16="http://schemas.microsoft.com/office/drawing/2014/main" id="{8F7ECAF8-EB86-A949-3CDB-0043E342E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2072"/>
              <a:ext cx="1064" cy="384"/>
            </a:xfrm>
            <a:prstGeom prst="wedgeRoundRectCallout">
              <a:avLst>
                <a:gd name="adj1" fmla="val -72931"/>
                <a:gd name="adj2" fmla="val -59116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400" b="0"/>
                <a:t>Operations</a:t>
              </a:r>
            </a:p>
          </p:txBody>
        </p:sp>
      </p:grpSp>
      <p:sp>
        <p:nvSpPr>
          <p:cNvPr id="113687" name="AutoShape 23">
            <a:extLst>
              <a:ext uri="{FF2B5EF4-FFF2-40B4-BE49-F238E27FC236}">
                <a16:creationId xmlns:a16="http://schemas.microsoft.com/office/drawing/2014/main" id="{7ACED433-BE38-94E5-79F6-2D8C464C6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2451100"/>
            <a:ext cx="1689100" cy="609600"/>
          </a:xfrm>
          <a:prstGeom prst="wedgeRoundRectCallout">
            <a:avLst>
              <a:gd name="adj1" fmla="val -74435"/>
              <a:gd name="adj2" fmla="val -9453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Signature</a:t>
            </a: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BA4C5348-0CEC-B09B-866B-4961162DFF7E}"/>
              </a:ext>
            </a:extLst>
          </p:cNvPr>
          <p:cNvGrpSpPr>
            <a:grpSpLocks/>
          </p:cNvGrpSpPr>
          <p:nvPr/>
        </p:nvGrpSpPr>
        <p:grpSpPr bwMode="auto">
          <a:xfrm>
            <a:off x="7839076" y="3309939"/>
            <a:ext cx="2206625" cy="447675"/>
            <a:chOff x="554" y="1413"/>
            <a:chExt cx="1390" cy="282"/>
          </a:xfrm>
        </p:grpSpPr>
        <p:sp>
          <p:nvSpPr>
            <p:cNvPr id="34827" name="Rectangle 26">
              <a:extLst>
                <a:ext uri="{FF2B5EF4-FFF2-40B4-BE49-F238E27FC236}">
                  <a16:creationId xmlns:a16="http://schemas.microsoft.com/office/drawing/2014/main" id="{38EA51D7-4BB9-CF0F-D3A0-8BC4055D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" y="1413"/>
              <a:ext cx="1390" cy="2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34828" name="Rectangle 27">
              <a:extLst>
                <a:ext uri="{FF2B5EF4-FFF2-40B4-BE49-F238E27FC236}">
                  <a16:creationId xmlns:a16="http://schemas.microsoft.com/office/drawing/2014/main" id="{85F7458D-9A40-70C8-10FD-73A3563B5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1507"/>
              <a:ext cx="11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TarifSchedule</a:t>
              </a:r>
            </a:p>
          </p:txBody>
        </p:sp>
      </p:grpSp>
      <p:sp>
        <p:nvSpPr>
          <p:cNvPr id="113693" name="Rectangle 29">
            <a:extLst>
              <a:ext uri="{FF2B5EF4-FFF2-40B4-BE49-F238E27FC236}">
                <a16:creationId xmlns:a16="http://schemas.microsoft.com/office/drawing/2014/main" id="{26601B08-FA2C-9E23-3746-90A3D9478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0" y="6015038"/>
            <a:ext cx="668813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The class name is the only mandatory information</a:t>
            </a:r>
          </a:p>
        </p:txBody>
      </p:sp>
      <p:sp>
        <p:nvSpPr>
          <p:cNvPr id="113694" name="Rectangle 30">
            <a:extLst>
              <a:ext uri="{FF2B5EF4-FFF2-40B4-BE49-F238E27FC236}">
                <a16:creationId xmlns:a16="http://schemas.microsoft.com/office/drawing/2014/main" id="{13EBED6B-2A32-5656-2B35-F510ED1C0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4313" y="5191125"/>
            <a:ext cx="65659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Each attribute has a </a:t>
            </a:r>
            <a:r>
              <a:rPr lang="en-US" altLang="en-US" sz="2000" i="1">
                <a:solidFill>
                  <a:schemeClr val="tx1"/>
                </a:solidFill>
                <a:latin typeface="Verdana" panose="020B0604030504040204" pitchFamily="34" charset="0"/>
              </a:rPr>
              <a:t>type</a:t>
            </a:r>
            <a:endParaRPr lang="en-US" altLang="en-US" sz="2000" b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Each operation has a </a:t>
            </a:r>
            <a:r>
              <a:rPr lang="en-US" altLang="en-US" sz="2000" i="1">
                <a:solidFill>
                  <a:schemeClr val="tx1"/>
                </a:solidFill>
                <a:latin typeface="Verdana" panose="020B0604030504040204" pitchFamily="34" charset="0"/>
              </a:rPr>
              <a:t>signature</a:t>
            </a:r>
            <a:endParaRPr lang="en-US" altLang="en-US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3695" name="AutoShape 31">
            <a:extLst>
              <a:ext uri="{FF2B5EF4-FFF2-40B4-BE49-F238E27FC236}">
                <a16:creationId xmlns:a16="http://schemas.microsoft.com/office/drawing/2014/main" id="{872CE3C5-195A-5DFA-CA71-69578B723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403225"/>
            <a:ext cx="1689100" cy="609600"/>
          </a:xfrm>
          <a:prstGeom prst="wedgeRoundRectCallout">
            <a:avLst>
              <a:gd name="adj1" fmla="val 84023"/>
              <a:gd name="adj2" fmla="val 12630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350128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 autoUpdateAnimBg="0"/>
      <p:bldP spid="113687" grpId="0" animBg="1" autoUpdateAnimBg="0"/>
      <p:bldP spid="113693" grpId="0" build="p" autoUpdateAnimBg="0"/>
      <p:bldP spid="113694" grpId="0" build="p" autoUpdateAnimBg="0"/>
      <p:bldP spid="113695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DA4CF46-5129-48C0-6A4B-371871CA0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Instances</a:t>
            </a:r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5DA69225-DF7D-A941-0CCB-68ABBBE2F10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57400" y="4017964"/>
            <a:ext cx="8001000" cy="9874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An </a:t>
            </a:r>
            <a:r>
              <a:rPr lang="en-US" altLang="en-US" sz="2000" b="1" i="1">
                <a:ea typeface="ＭＳ Ｐゴシック" panose="020B0600070205080204" pitchFamily="34" charset="-128"/>
              </a:rPr>
              <a:t>instance</a:t>
            </a:r>
            <a:r>
              <a:rPr lang="en-US" altLang="en-US" sz="2000">
                <a:ea typeface="ＭＳ Ｐゴシック" panose="020B0600070205080204" pitchFamily="34" charset="-128"/>
              </a:rPr>
              <a:t> represents a phenomenon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The attributes are represented with their </a:t>
            </a:r>
            <a:r>
              <a:rPr lang="en-US" altLang="en-US" sz="2000" b="1" i="1">
                <a:ea typeface="ＭＳ Ｐゴシック" panose="020B0600070205080204" pitchFamily="34" charset="-128"/>
              </a:rPr>
              <a:t>values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The name of an instance is </a:t>
            </a:r>
            <a:r>
              <a:rPr lang="en-US" altLang="en-US" sz="2000" u="sng">
                <a:ea typeface="ＭＳ Ｐゴシック" panose="020B0600070205080204" pitchFamily="34" charset="-128"/>
              </a:rPr>
              <a:t>underlined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The name can contain only the class name of the instance (anonymous instance)</a:t>
            </a:r>
            <a:endParaRPr lang="en-US" altLang="en-US" sz="180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endParaRPr lang="en-US" altLang="en-US" sz="1800">
              <a:ea typeface="ＭＳ Ｐゴシック" panose="020B0600070205080204" pitchFamily="34" charset="-128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DA87B97A-690D-B3E8-7C26-B90C8350400F}"/>
              </a:ext>
            </a:extLst>
          </p:cNvPr>
          <p:cNvGrpSpPr>
            <a:grpSpLocks/>
          </p:cNvGrpSpPr>
          <p:nvPr/>
        </p:nvGrpSpPr>
        <p:grpSpPr bwMode="auto">
          <a:xfrm>
            <a:off x="2595563" y="1392239"/>
            <a:ext cx="3556000" cy="1616075"/>
            <a:chOff x="1150" y="941"/>
            <a:chExt cx="2240" cy="1018"/>
          </a:xfrm>
        </p:grpSpPr>
        <p:sp>
          <p:nvSpPr>
            <p:cNvPr id="36877" name="Text Box 6">
              <a:extLst>
                <a:ext uri="{FF2B5EF4-FFF2-40B4-BE49-F238E27FC236}">
                  <a16:creationId xmlns:a16="http://schemas.microsoft.com/office/drawing/2014/main" id="{C1FCC819-3551-57DD-A937-31B8E147E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9" y="1183"/>
              <a:ext cx="219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zone2price = {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{‘1’, 0.20},</a:t>
              </a:r>
              <a:br>
                <a:rPr lang="en-US" altLang="en-US" sz="1800">
                  <a:solidFill>
                    <a:srgbClr val="000000"/>
                  </a:solidFill>
                  <a:latin typeface="Courier" charset="0"/>
                </a:rPr>
              </a:b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{‘2’, 0.40},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{‘3’, 0.60}}</a:t>
              </a:r>
            </a:p>
          </p:txBody>
        </p:sp>
        <p:grpSp>
          <p:nvGrpSpPr>
            <p:cNvPr id="36878" name="Group 7">
              <a:extLst>
                <a:ext uri="{FF2B5EF4-FFF2-40B4-BE49-F238E27FC236}">
                  <a16:creationId xmlns:a16="http://schemas.microsoft.com/office/drawing/2014/main" id="{997289C7-60BA-A0CD-779F-7F0E499870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1" y="941"/>
              <a:ext cx="2204" cy="282"/>
              <a:chOff x="554" y="1413"/>
              <a:chExt cx="1390" cy="282"/>
            </a:xfrm>
          </p:grpSpPr>
          <p:sp>
            <p:nvSpPr>
              <p:cNvPr id="36880" name="Rectangle 8">
                <a:extLst>
                  <a:ext uri="{FF2B5EF4-FFF2-40B4-BE49-F238E27FC236}">
                    <a16:creationId xmlns:a16="http://schemas.microsoft.com/office/drawing/2014/main" id="{DA8EC652-B838-74E7-3527-C7BA16743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36881" name="Rectangle 9">
                <a:extLst>
                  <a:ext uri="{FF2B5EF4-FFF2-40B4-BE49-F238E27FC236}">
                    <a16:creationId xmlns:a16="http://schemas.microsoft.com/office/drawing/2014/main" id="{40298B69-68F7-A227-7A50-0DEBAB4AF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1507"/>
                <a:ext cx="125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u="sng">
                    <a:solidFill>
                      <a:srgbClr val="000000"/>
                    </a:solidFill>
                    <a:latin typeface="Courier" charset="0"/>
                  </a:rPr>
                  <a:t>tarif2006:TarifSchedule</a:t>
                </a:r>
              </a:p>
            </p:txBody>
          </p:sp>
        </p:grpSp>
        <p:sp>
          <p:nvSpPr>
            <p:cNvPr id="36879" name="Rectangle 11">
              <a:extLst>
                <a:ext uri="{FF2B5EF4-FFF2-40B4-BE49-F238E27FC236}">
                  <a16:creationId xmlns:a16="http://schemas.microsoft.com/office/drawing/2014/main" id="{B7BBC211-E41E-36D0-71E3-DCA5442A6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221"/>
              <a:ext cx="2208" cy="7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CBCA2929-7742-4C85-D8E1-AC90AB6E9DBC}"/>
              </a:ext>
            </a:extLst>
          </p:cNvPr>
          <p:cNvGrpSpPr>
            <a:grpSpLocks/>
          </p:cNvGrpSpPr>
          <p:nvPr/>
        </p:nvGrpSpPr>
        <p:grpSpPr bwMode="auto">
          <a:xfrm>
            <a:off x="6380163" y="1409701"/>
            <a:ext cx="3556000" cy="1616075"/>
            <a:chOff x="1150" y="941"/>
            <a:chExt cx="2240" cy="1018"/>
          </a:xfrm>
        </p:grpSpPr>
        <p:sp>
          <p:nvSpPr>
            <p:cNvPr id="36872" name="Text Box 14">
              <a:extLst>
                <a:ext uri="{FF2B5EF4-FFF2-40B4-BE49-F238E27FC236}">
                  <a16:creationId xmlns:a16="http://schemas.microsoft.com/office/drawing/2014/main" id="{71321424-A8AE-7D49-1D55-706897D64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9" y="1183"/>
              <a:ext cx="219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zone2price = {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{‘1’, 0.20},</a:t>
              </a:r>
              <a:br>
                <a:rPr lang="en-US" altLang="en-US" sz="1800">
                  <a:solidFill>
                    <a:srgbClr val="000000"/>
                  </a:solidFill>
                  <a:latin typeface="Courier" charset="0"/>
                </a:rPr>
              </a:b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{‘2’, 0.40},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{‘3’, 0.60}}</a:t>
              </a:r>
            </a:p>
          </p:txBody>
        </p:sp>
        <p:grpSp>
          <p:nvGrpSpPr>
            <p:cNvPr id="36873" name="Group 15">
              <a:extLst>
                <a:ext uri="{FF2B5EF4-FFF2-40B4-BE49-F238E27FC236}">
                  <a16:creationId xmlns:a16="http://schemas.microsoft.com/office/drawing/2014/main" id="{C3EE7ECA-B9BA-8C77-F9DD-CF3BBF778D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1" y="941"/>
              <a:ext cx="2204" cy="282"/>
              <a:chOff x="554" y="1413"/>
              <a:chExt cx="1390" cy="282"/>
            </a:xfrm>
          </p:grpSpPr>
          <p:sp>
            <p:nvSpPr>
              <p:cNvPr id="36875" name="Rectangle 16">
                <a:extLst>
                  <a:ext uri="{FF2B5EF4-FFF2-40B4-BE49-F238E27FC236}">
                    <a16:creationId xmlns:a16="http://schemas.microsoft.com/office/drawing/2014/main" id="{1FD1BB34-94DF-B2E5-DA65-469395E87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36876" name="Rectangle 17">
                <a:extLst>
                  <a:ext uri="{FF2B5EF4-FFF2-40B4-BE49-F238E27FC236}">
                    <a16:creationId xmlns:a16="http://schemas.microsoft.com/office/drawing/2014/main" id="{4038A3EC-4B60-6549-EE11-3499756B7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" y="1507"/>
                <a:ext cx="7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u="sng">
                    <a:solidFill>
                      <a:srgbClr val="000000"/>
                    </a:solidFill>
                    <a:latin typeface="Courier" charset="0"/>
                  </a:rPr>
                  <a:t>:TarifSchedule</a:t>
                </a:r>
              </a:p>
            </p:txBody>
          </p:sp>
        </p:grpSp>
        <p:sp>
          <p:nvSpPr>
            <p:cNvPr id="36874" name="Rectangle 18">
              <a:extLst>
                <a:ext uri="{FF2B5EF4-FFF2-40B4-BE49-F238E27FC236}">
                  <a16:creationId xmlns:a16="http://schemas.microsoft.com/office/drawing/2014/main" id="{6331C32A-E083-5396-F453-9C8934115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221"/>
              <a:ext cx="2208" cy="7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36870" name="Rectangle 19">
            <a:extLst>
              <a:ext uri="{FF2B5EF4-FFF2-40B4-BE49-F238E27FC236}">
                <a16:creationId xmlns:a16="http://schemas.microsoft.com/office/drawing/2014/main" id="{8041D1AF-482D-4292-3733-0C92BD503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718051"/>
            <a:ext cx="82550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en-US" altLang="en-US" sz="2400" b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pPr algn="l"/>
            <a:endParaRPr lang="en-US" altLang="en-US" sz="2000" b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pPr algn="l"/>
            <a:endParaRPr lang="en-US" altLang="en-US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8804" name="Line 20">
            <a:extLst>
              <a:ext uri="{FF2B5EF4-FFF2-40B4-BE49-F238E27FC236}">
                <a16:creationId xmlns:a16="http://schemas.microsoft.com/office/drawing/2014/main" id="{46D6A1E4-260F-70B0-41E9-88D9A5B373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8788" y="2565400"/>
            <a:ext cx="3835400" cy="180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5992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28268A7-B0CD-BCDD-618B-01890FB5F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Actor vs Class vs Object</a:t>
            </a:r>
          </a:p>
        </p:txBody>
      </p:sp>
      <p:sp>
        <p:nvSpPr>
          <p:cNvPr id="134148" name="Rectangle 4">
            <a:extLst>
              <a:ext uri="{FF2B5EF4-FFF2-40B4-BE49-F238E27FC236}">
                <a16:creationId xmlns:a16="http://schemas.microsoft.com/office/drawing/2014/main" id="{9FC2CB21-FD0B-06A8-49C8-DC02C4B2E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1295400"/>
            <a:ext cx="10871200" cy="48006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Actor</a:t>
            </a:r>
            <a:r>
              <a:rPr lang="en-US" altLang="en-US" b="1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 entity outside the system to be modeled, interacting with the system (“Passenger”).</a:t>
            </a:r>
          </a:p>
          <a:p>
            <a:r>
              <a:rPr lang="en-US" altLang="en-US" b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Class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 abstraction modeling an entity in the application or solution domain.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The class is part of the system model (“User”, “Ticket distributor”, “Server”).</a:t>
            </a:r>
          </a:p>
          <a:p>
            <a:r>
              <a:rPr lang="en-US" altLang="en-US" b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Object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 specific instance of a class (“Joe, the passenger who is purchasing a ticket from the ticket distributor”).  </a:t>
            </a:r>
          </a:p>
        </p:txBody>
      </p:sp>
    </p:spTree>
    <p:extLst>
      <p:ext uri="{BB962C8B-B14F-4D97-AF65-F5344CB8AC3E}">
        <p14:creationId xmlns:p14="http://schemas.microsoft.com/office/powerpoint/2010/main" val="197939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6DF496-13F3-4721-45BB-E6658C120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Associations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068C8289-1197-6159-0DA7-025B2A11A4A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19300" y="3929064"/>
            <a:ext cx="8255000" cy="446087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Associations denote relationships between classes.</a:t>
            </a: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F0279F4B-1601-49F6-EF50-E935AD7D9733}"/>
              </a:ext>
            </a:extLst>
          </p:cNvPr>
          <p:cNvGrpSpPr>
            <a:grpSpLocks/>
          </p:cNvGrpSpPr>
          <p:nvPr/>
        </p:nvGrpSpPr>
        <p:grpSpPr bwMode="auto">
          <a:xfrm>
            <a:off x="2092326" y="1900238"/>
            <a:ext cx="7820025" cy="1511300"/>
            <a:chOff x="358" y="1197"/>
            <a:chExt cx="4926" cy="952"/>
          </a:xfrm>
        </p:grpSpPr>
        <p:sp>
          <p:nvSpPr>
            <p:cNvPr id="40966" name="Line 19">
              <a:extLst>
                <a:ext uri="{FF2B5EF4-FFF2-40B4-BE49-F238E27FC236}">
                  <a16:creationId xmlns:a16="http://schemas.microsoft.com/office/drawing/2014/main" id="{80768826-EDD0-31CF-B7D3-4AF02DAED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4" y="1608"/>
              <a:ext cx="1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grpSp>
          <p:nvGrpSpPr>
            <p:cNvPr id="40967" name="Group 46">
              <a:extLst>
                <a:ext uri="{FF2B5EF4-FFF2-40B4-BE49-F238E27FC236}">
                  <a16:creationId xmlns:a16="http://schemas.microsoft.com/office/drawing/2014/main" id="{65BAF769-C07E-C6A6-57E3-882ADA2F74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" y="1197"/>
              <a:ext cx="4926" cy="952"/>
              <a:chOff x="358" y="1197"/>
              <a:chExt cx="4926" cy="952"/>
            </a:xfrm>
          </p:grpSpPr>
          <p:sp>
            <p:nvSpPr>
              <p:cNvPr id="40971" name="Rectangle 38">
                <a:extLst>
                  <a:ext uri="{FF2B5EF4-FFF2-40B4-BE49-F238E27FC236}">
                    <a16:creationId xmlns:a16="http://schemas.microsoft.com/office/drawing/2014/main" id="{B61BE8F0-BD6D-32C6-61FB-26985E6A8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4" y="1533"/>
                <a:ext cx="1390" cy="386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0972" name="Rectangle 39">
                <a:extLst>
                  <a:ext uri="{FF2B5EF4-FFF2-40B4-BE49-F238E27FC236}">
                    <a16:creationId xmlns:a16="http://schemas.microsoft.com/office/drawing/2014/main" id="{16947487-D1D0-4F4C-DC2C-CDDF0344A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3" y="1590"/>
                <a:ext cx="432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Price</a:t>
                </a:r>
                <a:b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</a:br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</a:t>
                </a:r>
              </a:p>
              <a:p>
                <a:endParaRPr lang="en-US" altLang="en-US" sz="1800">
                  <a:solidFill>
                    <a:srgbClr val="000000"/>
                  </a:solidFill>
                  <a:latin typeface="Courier" charset="0"/>
                </a:endParaRPr>
              </a:p>
            </p:txBody>
          </p:sp>
          <p:sp>
            <p:nvSpPr>
              <p:cNvPr id="40973" name="Text Box 7">
                <a:extLst>
                  <a:ext uri="{FF2B5EF4-FFF2-40B4-BE49-F238E27FC236}">
                    <a16:creationId xmlns:a16="http://schemas.microsoft.com/office/drawing/2014/main" id="{B47989C4-2082-21B3-6CF6-C119F651BE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" y="1439"/>
                <a:ext cx="2085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endParaRPr lang="en-US" altLang="en-US" sz="1800">
                  <a:solidFill>
                    <a:srgbClr val="000000"/>
                  </a:solidFill>
                  <a:latin typeface="Courier" charset="0"/>
                </a:endParaRP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Enumeration getZones()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Price getPrice(Zone)</a:t>
                </a:r>
              </a:p>
            </p:txBody>
          </p:sp>
          <p:grpSp>
            <p:nvGrpSpPr>
              <p:cNvPr id="40974" name="Group 8">
                <a:extLst>
                  <a:ext uri="{FF2B5EF4-FFF2-40B4-BE49-F238E27FC236}">
                    <a16:creationId xmlns:a16="http://schemas.microsoft.com/office/drawing/2014/main" id="{0240FF4D-E170-1E3D-CE53-0ECE1AB74A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" y="1197"/>
                <a:ext cx="2102" cy="282"/>
                <a:chOff x="554" y="1413"/>
                <a:chExt cx="1390" cy="282"/>
              </a:xfrm>
            </p:grpSpPr>
            <p:sp>
              <p:nvSpPr>
                <p:cNvPr id="40983" name="Rectangle 9">
                  <a:extLst>
                    <a:ext uri="{FF2B5EF4-FFF2-40B4-BE49-F238E27FC236}">
                      <a16:creationId xmlns:a16="http://schemas.microsoft.com/office/drawing/2014/main" id="{5AD5AC04-832F-BC57-06B7-6D432F3914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40984" name="Rectangle 10">
                  <a:extLst>
                    <a:ext uri="{FF2B5EF4-FFF2-40B4-BE49-F238E27FC236}">
                      <a16:creationId xmlns:a16="http://schemas.microsoft.com/office/drawing/2014/main" id="{E95D775F-19EB-2DB5-5281-34321CE94B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7" y="1507"/>
                  <a:ext cx="742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TarifSchedule</a:t>
                  </a:r>
                </a:p>
              </p:txBody>
            </p:sp>
          </p:grpSp>
          <p:sp>
            <p:nvSpPr>
              <p:cNvPr id="40975" name="Rectangle 11">
                <a:extLst>
                  <a:ext uri="{FF2B5EF4-FFF2-40B4-BE49-F238E27FC236}">
                    <a16:creationId xmlns:a16="http://schemas.microsoft.com/office/drawing/2014/main" id="{EA07749D-CB5F-9FAF-D083-3FD8DB78D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" y="1482"/>
                <a:ext cx="2103" cy="16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0976" name="Rectangle 12">
                <a:extLst>
                  <a:ext uri="{FF2B5EF4-FFF2-40B4-BE49-F238E27FC236}">
                    <a16:creationId xmlns:a16="http://schemas.microsoft.com/office/drawing/2014/main" id="{CFC65ED7-4978-3218-B675-07C6866CE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" y="1650"/>
                <a:ext cx="2101" cy="370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grpSp>
            <p:nvGrpSpPr>
              <p:cNvPr id="40977" name="Group 13">
                <a:extLst>
                  <a:ext uri="{FF2B5EF4-FFF2-40B4-BE49-F238E27FC236}">
                    <a16:creationId xmlns:a16="http://schemas.microsoft.com/office/drawing/2014/main" id="{A4699EF5-6073-33D5-2317-9F42443A9D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94" y="1253"/>
                <a:ext cx="1390" cy="282"/>
                <a:chOff x="554" y="1413"/>
                <a:chExt cx="1390" cy="282"/>
              </a:xfrm>
            </p:grpSpPr>
            <p:sp>
              <p:nvSpPr>
                <p:cNvPr id="40981" name="Rectangle 14">
                  <a:extLst>
                    <a:ext uri="{FF2B5EF4-FFF2-40B4-BE49-F238E27FC236}">
                      <a16:creationId xmlns:a16="http://schemas.microsoft.com/office/drawing/2014/main" id="{6E4C69EE-A110-84ED-046B-D41C196DB7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40982" name="Rectangle 15">
                  <a:extLst>
                    <a:ext uri="{FF2B5EF4-FFF2-40B4-BE49-F238E27FC236}">
                      <a16:creationId xmlns:a16="http://schemas.microsoft.com/office/drawing/2014/main" id="{A86B04E6-25B2-2E59-32FE-516E01F66A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" y="1507"/>
                  <a:ext cx="60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TripLeg</a:t>
                  </a:r>
                </a:p>
              </p:txBody>
            </p:sp>
          </p:grpSp>
          <p:grpSp>
            <p:nvGrpSpPr>
              <p:cNvPr id="40978" name="Group 40">
                <a:extLst>
                  <a:ext uri="{FF2B5EF4-FFF2-40B4-BE49-F238E27FC236}">
                    <a16:creationId xmlns:a16="http://schemas.microsoft.com/office/drawing/2014/main" id="{ECDB1F5F-1113-EAB5-DFF0-642C2E9607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94" y="1917"/>
                <a:ext cx="1390" cy="232"/>
                <a:chOff x="554" y="1413"/>
                <a:chExt cx="1390" cy="368"/>
              </a:xfrm>
            </p:grpSpPr>
            <p:sp>
              <p:nvSpPr>
                <p:cNvPr id="40979" name="Rectangle 41">
                  <a:extLst>
                    <a:ext uri="{FF2B5EF4-FFF2-40B4-BE49-F238E27FC236}">
                      <a16:creationId xmlns:a16="http://schemas.microsoft.com/office/drawing/2014/main" id="{579AC1FC-6502-9BE4-03DE-B4CFA90DA7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40980" name="Rectangle 42">
                  <a:extLst>
                    <a:ext uri="{FF2B5EF4-FFF2-40B4-BE49-F238E27FC236}">
                      <a16:creationId xmlns:a16="http://schemas.microsoft.com/office/drawing/2014/main" id="{9A20A4D6-35F3-D499-E059-82DF22DAE2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9" y="1506"/>
                  <a:ext cx="0" cy="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de-DE" altLang="en-US" sz="1800">
                    <a:solidFill>
                      <a:srgbClr val="000000"/>
                    </a:solidFill>
                    <a:latin typeface="Courier" charset="0"/>
                  </a:endParaRPr>
                </a:p>
              </p:txBody>
            </p:sp>
          </p:grpSp>
        </p:grpSp>
        <p:grpSp>
          <p:nvGrpSpPr>
            <p:cNvPr id="40968" name="Group 45">
              <a:extLst>
                <a:ext uri="{FF2B5EF4-FFF2-40B4-BE49-F238E27FC236}">
                  <a16:creationId xmlns:a16="http://schemas.microsoft.com/office/drawing/2014/main" id="{CCD52160-E689-C431-5490-36A90A6B1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7" y="1640"/>
              <a:ext cx="1239" cy="344"/>
              <a:chOff x="2537" y="1640"/>
              <a:chExt cx="1239" cy="344"/>
            </a:xfrm>
          </p:grpSpPr>
          <p:sp>
            <p:nvSpPr>
              <p:cNvPr id="40969" name="Text Box 26">
                <a:extLst>
                  <a:ext uri="{FF2B5EF4-FFF2-40B4-BE49-F238E27FC236}">
                    <a16:creationId xmlns:a16="http://schemas.microsoft.com/office/drawing/2014/main" id="{C8F7D952-B27E-6445-7518-F9FBF6648B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7" y="1640"/>
                <a:ext cx="19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400" b="0">
                    <a:solidFill>
                      <a:schemeClr val="tx1"/>
                    </a:solidFill>
                  </a:rPr>
                  <a:t>*</a:t>
                </a:r>
                <a:endParaRPr lang="en-US" altLang="en-US" sz="2400" b="0"/>
              </a:p>
            </p:txBody>
          </p:sp>
          <p:sp>
            <p:nvSpPr>
              <p:cNvPr id="40970" name="Text Box 43">
                <a:extLst>
                  <a:ext uri="{FF2B5EF4-FFF2-40B4-BE49-F238E27FC236}">
                    <a16:creationId xmlns:a16="http://schemas.microsoft.com/office/drawing/2014/main" id="{D741F0B5-A5B2-1E3F-3896-1B0E9178C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5" y="1696"/>
                <a:ext cx="19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400" b="0">
                    <a:solidFill>
                      <a:schemeClr val="tx1"/>
                    </a:solidFill>
                  </a:rPr>
                  <a:t>*</a:t>
                </a:r>
                <a:endParaRPr lang="en-US" altLang="en-US" sz="2400" b="0"/>
              </a:p>
            </p:txBody>
          </p:sp>
        </p:grpSp>
      </p:grpSp>
      <p:sp>
        <p:nvSpPr>
          <p:cNvPr id="115756" name="Rectangle 44">
            <a:extLst>
              <a:ext uri="{FF2B5EF4-FFF2-40B4-BE49-F238E27FC236}">
                <a16:creationId xmlns:a16="http://schemas.microsoft.com/office/drawing/2014/main" id="{A070D217-C8F6-4CB2-6D73-0A7FF204A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4152900"/>
            <a:ext cx="825500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en-US" altLang="en-US" sz="2400" b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The multiplicity of an association end denotes how many objects the instance of a class can legitimately reference.</a:t>
            </a:r>
          </a:p>
        </p:txBody>
      </p:sp>
    </p:spTree>
    <p:extLst>
      <p:ext uri="{BB962C8B-B14F-4D97-AF65-F5344CB8AC3E}">
        <p14:creationId xmlns:p14="http://schemas.microsoft.com/office/powerpoint/2010/main" val="46782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build="p" autoUpdateAnimBg="0"/>
      <p:bldP spid="115756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99FCB12-FEB1-B0F1-D364-5B4CFCC58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1-to-1 and 1-to-many Associations</a:t>
            </a:r>
          </a:p>
        </p:txBody>
      </p:sp>
      <p:sp>
        <p:nvSpPr>
          <p:cNvPr id="148497" name="Rectangle 17">
            <a:extLst>
              <a:ext uri="{FF2B5EF4-FFF2-40B4-BE49-F238E27FC236}">
                <a16:creationId xmlns:a16="http://schemas.microsoft.com/office/drawing/2014/main" id="{4BFF2A53-1FDC-C85F-1461-DEF2EB122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651" y="2798764"/>
            <a:ext cx="244157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1-to-1 association</a:t>
            </a:r>
          </a:p>
        </p:txBody>
      </p:sp>
      <p:sp>
        <p:nvSpPr>
          <p:cNvPr id="148498" name="Rectangle 18">
            <a:extLst>
              <a:ext uri="{FF2B5EF4-FFF2-40B4-BE49-F238E27FC236}">
                <a16:creationId xmlns:a16="http://schemas.microsoft.com/office/drawing/2014/main" id="{35CD4B7B-2F9A-77AE-37C4-2588B29DB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5" y="5630864"/>
            <a:ext cx="301783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1-to-many association</a:t>
            </a:r>
          </a:p>
        </p:txBody>
      </p:sp>
      <p:grpSp>
        <p:nvGrpSpPr>
          <p:cNvPr id="2" name="Group 38">
            <a:extLst>
              <a:ext uri="{FF2B5EF4-FFF2-40B4-BE49-F238E27FC236}">
                <a16:creationId xmlns:a16="http://schemas.microsoft.com/office/drawing/2014/main" id="{0040A7F4-59D7-434E-0344-9B22AE267DDA}"/>
              </a:ext>
            </a:extLst>
          </p:cNvPr>
          <p:cNvGrpSpPr>
            <a:grpSpLocks/>
          </p:cNvGrpSpPr>
          <p:nvPr/>
        </p:nvGrpSpPr>
        <p:grpSpPr bwMode="auto">
          <a:xfrm>
            <a:off x="2908300" y="3314700"/>
            <a:ext cx="6197600" cy="2082800"/>
            <a:chOff x="872" y="2088"/>
            <a:chExt cx="3904" cy="1312"/>
          </a:xfrm>
        </p:grpSpPr>
        <p:grpSp>
          <p:nvGrpSpPr>
            <p:cNvPr id="43029" name="Group 34">
              <a:extLst>
                <a:ext uri="{FF2B5EF4-FFF2-40B4-BE49-F238E27FC236}">
                  <a16:creationId xmlns:a16="http://schemas.microsoft.com/office/drawing/2014/main" id="{FE0BE18A-4FF2-3538-BF58-EA8778D8B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2" y="2088"/>
              <a:ext cx="3904" cy="1312"/>
              <a:chOff x="872" y="2088"/>
              <a:chExt cx="3904" cy="1312"/>
            </a:xfrm>
          </p:grpSpPr>
          <p:sp>
            <p:nvSpPr>
              <p:cNvPr id="43031" name="Rectangle 10">
                <a:extLst>
                  <a:ext uri="{FF2B5EF4-FFF2-40B4-BE49-F238E27FC236}">
                    <a16:creationId xmlns:a16="http://schemas.microsoft.com/office/drawing/2014/main" id="{E6A2AB4E-2650-9FC7-BC60-3AFE7C3AE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" y="2264"/>
                <a:ext cx="688" cy="105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3032" name="Rectangle 11">
                <a:extLst>
                  <a:ext uri="{FF2B5EF4-FFF2-40B4-BE49-F238E27FC236}">
                    <a16:creationId xmlns:a16="http://schemas.microsoft.com/office/drawing/2014/main" id="{D16E05BB-993D-EFFB-A01C-914BB13BC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7" y="2459"/>
                <a:ext cx="619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Polygon</a:t>
                </a:r>
              </a:p>
            </p:txBody>
          </p:sp>
          <p:sp>
            <p:nvSpPr>
              <p:cNvPr id="43033" name="Rectangle 12">
                <a:extLst>
                  <a:ext uri="{FF2B5EF4-FFF2-40B4-BE49-F238E27FC236}">
                    <a16:creationId xmlns:a16="http://schemas.microsoft.com/office/drawing/2014/main" id="{ABB57211-2E76-547B-C84A-9D8276906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3035"/>
                <a:ext cx="47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draw()</a:t>
                </a:r>
              </a:p>
            </p:txBody>
          </p:sp>
          <p:sp>
            <p:nvSpPr>
              <p:cNvPr id="43034" name="Rectangle 13">
                <a:extLst>
                  <a:ext uri="{FF2B5EF4-FFF2-40B4-BE49-F238E27FC236}">
                    <a16:creationId xmlns:a16="http://schemas.microsoft.com/office/drawing/2014/main" id="{B8B588EE-ADD4-A0CB-462F-A19CFA578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" y="2088"/>
                <a:ext cx="784" cy="1312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3035" name="Rectangle 14">
                <a:extLst>
                  <a:ext uri="{FF2B5EF4-FFF2-40B4-BE49-F238E27FC236}">
                    <a16:creationId xmlns:a16="http://schemas.microsoft.com/office/drawing/2014/main" id="{F71FBA32-CABC-658A-D033-89B645771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7" y="2275"/>
                <a:ext cx="434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Point</a:t>
                </a:r>
              </a:p>
            </p:txBody>
          </p:sp>
          <p:sp>
            <p:nvSpPr>
              <p:cNvPr id="43036" name="Rectangle 15">
                <a:extLst>
                  <a:ext uri="{FF2B5EF4-FFF2-40B4-BE49-F238E27FC236}">
                    <a16:creationId xmlns:a16="http://schemas.microsoft.com/office/drawing/2014/main" id="{4EF01772-05B7-D79F-2371-609F96B8A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4" y="2691"/>
                <a:ext cx="648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x: Integer</a:t>
                </a:r>
              </a:p>
            </p:txBody>
          </p:sp>
          <p:sp>
            <p:nvSpPr>
              <p:cNvPr id="43037" name="Rectangle 16">
                <a:extLst>
                  <a:ext uri="{FF2B5EF4-FFF2-40B4-BE49-F238E27FC236}">
                    <a16:creationId xmlns:a16="http://schemas.microsoft.com/office/drawing/2014/main" id="{C70D3638-4A2B-D9FF-35BF-1294A0778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4" y="2955"/>
                <a:ext cx="648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y: Integer</a:t>
                </a:r>
              </a:p>
            </p:txBody>
          </p:sp>
          <p:sp>
            <p:nvSpPr>
              <p:cNvPr id="43038" name="Line 24">
                <a:extLst>
                  <a:ext uri="{FF2B5EF4-FFF2-40B4-BE49-F238E27FC236}">
                    <a16:creationId xmlns:a16="http://schemas.microsoft.com/office/drawing/2014/main" id="{88381482-772C-ACA9-64AC-AFFF4ABD3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676"/>
                <a:ext cx="6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39" name="Line 25">
                <a:extLst>
                  <a:ext uri="{FF2B5EF4-FFF2-40B4-BE49-F238E27FC236}">
                    <a16:creationId xmlns:a16="http://schemas.microsoft.com/office/drawing/2014/main" id="{E061C4B7-61A3-CCF1-BB35-17EB4598E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916"/>
                <a:ext cx="6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40" name="Line 26">
                <a:extLst>
                  <a:ext uri="{FF2B5EF4-FFF2-40B4-BE49-F238E27FC236}">
                    <a16:creationId xmlns:a16="http://schemas.microsoft.com/office/drawing/2014/main" id="{EB49E0FE-D1F1-6821-910F-AC822B5BC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72" y="2652"/>
                <a:ext cx="24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41" name="Line 27">
                <a:extLst>
                  <a:ext uri="{FF2B5EF4-FFF2-40B4-BE49-F238E27FC236}">
                    <a16:creationId xmlns:a16="http://schemas.microsoft.com/office/drawing/2014/main" id="{4FAA53D6-229A-976C-F3B3-FD4A2E64D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8" y="2544"/>
                <a:ext cx="7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42" name="Line 28">
                <a:extLst>
                  <a:ext uri="{FF2B5EF4-FFF2-40B4-BE49-F238E27FC236}">
                    <a16:creationId xmlns:a16="http://schemas.microsoft.com/office/drawing/2014/main" id="{C8B204BB-CB97-A651-414B-BD37D4D6B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8" y="3204"/>
                <a:ext cx="7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43030" name="Rectangle 29">
              <a:extLst>
                <a:ext uri="{FF2B5EF4-FFF2-40B4-BE49-F238E27FC236}">
                  <a16:creationId xmlns:a16="http://schemas.microsoft.com/office/drawing/2014/main" id="{4841F680-3D94-C69E-762E-4D74648EB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2392"/>
              <a:ext cx="239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4000">
                  <a:solidFill>
                    <a:schemeClr val="tx1"/>
                  </a:solidFill>
                </a:rPr>
                <a:t>*</a:t>
              </a:r>
            </a:p>
          </p:txBody>
        </p:sp>
      </p:grpSp>
      <p:grpSp>
        <p:nvGrpSpPr>
          <p:cNvPr id="4" name="Group 37">
            <a:extLst>
              <a:ext uri="{FF2B5EF4-FFF2-40B4-BE49-F238E27FC236}">
                <a16:creationId xmlns:a16="http://schemas.microsoft.com/office/drawing/2014/main" id="{54C6216C-0CDD-D9DE-4A56-1687E60437EE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1231900"/>
            <a:ext cx="5016500" cy="1358900"/>
            <a:chOff x="1276" y="776"/>
            <a:chExt cx="3160" cy="856"/>
          </a:xfrm>
        </p:grpSpPr>
        <p:grpSp>
          <p:nvGrpSpPr>
            <p:cNvPr id="43015" name="Group 31">
              <a:extLst>
                <a:ext uri="{FF2B5EF4-FFF2-40B4-BE49-F238E27FC236}">
                  <a16:creationId xmlns:a16="http://schemas.microsoft.com/office/drawing/2014/main" id="{AFD1A30D-DAD0-5258-8BBB-25EBEAD011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6" y="776"/>
              <a:ext cx="3160" cy="856"/>
              <a:chOff x="1276" y="776"/>
              <a:chExt cx="3160" cy="856"/>
            </a:xfrm>
          </p:grpSpPr>
          <p:sp>
            <p:nvSpPr>
              <p:cNvPr id="43018" name="Rectangle 3">
                <a:extLst>
                  <a:ext uri="{FF2B5EF4-FFF2-40B4-BE49-F238E27FC236}">
                    <a16:creationId xmlns:a16="http://schemas.microsoft.com/office/drawing/2014/main" id="{A1EDC770-804E-A597-688B-B21A2DD67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0" y="776"/>
                <a:ext cx="752" cy="85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3019" name="Rectangle 4">
                <a:extLst>
                  <a:ext uri="{FF2B5EF4-FFF2-40B4-BE49-F238E27FC236}">
                    <a16:creationId xmlns:a16="http://schemas.microsoft.com/office/drawing/2014/main" id="{9ECE1A1D-BD8A-64DC-5332-6347B3A30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3" y="915"/>
                <a:ext cx="605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Country</a:t>
                </a:r>
              </a:p>
            </p:txBody>
          </p:sp>
          <p:sp>
            <p:nvSpPr>
              <p:cNvPr id="43020" name="Rectangle 5">
                <a:extLst>
                  <a:ext uri="{FF2B5EF4-FFF2-40B4-BE49-F238E27FC236}">
                    <a16:creationId xmlns:a16="http://schemas.microsoft.com/office/drawing/2014/main" id="{2CB76680-0634-ABAA-C866-5E1C2B409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3" y="1251"/>
                <a:ext cx="804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name:String</a:t>
                </a:r>
              </a:p>
            </p:txBody>
          </p:sp>
          <p:sp>
            <p:nvSpPr>
              <p:cNvPr id="43021" name="Rectangle 6">
                <a:extLst>
                  <a:ext uri="{FF2B5EF4-FFF2-40B4-BE49-F238E27FC236}">
                    <a16:creationId xmlns:a16="http://schemas.microsoft.com/office/drawing/2014/main" id="{DAA193D9-86BB-9554-7D30-95F578B8B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2" y="776"/>
                <a:ext cx="752" cy="85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3022" name="Rectangle 7">
                <a:extLst>
                  <a:ext uri="{FF2B5EF4-FFF2-40B4-BE49-F238E27FC236}">
                    <a16:creationId xmlns:a16="http://schemas.microsoft.com/office/drawing/2014/main" id="{1EEADB1C-E920-D2C1-277F-5AEEE463A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915"/>
                <a:ext cx="356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City</a:t>
                </a:r>
              </a:p>
            </p:txBody>
          </p:sp>
          <p:sp>
            <p:nvSpPr>
              <p:cNvPr id="43023" name="Rectangle 8">
                <a:extLst>
                  <a:ext uri="{FF2B5EF4-FFF2-40B4-BE49-F238E27FC236}">
                    <a16:creationId xmlns:a16="http://schemas.microsoft.com/office/drawing/2014/main" id="{5BB3F505-A38E-7199-AA8E-7B4E88A91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2" y="1251"/>
                <a:ext cx="804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name:String</a:t>
                </a:r>
              </a:p>
            </p:txBody>
          </p:sp>
          <p:sp>
            <p:nvSpPr>
              <p:cNvPr id="43024" name="Line 19">
                <a:extLst>
                  <a:ext uri="{FF2B5EF4-FFF2-40B4-BE49-F238E27FC236}">
                    <a16:creationId xmlns:a16="http://schemas.microsoft.com/office/drawing/2014/main" id="{BA89D552-B9A4-E02F-8976-198AB011B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6" y="1116"/>
                <a:ext cx="7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25" name="Line 20">
                <a:extLst>
                  <a:ext uri="{FF2B5EF4-FFF2-40B4-BE49-F238E27FC236}">
                    <a16:creationId xmlns:a16="http://schemas.microsoft.com/office/drawing/2014/main" id="{44A0EB41-3C56-3569-A781-AC5F79495E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6" y="1488"/>
                <a:ext cx="7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26" name="Line 21">
                <a:extLst>
                  <a:ext uri="{FF2B5EF4-FFF2-40B4-BE49-F238E27FC236}">
                    <a16:creationId xmlns:a16="http://schemas.microsoft.com/office/drawing/2014/main" id="{432BBE4D-AB6B-3CFF-2C6C-46C650EC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4" y="1212"/>
                <a:ext cx="15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27" name="Line 22">
                <a:extLst>
                  <a:ext uri="{FF2B5EF4-FFF2-40B4-BE49-F238E27FC236}">
                    <a16:creationId xmlns:a16="http://schemas.microsoft.com/office/drawing/2014/main" id="{BBB9C666-920A-2308-AAAE-9899F40FF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0" y="1104"/>
                <a:ext cx="7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3028" name="Line 23">
                <a:extLst>
                  <a:ext uri="{FF2B5EF4-FFF2-40B4-BE49-F238E27FC236}">
                    <a16:creationId xmlns:a16="http://schemas.microsoft.com/office/drawing/2014/main" id="{CF343708-8957-E35B-C4A7-DC08ED547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1464"/>
                <a:ext cx="7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43016" name="Rectangle 35">
              <a:extLst>
                <a:ext uri="{FF2B5EF4-FFF2-40B4-BE49-F238E27FC236}">
                  <a16:creationId xmlns:a16="http://schemas.microsoft.com/office/drawing/2014/main" id="{1F690DE9-4E18-AD4C-970A-B94224DD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898"/>
              <a:ext cx="18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  <a:endParaRPr lang="en-US" altLang="en-US" sz="4000">
                <a:solidFill>
                  <a:schemeClr val="tx1"/>
                </a:solidFill>
              </a:endParaRPr>
            </a:p>
          </p:txBody>
        </p:sp>
        <p:sp>
          <p:nvSpPr>
            <p:cNvPr id="43017" name="Rectangle 36">
              <a:extLst>
                <a:ext uri="{FF2B5EF4-FFF2-40B4-BE49-F238E27FC236}">
                  <a16:creationId xmlns:a16="http://schemas.microsoft.com/office/drawing/2014/main" id="{746606EE-A03F-7E98-B298-BFF19748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2" y="957"/>
              <a:ext cx="18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  <a:endParaRPr lang="en-US" altLang="en-US" sz="40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7999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7" grpId="0" build="p" autoUpdateAnimBg="0"/>
      <p:bldP spid="14849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584D2EE-C6F1-6CAC-17DD-1177332B8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Many-to-Many Associations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5338760-C0F1-75E4-E7D8-5EAEC8E1B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017713"/>
            <a:ext cx="2341563" cy="1803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53A8C408-4F7E-FCEF-A0B3-648B42775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306639"/>
            <a:ext cx="217963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StockExchange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FCADC801-ED06-1BCC-2019-EB116FF67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1441451"/>
            <a:ext cx="2005014" cy="23971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572BC34E-4AAA-C437-EC3B-5374ED4F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9" y="1524001"/>
            <a:ext cx="1544637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dirty="0">
                <a:solidFill>
                  <a:srgbClr val="000000"/>
                </a:solidFill>
                <a:latin typeface="Times" panose="02020603050405020304" pitchFamily="18" charset="0"/>
              </a:rPr>
              <a:t>Company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C7F11F2F-751E-26C3-4C54-B416ED750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262189"/>
            <a:ext cx="192563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45064" name="Line 9">
            <a:extLst>
              <a:ext uri="{FF2B5EF4-FFF2-40B4-BE49-F238E27FC236}">
                <a16:creationId xmlns:a16="http://schemas.microsoft.com/office/drawing/2014/main" id="{1BAE112B-CF4E-446F-3A02-6407882CB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867025"/>
            <a:ext cx="2332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5065" name="Line 10">
            <a:extLst>
              <a:ext uri="{FF2B5EF4-FFF2-40B4-BE49-F238E27FC236}">
                <a16:creationId xmlns:a16="http://schemas.microsoft.com/office/drawing/2014/main" id="{71C9285D-B667-56E5-8BB7-D350777D8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1" y="3495675"/>
            <a:ext cx="235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5066" name="Line 11">
            <a:extLst>
              <a:ext uri="{FF2B5EF4-FFF2-40B4-BE49-F238E27FC236}">
                <a16:creationId xmlns:a16="http://schemas.microsoft.com/office/drawing/2014/main" id="{4AA51F72-2D3F-2EC4-55D9-22B885EDB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6176" y="2143125"/>
            <a:ext cx="1997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5067" name="Line 12">
            <a:extLst>
              <a:ext uri="{FF2B5EF4-FFF2-40B4-BE49-F238E27FC236}">
                <a16:creationId xmlns:a16="http://schemas.microsoft.com/office/drawing/2014/main" id="{B61C096B-C2FC-C439-B3B1-41D255B2A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6176" y="3033713"/>
            <a:ext cx="1997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5068" name="Line 13">
            <a:extLst>
              <a:ext uri="{FF2B5EF4-FFF2-40B4-BE49-F238E27FC236}">
                <a16:creationId xmlns:a16="http://schemas.microsoft.com/office/drawing/2014/main" id="{32D348D3-146C-11D4-39EB-D5E24F869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651" y="2605088"/>
            <a:ext cx="2919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7710" name="Rectangle 14">
            <a:extLst>
              <a:ext uri="{FF2B5EF4-FFF2-40B4-BE49-F238E27FC236}">
                <a16:creationId xmlns:a16="http://schemas.microsoft.com/office/drawing/2014/main" id="{616588BF-8B13-BF88-152E-970FCB9AE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1" y="2005013"/>
            <a:ext cx="379413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40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57711" name="Rectangle 15">
            <a:extLst>
              <a:ext uri="{FF2B5EF4-FFF2-40B4-BE49-F238E27FC236}">
                <a16:creationId xmlns:a16="http://schemas.microsoft.com/office/drawing/2014/main" id="{F03256E6-4700-8B0E-B7F4-8E85473B4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6" y="1957388"/>
            <a:ext cx="379413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4000">
                <a:solidFill>
                  <a:schemeClr val="tx1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3102647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0" grpId="0" build="p" autoUpdateAnimBg="0"/>
      <p:bldP spid="157711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757AA03-328B-0F56-E64D-53736454F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From Problem Statement To  Object Model</a:t>
            </a:r>
          </a:p>
        </p:txBody>
      </p:sp>
      <p:sp>
        <p:nvSpPr>
          <p:cNvPr id="47107" name="Rectangle 6">
            <a:extLst>
              <a:ext uri="{FF2B5EF4-FFF2-40B4-BE49-F238E27FC236}">
                <a16:creationId xmlns:a16="http://schemas.microsoft.com/office/drawing/2014/main" id="{7D1CE31D-E23C-3537-2FE3-00FB33C7D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6" y="1865314"/>
            <a:ext cx="25717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>
                <a:solidFill>
                  <a:srgbClr val="000000"/>
                </a:solidFill>
                <a:latin typeface="Times" panose="02020603050405020304" pitchFamily="18" charset="0"/>
              </a:rPr>
              <a:t> </a:t>
            </a:r>
          </a:p>
        </p:txBody>
      </p:sp>
      <p:sp>
        <p:nvSpPr>
          <p:cNvPr id="47108" name="Rectangle 7">
            <a:extLst>
              <a:ext uri="{FF2B5EF4-FFF2-40B4-BE49-F238E27FC236}">
                <a16:creationId xmlns:a16="http://schemas.microsoft.com/office/drawing/2014/main" id="{34E4CB89-F65B-CBBB-661A-8C61774F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457325"/>
            <a:ext cx="750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20FF6610-6BF6-270B-3BF2-68673AEF1F3A}"/>
              </a:ext>
            </a:extLst>
          </p:cNvPr>
          <p:cNvGrpSpPr>
            <a:grpSpLocks/>
          </p:cNvGrpSpPr>
          <p:nvPr/>
        </p:nvGrpSpPr>
        <p:grpSpPr bwMode="auto">
          <a:xfrm>
            <a:off x="2220914" y="3333750"/>
            <a:ext cx="7172325" cy="2527300"/>
            <a:chOff x="439" y="2100"/>
            <a:chExt cx="4518" cy="1592"/>
          </a:xfrm>
        </p:grpSpPr>
        <p:sp>
          <p:nvSpPr>
            <p:cNvPr id="47111" name="Rectangle 8">
              <a:extLst>
                <a:ext uri="{FF2B5EF4-FFF2-40B4-BE49-F238E27FC236}">
                  <a16:creationId xmlns:a16="http://schemas.microsoft.com/office/drawing/2014/main" id="{8990F4F4-385A-68B5-922D-CA45C69DE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2100"/>
              <a:ext cx="120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 i="1">
                  <a:solidFill>
                    <a:srgbClr val="000000"/>
                  </a:solidFill>
                </a:rPr>
                <a:t>Class Diagram:</a:t>
              </a:r>
            </a:p>
          </p:txBody>
        </p:sp>
        <p:grpSp>
          <p:nvGrpSpPr>
            <p:cNvPr id="47112" name="Group 22">
              <a:extLst>
                <a:ext uri="{FF2B5EF4-FFF2-40B4-BE49-F238E27FC236}">
                  <a16:creationId xmlns:a16="http://schemas.microsoft.com/office/drawing/2014/main" id="{A1250CE3-32C8-ABD1-EC8F-1734F47908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" y="2660"/>
              <a:ext cx="4122" cy="1032"/>
              <a:chOff x="835" y="2660"/>
              <a:chExt cx="4122" cy="1032"/>
            </a:xfrm>
          </p:grpSpPr>
          <p:sp>
            <p:nvSpPr>
              <p:cNvPr id="47113" name="Rectangle 9">
                <a:extLst>
                  <a:ext uri="{FF2B5EF4-FFF2-40B4-BE49-F238E27FC236}">
                    <a16:creationId xmlns:a16="http://schemas.microsoft.com/office/drawing/2014/main" id="{5CE07DB0-444D-9D6B-D51C-FCB4DFAC5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720"/>
                <a:ext cx="1334" cy="77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7114" name="Rectangle 10">
                <a:extLst>
                  <a:ext uri="{FF2B5EF4-FFF2-40B4-BE49-F238E27FC236}">
                    <a16:creationId xmlns:a16="http://schemas.microsoft.com/office/drawing/2014/main" id="{014727EA-B3AD-80F9-67BC-2DC37E951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5" y="2778"/>
                <a:ext cx="137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rgbClr val="0033CC"/>
                    </a:solidFill>
                    <a:latin typeface="Times" panose="02020603050405020304" pitchFamily="18" charset="0"/>
                  </a:rPr>
                  <a:t>StockExchange</a:t>
                </a:r>
                <a:endParaRPr lang="en-US" altLang="en-US" sz="24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47115" name="Rectangle 11">
                <a:extLst>
                  <a:ext uri="{FF2B5EF4-FFF2-40B4-BE49-F238E27FC236}">
                    <a16:creationId xmlns:a16="http://schemas.microsoft.com/office/drawing/2014/main" id="{D10D0B06-A574-1EBB-B978-8038E4CFF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660"/>
                <a:ext cx="1188" cy="1032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47116" name="Rectangle 12">
                <a:extLst>
                  <a:ext uri="{FF2B5EF4-FFF2-40B4-BE49-F238E27FC236}">
                    <a16:creationId xmlns:a16="http://schemas.microsoft.com/office/drawing/2014/main" id="{0DFA1350-B49B-9BEE-D99A-48EE1E915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718"/>
                <a:ext cx="914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rgbClr val="0033CC"/>
                    </a:solidFill>
                    <a:latin typeface="Times" panose="02020603050405020304" pitchFamily="18" charset="0"/>
                  </a:rPr>
                  <a:t>Company</a:t>
                </a:r>
                <a:endParaRPr lang="en-US" altLang="en-US" sz="24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47117" name="Rectangle 13">
                <a:extLst>
                  <a:ext uri="{FF2B5EF4-FFF2-40B4-BE49-F238E27FC236}">
                    <a16:creationId xmlns:a16="http://schemas.microsoft.com/office/drawing/2014/main" id="{D0FFF477-B7AB-E4CB-E69C-E8E70C394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140"/>
                <a:ext cx="121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rgbClr val="0033CC"/>
                    </a:solidFill>
                    <a:latin typeface="Times" panose="02020603050405020304" pitchFamily="18" charset="0"/>
                  </a:rPr>
                  <a:t>tickerSymbol</a:t>
                </a:r>
                <a:endParaRPr lang="en-US" altLang="en-US" sz="24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47118" name="Rectangle 14">
                <a:extLst>
                  <a:ext uri="{FF2B5EF4-FFF2-40B4-BE49-F238E27FC236}">
                    <a16:creationId xmlns:a16="http://schemas.microsoft.com/office/drawing/2014/main" id="{286AC855-DFED-3520-9FE7-838C8E222B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8" y="2978"/>
                <a:ext cx="535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 i="1">
                    <a:solidFill>
                      <a:srgbClr val="3333FF"/>
                    </a:solidFill>
                    <a:latin typeface="Times" panose="02020603050405020304" pitchFamily="18" charset="0"/>
                  </a:rPr>
                  <a:t>Lists</a:t>
                </a:r>
                <a:r>
                  <a:rPr lang="en-US" altLang="en-US" sz="2400">
                    <a:solidFill>
                      <a:srgbClr val="000000"/>
                    </a:solidFill>
                    <a:latin typeface="Times" panose="02020603050405020304" pitchFamily="18" charset="0"/>
                  </a:rPr>
                  <a:t> </a:t>
                </a:r>
              </a:p>
            </p:txBody>
          </p:sp>
          <p:sp>
            <p:nvSpPr>
              <p:cNvPr id="47119" name="Line 15">
                <a:extLst>
                  <a:ext uri="{FF2B5EF4-FFF2-40B4-BE49-F238E27FC236}">
                    <a16:creationId xmlns:a16="http://schemas.microsoft.com/office/drawing/2014/main" id="{0BEF2C7C-98AC-55A0-841D-A0A0C8EEC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086"/>
                <a:ext cx="132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7120" name="Line 16">
                <a:extLst>
                  <a:ext uri="{FF2B5EF4-FFF2-40B4-BE49-F238E27FC236}">
                    <a16:creationId xmlns:a16="http://schemas.microsoft.com/office/drawing/2014/main" id="{5B37D59A-1F71-532A-793E-09252BCFA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3357"/>
                <a:ext cx="1343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7121" name="Line 17">
                <a:extLst>
                  <a:ext uri="{FF2B5EF4-FFF2-40B4-BE49-F238E27FC236}">
                    <a16:creationId xmlns:a16="http://schemas.microsoft.com/office/drawing/2014/main" id="{877FC17E-860E-CFEE-62A2-C357180F8E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1" y="3153"/>
                <a:ext cx="11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7122" name="Line 18">
                <a:extLst>
                  <a:ext uri="{FF2B5EF4-FFF2-40B4-BE49-F238E27FC236}">
                    <a16:creationId xmlns:a16="http://schemas.microsoft.com/office/drawing/2014/main" id="{1D9F1B33-99F0-4810-E3F5-40174F28A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1" y="3538"/>
                <a:ext cx="11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7123" name="Line 19">
                <a:extLst>
                  <a:ext uri="{FF2B5EF4-FFF2-40B4-BE49-F238E27FC236}">
                    <a16:creationId xmlns:a16="http://schemas.microsoft.com/office/drawing/2014/main" id="{03E23317-4D0C-4DEC-31E1-6E812A0012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2" y="2973"/>
                <a:ext cx="15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7124" name="Rectangle 20">
                <a:extLst>
                  <a:ext uri="{FF2B5EF4-FFF2-40B4-BE49-F238E27FC236}">
                    <a16:creationId xmlns:a16="http://schemas.microsoft.com/office/drawing/2014/main" id="{8940A8FC-F2B5-8927-524A-58421F3D4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" y="2752"/>
                <a:ext cx="18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chemeClr val="tx1"/>
                    </a:solidFill>
                  </a:rPr>
                  <a:t>*</a:t>
                </a:r>
              </a:p>
            </p:txBody>
          </p:sp>
          <p:sp>
            <p:nvSpPr>
              <p:cNvPr id="47125" name="Rectangle 21">
                <a:extLst>
                  <a:ext uri="{FF2B5EF4-FFF2-40B4-BE49-F238E27FC236}">
                    <a16:creationId xmlns:a16="http://schemas.microsoft.com/office/drawing/2014/main" id="{154C9B74-9F0F-B10A-0892-A758772F6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5" y="2752"/>
                <a:ext cx="18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chemeClr val="tx1"/>
                    </a:solidFill>
                  </a:rPr>
                  <a:t>*</a:t>
                </a:r>
              </a:p>
            </p:txBody>
          </p:sp>
        </p:grpSp>
      </p:grpSp>
      <p:sp>
        <p:nvSpPr>
          <p:cNvPr id="47110" name="Rectangle 23">
            <a:extLst>
              <a:ext uri="{FF2B5EF4-FFF2-40B4-BE49-F238E27FC236}">
                <a16:creationId xmlns:a16="http://schemas.microsoft.com/office/drawing/2014/main" id="{AA6E123F-A576-CE2D-9579-A4865E023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1384300"/>
            <a:ext cx="8026400" cy="82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 i="1">
                <a:solidFill>
                  <a:srgbClr val="000000"/>
                </a:solidFill>
                <a:latin typeface="Times" panose="02020603050405020304" pitchFamily="18" charset="0"/>
              </a:rPr>
              <a:t>Problem Statement: A </a:t>
            </a:r>
            <a:r>
              <a:rPr lang="en-US" altLang="en-US" sz="2400" b="0" i="1">
                <a:solidFill>
                  <a:srgbClr val="0033CC"/>
                </a:solidFill>
                <a:latin typeface="Times" panose="02020603050405020304" pitchFamily="18" charset="0"/>
              </a:rPr>
              <a:t>stock exchange lists</a:t>
            </a:r>
            <a:r>
              <a:rPr lang="en-US" altLang="en-US" sz="2400" b="0" i="1">
                <a:solidFill>
                  <a:srgbClr val="000000"/>
                </a:solidFill>
                <a:latin typeface="Times" panose="02020603050405020304" pitchFamily="18" charset="0"/>
              </a:rPr>
              <a:t> many </a:t>
            </a:r>
            <a:r>
              <a:rPr lang="en-US" altLang="en-US" sz="2400" b="0" i="1">
                <a:solidFill>
                  <a:srgbClr val="0033CC"/>
                </a:solidFill>
                <a:latin typeface="Times" panose="02020603050405020304" pitchFamily="18" charset="0"/>
              </a:rPr>
              <a:t>companies</a:t>
            </a:r>
            <a:r>
              <a:rPr lang="en-US" altLang="en-US" sz="2400" b="0" i="1">
                <a:solidFill>
                  <a:srgbClr val="000000"/>
                </a:solidFill>
                <a:latin typeface="Times" panose="02020603050405020304" pitchFamily="18" charset="0"/>
              </a:rPr>
              <a:t>. Each company is uniquely identified by a </a:t>
            </a:r>
            <a:r>
              <a:rPr lang="en-US" altLang="en-US" sz="2400" b="0" i="1">
                <a:solidFill>
                  <a:srgbClr val="0033CC"/>
                </a:solidFill>
                <a:latin typeface="Times" panose="02020603050405020304" pitchFamily="18" charset="0"/>
              </a:rPr>
              <a:t>ticker symbol</a:t>
            </a:r>
          </a:p>
        </p:txBody>
      </p:sp>
    </p:spTree>
    <p:extLst>
      <p:ext uri="{BB962C8B-B14F-4D97-AF65-F5344CB8AC3E}">
        <p14:creationId xmlns:p14="http://schemas.microsoft.com/office/powerpoint/2010/main" val="1657714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74AC04D-9146-B0A3-3901-0A2144483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From Problem Statement to Code</a:t>
            </a:r>
          </a:p>
        </p:txBody>
      </p:sp>
      <p:sp>
        <p:nvSpPr>
          <p:cNvPr id="49155" name="Rectangle 12">
            <a:extLst>
              <a:ext uri="{FF2B5EF4-FFF2-40B4-BE49-F238E27FC236}">
                <a16:creationId xmlns:a16="http://schemas.microsoft.com/office/drawing/2014/main" id="{85DC3248-4535-57ED-A95E-5D23E8F97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6" y="1185864"/>
            <a:ext cx="48577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 i="1">
                <a:solidFill>
                  <a:srgbClr val="000000"/>
                </a:solidFill>
                <a:latin typeface="Times" panose="02020603050405020304" pitchFamily="18" charset="0"/>
              </a:rPr>
              <a:t>Pr</a:t>
            </a:r>
          </a:p>
        </p:txBody>
      </p:sp>
      <p:sp>
        <p:nvSpPr>
          <p:cNvPr id="49156" name="Rectangle 13">
            <a:extLst>
              <a:ext uri="{FF2B5EF4-FFF2-40B4-BE49-F238E27FC236}">
                <a16:creationId xmlns:a16="http://schemas.microsoft.com/office/drawing/2014/main" id="{08A8EFFE-FC57-8D48-413A-9FCB28F7E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513" y="1185864"/>
            <a:ext cx="220345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 i="1">
                <a:solidFill>
                  <a:srgbClr val="000000"/>
                </a:solidFill>
                <a:latin typeface="Times" panose="02020603050405020304" pitchFamily="18" charset="0"/>
              </a:rPr>
              <a:t>oblem Statement</a:t>
            </a:r>
          </a:p>
        </p:txBody>
      </p:sp>
      <p:sp>
        <p:nvSpPr>
          <p:cNvPr id="49157" name="Rectangle 14">
            <a:extLst>
              <a:ext uri="{FF2B5EF4-FFF2-40B4-BE49-F238E27FC236}">
                <a16:creationId xmlns:a16="http://schemas.microsoft.com/office/drawing/2014/main" id="{F9C17D8D-DD19-9455-6DB4-FBE2ED4B4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1185864"/>
            <a:ext cx="34131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>
                <a:solidFill>
                  <a:srgbClr val="000000"/>
                </a:solidFill>
                <a:latin typeface="Times" panose="02020603050405020304" pitchFamily="18" charset="0"/>
              </a:rPr>
              <a:t>: </a:t>
            </a:r>
          </a:p>
        </p:txBody>
      </p:sp>
      <p:sp>
        <p:nvSpPr>
          <p:cNvPr id="49158" name="Rectangle 15">
            <a:extLst>
              <a:ext uri="{FF2B5EF4-FFF2-40B4-BE49-F238E27FC236}">
                <a16:creationId xmlns:a16="http://schemas.microsoft.com/office/drawing/2014/main" id="{290123E2-7EC7-5C5D-CFFC-7C5EE46C4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1185864"/>
            <a:ext cx="40163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>
                <a:solidFill>
                  <a:srgbClr val="000000"/>
                </a:solidFill>
                <a:latin typeface="Times" panose="02020603050405020304" pitchFamily="18" charset="0"/>
              </a:rPr>
              <a:t>A</a:t>
            </a:r>
          </a:p>
        </p:txBody>
      </p:sp>
      <p:sp>
        <p:nvSpPr>
          <p:cNvPr id="49159" name="Rectangle 16">
            <a:extLst>
              <a:ext uri="{FF2B5EF4-FFF2-40B4-BE49-F238E27FC236}">
                <a16:creationId xmlns:a16="http://schemas.microsoft.com/office/drawing/2014/main" id="{3EB0BDA6-9B07-4E63-59FD-7D79970BF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5" y="1185864"/>
            <a:ext cx="497998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>
                <a:solidFill>
                  <a:srgbClr val="000000"/>
                </a:solidFill>
                <a:latin typeface="Times" panose="02020603050405020304" pitchFamily="18" charset="0"/>
              </a:rPr>
              <a:t> stock exchange lists many companies. </a:t>
            </a:r>
          </a:p>
        </p:txBody>
      </p:sp>
      <p:sp>
        <p:nvSpPr>
          <p:cNvPr id="49160" name="Rectangle 17">
            <a:extLst>
              <a:ext uri="{FF2B5EF4-FFF2-40B4-BE49-F238E27FC236}">
                <a16:creationId xmlns:a16="http://schemas.microsoft.com/office/drawing/2014/main" id="{66BBAD6A-4ADA-B81D-4CD1-D4A95AAB7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6" y="1516064"/>
            <a:ext cx="5827713" cy="82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>
                <a:solidFill>
                  <a:srgbClr val="000000"/>
                </a:solidFill>
                <a:latin typeface="Times" panose="02020603050405020304" pitchFamily="18" charset="0"/>
              </a:rPr>
              <a:t>Each company is identified by a ticker symbol</a:t>
            </a:r>
          </a:p>
        </p:txBody>
      </p:sp>
      <p:sp>
        <p:nvSpPr>
          <p:cNvPr id="49161" name="Rectangle 18">
            <a:extLst>
              <a:ext uri="{FF2B5EF4-FFF2-40B4-BE49-F238E27FC236}">
                <a16:creationId xmlns:a16="http://schemas.microsoft.com/office/drawing/2014/main" id="{2AB9D0F9-9F4F-B0D7-5E97-6ACCEB739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2260600"/>
            <a:ext cx="203041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000" i="1">
                <a:solidFill>
                  <a:srgbClr val="000000"/>
                </a:solidFill>
              </a:rPr>
              <a:t>Class Diagram:</a:t>
            </a:r>
          </a:p>
        </p:txBody>
      </p:sp>
      <p:sp>
        <p:nvSpPr>
          <p:cNvPr id="161797" name="Rectangle 5">
            <a:extLst>
              <a:ext uri="{FF2B5EF4-FFF2-40B4-BE49-F238E27FC236}">
                <a16:creationId xmlns:a16="http://schemas.microsoft.com/office/drawing/2014/main" id="{5ECD07F2-8F9A-6896-2F40-AAAB06F0B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026" y="4281488"/>
            <a:ext cx="4551363" cy="39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en-US" sz="1800">
                <a:solidFill>
                  <a:srgbClr val="0033CC"/>
                </a:solidFill>
                <a:latin typeface="Times" panose="02020603050405020304" pitchFamily="18" charset="0"/>
              </a:rPr>
              <a:t> private Vector m_Company = new Vector();</a:t>
            </a:r>
            <a:endParaRPr lang="en-US" altLang="en-US" sz="18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61801" name="Rectangle 9">
            <a:extLst>
              <a:ext uri="{FF2B5EF4-FFF2-40B4-BE49-F238E27FC236}">
                <a16:creationId xmlns:a16="http://schemas.microsoft.com/office/drawing/2014/main" id="{A21437E6-CF4B-3C48-B68F-15E6D0C93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026" y="5500688"/>
            <a:ext cx="2917825" cy="39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en-US" sz="1800">
                <a:solidFill>
                  <a:srgbClr val="000000"/>
                </a:solidFill>
                <a:latin typeface="Times" panose="02020603050405020304" pitchFamily="18" charset="0"/>
              </a:rPr>
              <a:t> </a:t>
            </a:r>
            <a:r>
              <a:rPr lang="en-US" altLang="en-US" sz="1800">
                <a:latin typeface="Times" panose="02020603050405020304" pitchFamily="18" charset="0"/>
              </a:rPr>
              <a:t>public int m_tickerSymbol;</a:t>
            </a:r>
            <a:endParaRPr lang="en-US" altLang="en-US" sz="18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61802" name="Rectangle 10">
            <a:extLst>
              <a:ext uri="{FF2B5EF4-FFF2-40B4-BE49-F238E27FC236}">
                <a16:creationId xmlns:a16="http://schemas.microsoft.com/office/drawing/2014/main" id="{575F46B3-4373-1A28-ABC4-50ECF0CE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026" y="5724525"/>
            <a:ext cx="5097463" cy="39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en-US" sz="1800">
                <a:solidFill>
                  <a:srgbClr val="000000"/>
                </a:solidFill>
                <a:latin typeface="Times" panose="02020603050405020304" pitchFamily="18" charset="0"/>
              </a:rPr>
              <a:t> </a:t>
            </a:r>
            <a:r>
              <a:rPr lang="en-US" altLang="en-US" sz="1800">
                <a:solidFill>
                  <a:srgbClr val="0033CC"/>
                </a:solidFill>
                <a:latin typeface="Times" panose="02020603050405020304" pitchFamily="18" charset="0"/>
              </a:rPr>
              <a:t>private Vector m_StockExchange = new Vector();</a:t>
            </a:r>
            <a:endParaRPr lang="en-US" altLang="en-US" sz="18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B1FE3FF3-3C7F-D201-E766-DEEDCCBF701A}"/>
              </a:ext>
            </a:extLst>
          </p:cNvPr>
          <p:cNvGrpSpPr>
            <a:grpSpLocks/>
          </p:cNvGrpSpPr>
          <p:nvPr/>
        </p:nvGrpSpPr>
        <p:grpSpPr bwMode="auto">
          <a:xfrm>
            <a:off x="2144714" y="3492501"/>
            <a:ext cx="4344987" cy="2951163"/>
            <a:chOff x="391" y="2200"/>
            <a:chExt cx="2737" cy="1859"/>
          </a:xfrm>
        </p:grpSpPr>
        <p:sp>
          <p:nvSpPr>
            <p:cNvPr id="49185" name="Rectangle 3">
              <a:extLst>
                <a:ext uri="{FF2B5EF4-FFF2-40B4-BE49-F238E27FC236}">
                  <a16:creationId xmlns:a16="http://schemas.microsoft.com/office/drawing/2014/main" id="{B2E30CAF-39D8-39DF-364E-4E8E3F0E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2387"/>
              <a:ext cx="180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public class StockExchange</a:t>
              </a:r>
            </a:p>
          </p:txBody>
        </p:sp>
        <p:sp>
          <p:nvSpPr>
            <p:cNvPr id="49186" name="Rectangle 4">
              <a:extLst>
                <a:ext uri="{FF2B5EF4-FFF2-40B4-BE49-F238E27FC236}">
                  <a16:creationId xmlns:a16="http://schemas.microsoft.com/office/drawing/2014/main" id="{6419AB2F-2DCE-3CF7-1423-17E532E21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2515"/>
              <a:ext cx="171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{</a:t>
              </a:r>
            </a:p>
          </p:txBody>
        </p:sp>
        <p:sp>
          <p:nvSpPr>
            <p:cNvPr id="49187" name="Rectangle 6">
              <a:extLst>
                <a:ext uri="{FF2B5EF4-FFF2-40B4-BE49-F238E27FC236}">
                  <a16:creationId xmlns:a16="http://schemas.microsoft.com/office/drawing/2014/main" id="{85246C79-EC7B-05D5-ABD3-826EEFA89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2899"/>
              <a:ext cx="219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};</a:t>
              </a:r>
            </a:p>
          </p:txBody>
        </p:sp>
        <p:sp>
          <p:nvSpPr>
            <p:cNvPr id="49188" name="Rectangle 7">
              <a:extLst>
                <a:ext uri="{FF2B5EF4-FFF2-40B4-BE49-F238E27FC236}">
                  <a16:creationId xmlns:a16="http://schemas.microsoft.com/office/drawing/2014/main" id="{EF4A56B8-7AF4-5C8D-F770-EF1169024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3155"/>
              <a:ext cx="1458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public class Company</a:t>
              </a:r>
            </a:p>
          </p:txBody>
        </p:sp>
        <p:sp>
          <p:nvSpPr>
            <p:cNvPr id="49189" name="Rectangle 8">
              <a:extLst>
                <a:ext uri="{FF2B5EF4-FFF2-40B4-BE49-F238E27FC236}">
                  <a16:creationId xmlns:a16="http://schemas.microsoft.com/office/drawing/2014/main" id="{E2605D05-D08B-18E7-87F1-998FEACBE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3283"/>
              <a:ext cx="171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{</a:t>
              </a:r>
            </a:p>
          </p:txBody>
        </p:sp>
        <p:sp>
          <p:nvSpPr>
            <p:cNvPr id="49190" name="Rectangle 11">
              <a:extLst>
                <a:ext uri="{FF2B5EF4-FFF2-40B4-BE49-F238E27FC236}">
                  <a16:creationId xmlns:a16="http://schemas.microsoft.com/office/drawing/2014/main" id="{B07205CE-2035-49D8-4819-14BD100C9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3795"/>
              <a:ext cx="219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};</a:t>
              </a:r>
            </a:p>
          </p:txBody>
        </p:sp>
        <p:sp>
          <p:nvSpPr>
            <p:cNvPr id="49191" name="Rectangle 19">
              <a:extLst>
                <a:ext uri="{FF2B5EF4-FFF2-40B4-BE49-F238E27FC236}">
                  <a16:creationId xmlns:a16="http://schemas.microsoft.com/office/drawing/2014/main" id="{C7BB7DD5-9A59-ECEF-C091-5ACBD6CAD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" y="2200"/>
              <a:ext cx="91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2000" i="1">
                  <a:solidFill>
                    <a:srgbClr val="000000"/>
                  </a:solidFill>
                </a:rPr>
                <a:t>Java Code</a:t>
              </a:r>
            </a:p>
          </p:txBody>
        </p:sp>
      </p:grpSp>
      <p:sp>
        <p:nvSpPr>
          <p:cNvPr id="49166" name="Rectangle 20">
            <a:extLst>
              <a:ext uri="{FF2B5EF4-FFF2-40B4-BE49-F238E27FC236}">
                <a16:creationId xmlns:a16="http://schemas.microsoft.com/office/drawing/2014/main" id="{A913AFB3-253D-B60F-45D4-ECA5A7333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0" y="2628900"/>
            <a:ext cx="1727200" cy="6477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49167" name="Rectangle 21">
            <a:extLst>
              <a:ext uri="{FF2B5EF4-FFF2-40B4-BE49-F238E27FC236}">
                <a16:creationId xmlns:a16="http://schemas.microsoft.com/office/drawing/2014/main" id="{52096FAF-4693-54AE-7CD9-DDB814365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188" y="2697164"/>
            <a:ext cx="1346200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Times" panose="02020603050405020304" pitchFamily="18" charset="0"/>
              </a:rPr>
              <a:t>StockExchange</a:t>
            </a:r>
          </a:p>
        </p:txBody>
      </p:sp>
      <p:sp>
        <p:nvSpPr>
          <p:cNvPr id="49168" name="Rectangle 22">
            <a:extLst>
              <a:ext uri="{FF2B5EF4-FFF2-40B4-BE49-F238E27FC236}">
                <a16:creationId xmlns:a16="http://schemas.microsoft.com/office/drawing/2014/main" id="{9FD1A1E1-9D79-31C5-9CE0-7A720D8F9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2578100"/>
            <a:ext cx="1485900" cy="863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49169" name="Rectangle 23">
            <a:extLst>
              <a:ext uri="{FF2B5EF4-FFF2-40B4-BE49-F238E27FC236}">
                <a16:creationId xmlns:a16="http://schemas.microsoft.com/office/drawing/2014/main" id="{E33F0331-293E-F38F-8087-296FCEAEC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089" y="2646364"/>
            <a:ext cx="922337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Times" panose="02020603050405020304" pitchFamily="18" charset="0"/>
              </a:rPr>
              <a:t>Company</a:t>
            </a:r>
          </a:p>
        </p:txBody>
      </p:sp>
      <p:sp>
        <p:nvSpPr>
          <p:cNvPr id="49170" name="Rectangle 24">
            <a:extLst>
              <a:ext uri="{FF2B5EF4-FFF2-40B4-BE49-F238E27FC236}">
                <a16:creationId xmlns:a16="http://schemas.microsoft.com/office/drawing/2014/main" id="{99BD6C01-5CB7-5059-43E4-97D4BFA38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3006725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61817" name="Rectangle 25">
            <a:extLst>
              <a:ext uri="{FF2B5EF4-FFF2-40B4-BE49-F238E27FC236}">
                <a16:creationId xmlns:a16="http://schemas.microsoft.com/office/drawing/2014/main" id="{098F3B12-CE99-C97A-7C5E-361380503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6" y="3001964"/>
            <a:ext cx="119856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49172" name="Rectangle 26">
            <a:extLst>
              <a:ext uri="{FF2B5EF4-FFF2-40B4-BE49-F238E27FC236}">
                <a16:creationId xmlns:a16="http://schemas.microsoft.com/office/drawing/2014/main" id="{D4D2AE8F-8B22-E4DE-C1A6-C40EAE48C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1" y="2867025"/>
            <a:ext cx="6826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 i="1">
                <a:solidFill>
                  <a:srgbClr val="3333FF"/>
                </a:solidFill>
                <a:latin typeface="Times" panose="02020603050405020304" pitchFamily="18" charset="0"/>
              </a:rPr>
              <a:t>Lists </a:t>
            </a:r>
          </a:p>
        </p:txBody>
      </p:sp>
      <p:sp>
        <p:nvSpPr>
          <p:cNvPr id="49173" name="Line 27">
            <a:extLst>
              <a:ext uri="{FF2B5EF4-FFF2-40B4-BE49-F238E27FC236}">
                <a16:creationId xmlns:a16="http://schemas.microsoft.com/office/drawing/2014/main" id="{768CD4F3-953A-8C07-A636-535F061EC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9600" y="2933700"/>
            <a:ext cx="172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9174" name="Line 28">
            <a:extLst>
              <a:ext uri="{FF2B5EF4-FFF2-40B4-BE49-F238E27FC236}">
                <a16:creationId xmlns:a16="http://schemas.microsoft.com/office/drawing/2014/main" id="{E1760B45-14E8-273B-3C0C-585C29BFD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9600" y="3162300"/>
            <a:ext cx="172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9175" name="Line 29">
            <a:extLst>
              <a:ext uri="{FF2B5EF4-FFF2-40B4-BE49-F238E27FC236}">
                <a16:creationId xmlns:a16="http://schemas.microsoft.com/office/drawing/2014/main" id="{F564E23D-D9DC-81B1-BF2B-63BBAC66E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2990850"/>
            <a:ext cx="147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9176" name="Line 30">
            <a:extLst>
              <a:ext uri="{FF2B5EF4-FFF2-40B4-BE49-F238E27FC236}">
                <a16:creationId xmlns:a16="http://schemas.microsoft.com/office/drawing/2014/main" id="{E1A0529D-7F0B-26C8-F739-F9EF2176C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3314700"/>
            <a:ext cx="147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9177" name="Line 31">
            <a:extLst>
              <a:ext uri="{FF2B5EF4-FFF2-40B4-BE49-F238E27FC236}">
                <a16:creationId xmlns:a16="http://schemas.microsoft.com/office/drawing/2014/main" id="{BCDD7A38-AA5C-6302-D3F4-2936642AE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3150" y="2838450"/>
            <a:ext cx="2154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49178" name="Rectangle 32">
            <a:extLst>
              <a:ext uri="{FF2B5EF4-FFF2-40B4-BE49-F238E27FC236}">
                <a16:creationId xmlns:a16="http://schemas.microsoft.com/office/drawing/2014/main" id="{672ACE1E-5D4E-1A74-F01F-998864CC8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9" y="2546351"/>
            <a:ext cx="300037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49179" name="Rectangle 33">
            <a:extLst>
              <a:ext uri="{FF2B5EF4-FFF2-40B4-BE49-F238E27FC236}">
                <a16:creationId xmlns:a16="http://schemas.microsoft.com/office/drawing/2014/main" id="{9BE628F4-BDC9-87C6-4C82-B4AB27C5D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9025" y="2544764"/>
            <a:ext cx="30003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61826" name="Oval 34">
            <a:extLst>
              <a:ext uri="{FF2B5EF4-FFF2-40B4-BE49-F238E27FC236}">
                <a16:creationId xmlns:a16="http://schemas.microsoft.com/office/drawing/2014/main" id="{B9769994-CD34-BF65-E9C5-31B26809B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700" y="2349500"/>
            <a:ext cx="609600" cy="647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61829" name="Oval 37">
            <a:extLst>
              <a:ext uri="{FF2B5EF4-FFF2-40B4-BE49-F238E27FC236}">
                <a16:creationId xmlns:a16="http://schemas.microsoft.com/office/drawing/2014/main" id="{1F90F726-6B8A-996C-51BE-8306245AE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026" y="5678488"/>
            <a:ext cx="760413" cy="54451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61830" name="Oval 38">
            <a:extLst>
              <a:ext uri="{FF2B5EF4-FFF2-40B4-BE49-F238E27FC236}">
                <a16:creationId xmlns:a16="http://schemas.microsoft.com/office/drawing/2014/main" id="{5C23BF95-DC31-6E8A-DB6C-067748EF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300" y="2419350"/>
            <a:ext cx="609600" cy="6477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61831" name="Oval 39">
            <a:extLst>
              <a:ext uri="{FF2B5EF4-FFF2-40B4-BE49-F238E27FC236}">
                <a16:creationId xmlns:a16="http://schemas.microsoft.com/office/drawing/2014/main" id="{34394CA4-0E63-B27E-40D2-ADCEE3778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6" y="4221163"/>
            <a:ext cx="760413" cy="544512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61832" name="Text Box 40">
            <a:extLst>
              <a:ext uri="{FF2B5EF4-FFF2-40B4-BE49-F238E27FC236}">
                <a16:creationId xmlns:a16="http://schemas.microsoft.com/office/drawing/2014/main" id="{2F3A364A-A6F9-D7B9-9B3A-A88D1E445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0539" y="4392524"/>
            <a:ext cx="23526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/>
              <a:t>Associations</a:t>
            </a:r>
          </a:p>
          <a:p>
            <a:r>
              <a:rPr lang="en-US" altLang="en-US" sz="2400"/>
              <a:t>are mapped to </a:t>
            </a:r>
          </a:p>
          <a:p>
            <a:r>
              <a:rPr lang="en-US" altLang="en-US" sz="2400"/>
              <a:t>Attributes!</a:t>
            </a:r>
          </a:p>
        </p:txBody>
      </p:sp>
    </p:spTree>
    <p:extLst>
      <p:ext uri="{BB962C8B-B14F-4D97-AF65-F5344CB8AC3E}">
        <p14:creationId xmlns:p14="http://schemas.microsoft.com/office/powerpoint/2010/main" val="2809055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build="p" autoUpdateAnimBg="0"/>
      <p:bldP spid="161801" grpId="0" build="allAtOnce"/>
      <p:bldP spid="161802" grpId="0" build="p" autoUpdateAnimBg="0"/>
      <p:bldP spid="161817" grpId="0" build="allAtOnce"/>
      <p:bldP spid="161826" grpId="0" animBg="1"/>
      <p:bldP spid="161829" grpId="0" animBg="1"/>
      <p:bldP spid="161830" grpId="0" animBg="1"/>
      <p:bldP spid="161831" grpId="0" animBg="1"/>
      <p:bldP spid="16183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BDE1F21-F2BB-0293-5E32-718FC4E22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8200" y="266700"/>
            <a:ext cx="7937500" cy="7620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Aggregation</a:t>
            </a:r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5BD7E709-BAFE-EA6E-3470-3E355C89E35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957388" y="963614"/>
            <a:ext cx="7823200" cy="1468437"/>
          </a:xfrm>
        </p:spPr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An </a:t>
            </a:r>
            <a:r>
              <a:rPr lang="en-US" altLang="en-US" sz="2000" i="1">
                <a:solidFill>
                  <a:srgbClr val="1615B1"/>
                </a:solidFill>
                <a:ea typeface="ＭＳ Ｐゴシック" panose="020B0600070205080204" pitchFamily="34" charset="-128"/>
              </a:rPr>
              <a:t>aggregation</a:t>
            </a:r>
            <a:r>
              <a:rPr lang="en-US" altLang="en-US" sz="2000">
                <a:ea typeface="ＭＳ Ｐゴシック" panose="020B0600070205080204" pitchFamily="34" charset="-128"/>
              </a:rPr>
              <a:t> is a special case of association denoting a “consists-of” hierarchy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The </a:t>
            </a:r>
            <a:r>
              <a:rPr lang="en-US" altLang="en-US" sz="2000" i="1">
                <a:ea typeface="ＭＳ Ｐゴシック" panose="020B0600070205080204" pitchFamily="34" charset="-128"/>
              </a:rPr>
              <a:t>aggregate</a:t>
            </a:r>
            <a:r>
              <a:rPr lang="en-US" altLang="en-US" sz="2000">
                <a:ea typeface="ＭＳ Ｐゴシック" panose="020B0600070205080204" pitchFamily="34" charset="-128"/>
              </a:rPr>
              <a:t> is the parent class, </a:t>
            </a:r>
            <a:br>
              <a:rPr lang="en-US" altLang="en-US" sz="2000">
                <a:ea typeface="ＭＳ Ｐゴシック" panose="020B0600070205080204" pitchFamily="34" charset="-128"/>
              </a:rPr>
            </a:br>
            <a:r>
              <a:rPr lang="en-US" altLang="en-US" sz="2000">
                <a:ea typeface="ＭＳ Ｐゴシック" panose="020B0600070205080204" pitchFamily="34" charset="-128"/>
              </a:rPr>
              <a:t>the components are the children classes</a:t>
            </a:r>
          </a:p>
        </p:txBody>
      </p:sp>
      <p:grpSp>
        <p:nvGrpSpPr>
          <p:cNvPr id="2" name="Group 130">
            <a:extLst>
              <a:ext uri="{FF2B5EF4-FFF2-40B4-BE49-F238E27FC236}">
                <a16:creationId xmlns:a16="http://schemas.microsoft.com/office/drawing/2014/main" id="{C5C40A6F-46E0-1B03-457C-B5003AD95EFD}"/>
              </a:ext>
            </a:extLst>
          </p:cNvPr>
          <p:cNvGrpSpPr>
            <a:grpSpLocks/>
          </p:cNvGrpSpPr>
          <p:nvPr/>
        </p:nvGrpSpPr>
        <p:grpSpPr bwMode="auto">
          <a:xfrm>
            <a:off x="6958013" y="1354139"/>
            <a:ext cx="3033712" cy="2295525"/>
            <a:chOff x="3760" y="1244"/>
            <a:chExt cx="1196" cy="1112"/>
          </a:xfrm>
        </p:grpSpPr>
        <p:sp>
          <p:nvSpPr>
            <p:cNvPr id="51216" name="Rectangle 110">
              <a:extLst>
                <a:ext uri="{FF2B5EF4-FFF2-40B4-BE49-F238E27FC236}">
                  <a16:creationId xmlns:a16="http://schemas.microsoft.com/office/drawing/2014/main" id="{0AE95A27-179E-8801-D947-138CA5945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1244"/>
              <a:ext cx="728" cy="30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1217" name="Rectangle 111">
              <a:extLst>
                <a:ext uri="{FF2B5EF4-FFF2-40B4-BE49-F238E27FC236}">
                  <a16:creationId xmlns:a16="http://schemas.microsoft.com/office/drawing/2014/main" id="{DE507017-0989-1514-9545-E93E2EF7F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1" y="1284"/>
              <a:ext cx="720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700">
                  <a:solidFill>
                    <a:srgbClr val="000000"/>
                  </a:solidFill>
                </a:rPr>
                <a:t>Exhaust system</a:t>
              </a:r>
            </a:p>
          </p:txBody>
        </p:sp>
        <p:sp>
          <p:nvSpPr>
            <p:cNvPr id="51218" name="Rectangle 112">
              <a:extLst>
                <a:ext uri="{FF2B5EF4-FFF2-40B4-BE49-F238E27FC236}">
                  <a16:creationId xmlns:a16="http://schemas.microsoft.com/office/drawing/2014/main" id="{D41E636E-82F7-3F56-D361-801CFACA1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1948"/>
              <a:ext cx="400" cy="4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1219" name="Rectangle 113">
              <a:extLst>
                <a:ext uri="{FF2B5EF4-FFF2-40B4-BE49-F238E27FC236}">
                  <a16:creationId xmlns:a16="http://schemas.microsoft.com/office/drawing/2014/main" id="{6F526686-628C-55F1-3E49-66930DF23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1988"/>
              <a:ext cx="355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700">
                  <a:solidFill>
                    <a:srgbClr val="000000"/>
                  </a:solidFill>
                </a:rPr>
                <a:t>Muffler</a:t>
              </a:r>
            </a:p>
          </p:txBody>
        </p:sp>
        <p:sp>
          <p:nvSpPr>
            <p:cNvPr id="51220" name="Rectangle 114">
              <a:extLst>
                <a:ext uri="{FF2B5EF4-FFF2-40B4-BE49-F238E27FC236}">
                  <a16:creationId xmlns:a16="http://schemas.microsoft.com/office/drawing/2014/main" id="{F7C743A3-0A82-7C2F-4A52-3F433CF77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" y="2148"/>
              <a:ext cx="402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700" b="0">
                  <a:solidFill>
                    <a:srgbClr val="000000"/>
                  </a:solidFill>
                </a:rPr>
                <a:t>diameter</a:t>
              </a:r>
            </a:p>
          </p:txBody>
        </p:sp>
        <p:sp>
          <p:nvSpPr>
            <p:cNvPr id="51221" name="Rectangle 115">
              <a:extLst>
                <a:ext uri="{FF2B5EF4-FFF2-40B4-BE49-F238E27FC236}">
                  <a16:creationId xmlns:a16="http://schemas.microsoft.com/office/drawing/2014/main" id="{78C2336F-B28C-71F9-7502-0B98E8E32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956"/>
              <a:ext cx="392" cy="4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1222" name="Rectangle 116">
              <a:extLst>
                <a:ext uri="{FF2B5EF4-FFF2-40B4-BE49-F238E27FC236}">
                  <a16:creationId xmlns:a16="http://schemas.microsoft.com/office/drawing/2014/main" id="{3EC18244-2F2F-D818-E711-BC87F2F9D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996"/>
              <a:ext cx="39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700">
                  <a:solidFill>
                    <a:srgbClr val="000000"/>
                  </a:solidFill>
                </a:rPr>
                <a:t>Tailpipe</a:t>
              </a:r>
            </a:p>
          </p:txBody>
        </p:sp>
        <p:sp>
          <p:nvSpPr>
            <p:cNvPr id="51223" name="Rectangle 117">
              <a:extLst>
                <a:ext uri="{FF2B5EF4-FFF2-40B4-BE49-F238E27FC236}">
                  <a16:creationId xmlns:a16="http://schemas.microsoft.com/office/drawing/2014/main" id="{6C90478B-FA64-D003-BF17-01B43124F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" y="2156"/>
              <a:ext cx="403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700" b="0">
                  <a:solidFill>
                    <a:srgbClr val="000000"/>
                  </a:solidFill>
                </a:rPr>
                <a:t>diameter</a:t>
              </a:r>
            </a:p>
          </p:txBody>
        </p:sp>
        <p:sp>
          <p:nvSpPr>
            <p:cNvPr id="51224" name="Line 118">
              <a:extLst>
                <a:ext uri="{FF2B5EF4-FFF2-40B4-BE49-F238E27FC236}">
                  <a16:creationId xmlns:a16="http://schemas.microsoft.com/office/drawing/2014/main" id="{74A22EA6-5BDD-687C-5486-DC469F707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420"/>
              <a:ext cx="7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25" name="Line 119">
              <a:extLst>
                <a:ext uri="{FF2B5EF4-FFF2-40B4-BE49-F238E27FC236}">
                  <a16:creationId xmlns:a16="http://schemas.microsoft.com/office/drawing/2014/main" id="{8565CFED-AF7D-5A50-2019-93E4F9ACD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492"/>
              <a:ext cx="7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26" name="Line 120">
              <a:extLst>
                <a:ext uri="{FF2B5EF4-FFF2-40B4-BE49-F238E27FC236}">
                  <a16:creationId xmlns:a16="http://schemas.microsoft.com/office/drawing/2014/main" id="{F18D906A-01EA-3DDA-DDC0-B147C8737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128"/>
              <a:ext cx="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27" name="Line 121">
              <a:extLst>
                <a:ext uri="{FF2B5EF4-FFF2-40B4-BE49-F238E27FC236}">
                  <a16:creationId xmlns:a16="http://schemas.microsoft.com/office/drawing/2014/main" id="{B184CE26-5A41-191E-1B9D-1C61FCB99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308"/>
              <a:ext cx="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28" name="Line 122">
              <a:extLst>
                <a:ext uri="{FF2B5EF4-FFF2-40B4-BE49-F238E27FC236}">
                  <a16:creationId xmlns:a16="http://schemas.microsoft.com/office/drawing/2014/main" id="{7F94ECD8-6EB6-BC42-F47C-393CBF90E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2140"/>
              <a:ext cx="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29" name="Line 123">
              <a:extLst>
                <a:ext uri="{FF2B5EF4-FFF2-40B4-BE49-F238E27FC236}">
                  <a16:creationId xmlns:a16="http://schemas.microsoft.com/office/drawing/2014/main" id="{C80BA56E-BC8F-63A0-638B-9279EC090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2308"/>
              <a:ext cx="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30" name="AutoShape 124">
              <a:extLst>
                <a:ext uri="{FF2B5EF4-FFF2-40B4-BE49-F238E27FC236}">
                  <a16:creationId xmlns:a16="http://schemas.microsoft.com/office/drawing/2014/main" id="{E26F776A-EEFB-19C8-1D5B-F8A6DAE4B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0" y="1568"/>
              <a:ext cx="76" cy="64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1231" name="AutoShape 125">
              <a:extLst>
                <a:ext uri="{FF2B5EF4-FFF2-40B4-BE49-F238E27FC236}">
                  <a16:creationId xmlns:a16="http://schemas.microsoft.com/office/drawing/2014/main" id="{5BD63166-A2BD-45B6-C409-E679BDACD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568"/>
              <a:ext cx="76" cy="64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1232" name="Line 126">
              <a:extLst>
                <a:ext uri="{FF2B5EF4-FFF2-40B4-BE49-F238E27FC236}">
                  <a16:creationId xmlns:a16="http://schemas.microsoft.com/office/drawing/2014/main" id="{587D7C70-24DC-502A-1263-2C85BEA96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628"/>
              <a:ext cx="0" cy="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33" name="Line 127">
              <a:extLst>
                <a:ext uri="{FF2B5EF4-FFF2-40B4-BE49-F238E27FC236}">
                  <a16:creationId xmlns:a16="http://schemas.microsoft.com/office/drawing/2014/main" id="{AB84D80F-CE40-2B41-E549-30488B5EE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" y="1628"/>
              <a:ext cx="0" cy="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234" name="Rectangle 128">
              <a:extLst>
                <a:ext uri="{FF2B5EF4-FFF2-40B4-BE49-F238E27FC236}">
                  <a16:creationId xmlns:a16="http://schemas.microsoft.com/office/drawing/2014/main" id="{592AF0FC-E4E7-1988-9344-AAA736848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1749"/>
              <a:ext cx="318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 b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51235" name="Rectangle 129">
              <a:extLst>
                <a:ext uri="{FF2B5EF4-FFF2-40B4-BE49-F238E27FC236}">
                  <a16:creationId xmlns:a16="http://schemas.microsoft.com/office/drawing/2014/main" id="{9D863228-014F-DB73-5ED6-087E6378C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733"/>
              <a:ext cx="318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 b="0">
                  <a:solidFill>
                    <a:srgbClr val="000000"/>
                  </a:solidFill>
                </a:rPr>
                <a:t>0..2</a:t>
              </a:r>
              <a:endParaRPr lang="en-US" altLang="en-US" sz="28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55">
            <a:extLst>
              <a:ext uri="{FF2B5EF4-FFF2-40B4-BE49-F238E27FC236}">
                <a16:creationId xmlns:a16="http://schemas.microsoft.com/office/drawing/2014/main" id="{CDE3320D-DFC2-FD2A-BF8D-79E7F7A98633}"/>
              </a:ext>
            </a:extLst>
          </p:cNvPr>
          <p:cNvGrpSpPr>
            <a:grpSpLocks/>
          </p:cNvGrpSpPr>
          <p:nvPr/>
        </p:nvGrpSpPr>
        <p:grpSpPr bwMode="auto">
          <a:xfrm>
            <a:off x="3746501" y="4919664"/>
            <a:ext cx="5178425" cy="1379537"/>
            <a:chOff x="1400" y="3346"/>
            <a:chExt cx="3262" cy="869"/>
          </a:xfrm>
        </p:grpSpPr>
        <p:grpSp>
          <p:nvGrpSpPr>
            <p:cNvPr id="51207" name="Group 15">
              <a:extLst>
                <a:ext uri="{FF2B5EF4-FFF2-40B4-BE49-F238E27FC236}">
                  <a16:creationId xmlns:a16="http://schemas.microsoft.com/office/drawing/2014/main" id="{55A7748B-7BBB-937A-28FF-6E8E3B8A2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0" y="3346"/>
              <a:ext cx="1390" cy="282"/>
              <a:chOff x="554" y="1434"/>
              <a:chExt cx="1390" cy="282"/>
            </a:xfrm>
          </p:grpSpPr>
          <p:sp>
            <p:nvSpPr>
              <p:cNvPr id="51214" name="Rectangle 16">
                <a:extLst>
                  <a:ext uri="{FF2B5EF4-FFF2-40B4-BE49-F238E27FC236}">
                    <a16:creationId xmlns:a16="http://schemas.microsoft.com/office/drawing/2014/main" id="{B96AC8C8-6873-5557-BFF3-C81957697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34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1215" name="Rectangle 17">
                <a:extLst>
                  <a:ext uri="{FF2B5EF4-FFF2-40B4-BE49-F238E27FC236}">
                    <a16:creationId xmlns:a16="http://schemas.microsoft.com/office/drawing/2014/main" id="{1A9AC00F-4431-6C5A-276A-0DE44D9F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" y="1507"/>
                <a:ext cx="112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TicketMachine</a:t>
                </a:r>
              </a:p>
            </p:txBody>
          </p:sp>
        </p:grpSp>
        <p:grpSp>
          <p:nvGrpSpPr>
            <p:cNvPr id="51208" name="Group 18">
              <a:extLst>
                <a:ext uri="{FF2B5EF4-FFF2-40B4-BE49-F238E27FC236}">
                  <a16:creationId xmlns:a16="http://schemas.microsoft.com/office/drawing/2014/main" id="{1E484383-7A72-972F-D068-4895575B1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3933"/>
              <a:ext cx="1390" cy="282"/>
              <a:chOff x="554" y="1413"/>
              <a:chExt cx="1390" cy="282"/>
            </a:xfrm>
          </p:grpSpPr>
          <p:sp>
            <p:nvSpPr>
              <p:cNvPr id="51212" name="Rectangle 19">
                <a:extLst>
                  <a:ext uri="{FF2B5EF4-FFF2-40B4-BE49-F238E27FC236}">
                    <a16:creationId xmlns:a16="http://schemas.microsoft.com/office/drawing/2014/main" id="{8F5FA1DA-551D-1AF8-18B6-F814846FA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1213" name="Rectangle 20">
                <a:extLst>
                  <a:ext uri="{FF2B5EF4-FFF2-40B4-BE49-F238E27FC236}">
                    <a16:creationId xmlns:a16="http://schemas.microsoft.com/office/drawing/2014/main" id="{C3165779-5E70-9E9B-0BBB-964FF712F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07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ZoneButton</a:t>
                </a:r>
              </a:p>
            </p:txBody>
          </p:sp>
        </p:grpSp>
        <p:cxnSp>
          <p:nvCxnSpPr>
            <p:cNvPr id="51209" name="AutoShape 21">
              <a:extLst>
                <a:ext uri="{FF2B5EF4-FFF2-40B4-BE49-F238E27FC236}">
                  <a16:creationId xmlns:a16="http://schemas.microsoft.com/office/drawing/2014/main" id="{71FFAEFB-3DB6-F186-7BBC-066E037FD32B}"/>
                </a:ext>
              </a:extLst>
            </p:cNvPr>
            <p:cNvCxnSpPr>
              <a:cxnSpLocks noChangeShapeType="1"/>
              <a:stCxn id="51214" idx="2"/>
              <a:endCxn id="51212" idx="1"/>
            </p:cNvCxnSpPr>
            <p:nvPr/>
          </p:nvCxnSpPr>
          <p:spPr bwMode="auto">
            <a:xfrm rot="16200000" flipH="1">
              <a:off x="2461" y="3263"/>
              <a:ext cx="446" cy="1177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210" name="AutoShape 22">
              <a:extLst>
                <a:ext uri="{FF2B5EF4-FFF2-40B4-BE49-F238E27FC236}">
                  <a16:creationId xmlns:a16="http://schemas.microsoft.com/office/drawing/2014/main" id="{94AE5084-354E-8B42-0F00-A8DD5DCF9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3627"/>
              <a:ext cx="151" cy="177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1211" name="Text Box 23">
              <a:extLst>
                <a:ext uri="{FF2B5EF4-FFF2-40B4-BE49-F238E27FC236}">
                  <a16:creationId xmlns:a16="http://schemas.microsoft.com/office/drawing/2014/main" id="{40FC119A-9C54-7471-FF16-7FDCCF0AE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379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b="0">
                  <a:solidFill>
                    <a:schemeClr val="tx1"/>
                  </a:solidFill>
                </a:rPr>
                <a:t>3</a:t>
              </a:r>
              <a:endParaRPr lang="en-US" altLang="en-US" sz="1800" b="0"/>
            </a:p>
          </p:txBody>
        </p:sp>
      </p:grpSp>
      <p:sp>
        <p:nvSpPr>
          <p:cNvPr id="120989" name="Rectangle 157">
            <a:extLst>
              <a:ext uri="{FF2B5EF4-FFF2-40B4-BE49-F238E27FC236}">
                <a16:creationId xmlns:a16="http://schemas.microsoft.com/office/drawing/2014/main" id="{A7550EAF-00A2-965C-1E7A-2A639C524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888" y="3654426"/>
            <a:ext cx="7823200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A solid diamond denotes </a:t>
            </a:r>
            <a:r>
              <a:rPr lang="en-US" altLang="en-US" sz="2000" b="0" i="1">
                <a:solidFill>
                  <a:srgbClr val="1615B1"/>
                </a:solidFill>
                <a:latin typeface="Verdana" panose="020B0604030504040204" pitchFamily="34" charset="0"/>
              </a:rPr>
              <a:t>composition</a:t>
            </a: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: A strong form of aggregation where the </a:t>
            </a:r>
            <a:r>
              <a:rPr lang="en-US" altLang="en-US" sz="2000" b="0" i="1">
                <a:solidFill>
                  <a:schemeClr val="tx1"/>
                </a:solidFill>
                <a:latin typeface="Verdana" panose="020B0604030504040204" pitchFamily="34" charset="0"/>
              </a:rPr>
              <a:t>life time of the component instances</a:t>
            </a: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  is controlled by the aggregate. That is, the parts don’t exist on their won (“the whole controls/destroys the parts”)  </a:t>
            </a:r>
          </a:p>
        </p:txBody>
      </p:sp>
    </p:spTree>
    <p:extLst>
      <p:ext uri="{BB962C8B-B14F-4D97-AF65-F5344CB8AC3E}">
        <p14:creationId xmlns:p14="http://schemas.microsoft.com/office/powerpoint/2010/main" val="27819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 build="p" autoUpdateAnimBg="0"/>
      <p:bldP spid="12098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4EDD2A9-1B32-7E96-4A4A-134BEC4BCA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Qualifiers</a:t>
            </a:r>
          </a:p>
        </p:txBody>
      </p:sp>
      <p:sp>
        <p:nvSpPr>
          <p:cNvPr id="53251" name="Rectangle 4">
            <a:extLst>
              <a:ext uri="{FF2B5EF4-FFF2-40B4-BE49-F238E27FC236}">
                <a16:creationId xmlns:a16="http://schemas.microsoft.com/office/drawing/2014/main" id="{3DC14072-8806-1DEC-A877-6A1FD317B77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139950" y="4457701"/>
            <a:ext cx="8001000" cy="842963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Qualifiers can be used to reduce the multiplicity of an association.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97">
            <a:extLst>
              <a:ext uri="{FF2B5EF4-FFF2-40B4-BE49-F238E27FC236}">
                <a16:creationId xmlns:a16="http://schemas.microsoft.com/office/drawing/2014/main" id="{89D99C0C-FB4B-A241-ED18-793EBE2E9AAD}"/>
              </a:ext>
            </a:extLst>
          </p:cNvPr>
          <p:cNvGrpSpPr>
            <a:grpSpLocks/>
          </p:cNvGrpSpPr>
          <p:nvPr/>
        </p:nvGrpSpPr>
        <p:grpSpPr bwMode="auto">
          <a:xfrm>
            <a:off x="1882776" y="1292226"/>
            <a:ext cx="8493125" cy="1323975"/>
            <a:chOff x="226" y="814"/>
            <a:chExt cx="5350" cy="834"/>
          </a:xfrm>
        </p:grpSpPr>
        <p:grpSp>
          <p:nvGrpSpPr>
            <p:cNvPr id="53264" name="Group 54">
              <a:extLst>
                <a:ext uri="{FF2B5EF4-FFF2-40B4-BE49-F238E27FC236}">
                  <a16:creationId xmlns:a16="http://schemas.microsoft.com/office/drawing/2014/main" id="{D651FEF4-595F-3051-BF04-9AF89860CE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" y="1164"/>
              <a:ext cx="1560" cy="326"/>
              <a:chOff x="276" y="969"/>
              <a:chExt cx="1560" cy="326"/>
            </a:xfrm>
          </p:grpSpPr>
          <p:sp>
            <p:nvSpPr>
              <p:cNvPr id="53274" name="Rectangle 13">
                <a:extLst>
                  <a:ext uri="{FF2B5EF4-FFF2-40B4-BE49-F238E27FC236}">
                    <a16:creationId xmlns:a16="http://schemas.microsoft.com/office/drawing/2014/main" id="{7F616747-D961-E0A7-C2C7-B901BD4D1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" y="969"/>
                <a:ext cx="1560" cy="326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3275" name="Rectangle 14">
                <a:extLst>
                  <a:ext uri="{FF2B5EF4-FFF2-40B4-BE49-F238E27FC236}">
                    <a16:creationId xmlns:a16="http://schemas.microsoft.com/office/drawing/2014/main" id="{38CCBB40-6B1B-F686-9D4D-5BDE714A2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1" y="1074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</a:rPr>
                  <a:t>Directory</a:t>
                </a:r>
                <a:endParaRPr lang="en-US" altLang="en-US" sz="2800" b="0"/>
              </a:p>
            </p:txBody>
          </p:sp>
        </p:grpSp>
        <p:grpSp>
          <p:nvGrpSpPr>
            <p:cNvPr id="53265" name="Group 53">
              <a:extLst>
                <a:ext uri="{FF2B5EF4-FFF2-40B4-BE49-F238E27FC236}">
                  <a16:creationId xmlns:a16="http://schemas.microsoft.com/office/drawing/2014/main" id="{2A656C8A-59AC-A9C7-62AB-FB9937EA48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6" y="994"/>
              <a:ext cx="1560" cy="654"/>
              <a:chOff x="3878" y="799"/>
              <a:chExt cx="1560" cy="654"/>
            </a:xfrm>
          </p:grpSpPr>
          <p:sp>
            <p:nvSpPr>
              <p:cNvPr id="53270" name="Rectangle 15">
                <a:extLst>
                  <a:ext uri="{FF2B5EF4-FFF2-40B4-BE49-F238E27FC236}">
                    <a16:creationId xmlns:a16="http://schemas.microsoft.com/office/drawing/2014/main" id="{42F09ADD-1EC5-C8DF-A202-B4E4C941A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799"/>
                <a:ext cx="1560" cy="326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3271" name="Rectangle 16">
                <a:extLst>
                  <a:ext uri="{FF2B5EF4-FFF2-40B4-BE49-F238E27FC236}">
                    <a16:creationId xmlns:a16="http://schemas.microsoft.com/office/drawing/2014/main" id="{9A7380FA-0D75-FF56-43D1-E0D6B0875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3" y="904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</a:rPr>
                  <a:t>File</a:t>
                </a:r>
                <a:endParaRPr lang="en-US" altLang="en-US" sz="2800" b="0"/>
              </a:p>
            </p:txBody>
          </p:sp>
          <p:sp>
            <p:nvSpPr>
              <p:cNvPr id="53272" name="Rectangle 18">
                <a:extLst>
                  <a:ext uri="{FF2B5EF4-FFF2-40B4-BE49-F238E27FC236}">
                    <a16:creationId xmlns:a16="http://schemas.microsoft.com/office/drawing/2014/main" id="{ACEDBB1F-CC8F-AFDC-DC16-580D487A9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127"/>
                <a:ext cx="1560" cy="326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3273" name="Rectangle 19">
                <a:extLst>
                  <a:ext uri="{FF2B5EF4-FFF2-40B4-BE49-F238E27FC236}">
                    <a16:creationId xmlns:a16="http://schemas.microsoft.com/office/drawing/2014/main" id="{2FEDEF2B-FE64-3A3D-582F-F3F94DD77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1173"/>
                <a:ext cx="76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</a:rPr>
                  <a:t>filename</a:t>
                </a:r>
                <a:endParaRPr lang="en-US" altLang="en-US" sz="2800" b="0"/>
              </a:p>
            </p:txBody>
          </p:sp>
        </p:grpSp>
        <p:sp>
          <p:nvSpPr>
            <p:cNvPr id="53266" name="Rectangle 22">
              <a:extLst>
                <a:ext uri="{FF2B5EF4-FFF2-40B4-BE49-F238E27FC236}">
                  <a16:creationId xmlns:a16="http://schemas.microsoft.com/office/drawing/2014/main" id="{59F5BF46-1555-23DB-67CA-EEB932379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" y="814"/>
              <a:ext cx="19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400" b="0">
                  <a:solidFill>
                    <a:srgbClr val="000000"/>
                  </a:solidFill>
                  <a:latin typeface="Verdana" panose="020B0604030504040204" pitchFamily="34" charset="0"/>
                </a:rPr>
                <a:t>Without qualification</a:t>
              </a:r>
              <a:endParaRPr lang="en-US" altLang="en-US" sz="2800" b="0"/>
            </a:p>
          </p:txBody>
        </p:sp>
        <p:sp>
          <p:nvSpPr>
            <p:cNvPr id="53267" name="Line 17">
              <a:extLst>
                <a:ext uri="{FF2B5EF4-FFF2-40B4-BE49-F238E27FC236}">
                  <a16:creationId xmlns:a16="http://schemas.microsoft.com/office/drawing/2014/main" id="{BB8D5A38-408A-8083-703C-5B560F646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5" y="1320"/>
              <a:ext cx="206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268" name="Rectangle 21">
              <a:extLst>
                <a:ext uri="{FF2B5EF4-FFF2-40B4-BE49-F238E27FC236}">
                  <a16:creationId xmlns:a16="http://schemas.microsoft.com/office/drawing/2014/main" id="{44E9468D-F879-536B-A17B-5B917B5B6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1134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1</a:t>
              </a:r>
              <a:endParaRPr lang="en-US" altLang="en-US" sz="2800" b="0"/>
            </a:p>
          </p:txBody>
        </p:sp>
        <p:sp>
          <p:nvSpPr>
            <p:cNvPr id="53269" name="Rectangle 28">
              <a:extLst>
                <a:ext uri="{FF2B5EF4-FFF2-40B4-BE49-F238E27FC236}">
                  <a16:creationId xmlns:a16="http://schemas.microsoft.com/office/drawing/2014/main" id="{8528E3E8-1FD6-50AE-CDB1-A2F085183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1134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*</a:t>
              </a:r>
              <a:endParaRPr lang="en-US" altLang="en-US" sz="2800" b="0"/>
            </a:p>
          </p:txBody>
        </p:sp>
      </p:grpSp>
      <p:sp>
        <p:nvSpPr>
          <p:cNvPr id="124953" name="Rectangle 25">
            <a:extLst>
              <a:ext uri="{FF2B5EF4-FFF2-40B4-BE49-F238E27FC236}">
                <a16:creationId xmlns:a16="http://schemas.microsoft.com/office/drawing/2014/main" id="{2510A26A-1C78-D9C8-4DF7-97FB84C2E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201" y="2799257"/>
            <a:ext cx="3151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 dirty="0">
                <a:solidFill>
                  <a:srgbClr val="000000"/>
                </a:solidFill>
                <a:latin typeface="Verdana" panose="020B0604030504040204" pitchFamily="34" charset="0"/>
              </a:rPr>
              <a:t>   With qualification</a:t>
            </a:r>
            <a:endParaRPr lang="en-US" altLang="en-US" sz="2800" b="0" dirty="0"/>
          </a:p>
        </p:txBody>
      </p:sp>
      <p:sp>
        <p:nvSpPr>
          <p:cNvPr id="124957" name="Rectangle 29">
            <a:extLst>
              <a:ext uri="{FF2B5EF4-FFF2-40B4-BE49-F238E27FC236}">
                <a16:creationId xmlns:a16="http://schemas.microsoft.com/office/drawing/2014/main" id="{6BDF40F7-6955-CFFF-9FD9-0D97CD8F7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763" y="3279775"/>
            <a:ext cx="60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  <a:latin typeface="Courier" charset="0"/>
              </a:rPr>
              <a:t>0..1</a:t>
            </a:r>
            <a:endParaRPr lang="en-US" altLang="en-US" sz="2800" b="0"/>
          </a:p>
        </p:txBody>
      </p:sp>
      <p:grpSp>
        <p:nvGrpSpPr>
          <p:cNvPr id="5" name="Group 101">
            <a:extLst>
              <a:ext uri="{FF2B5EF4-FFF2-40B4-BE49-F238E27FC236}">
                <a16:creationId xmlns:a16="http://schemas.microsoft.com/office/drawing/2014/main" id="{4869D67C-6640-D1A7-F702-2EB36803C819}"/>
              </a:ext>
            </a:extLst>
          </p:cNvPr>
          <p:cNvGrpSpPr>
            <a:grpSpLocks/>
          </p:cNvGrpSpPr>
          <p:nvPr/>
        </p:nvGrpSpPr>
        <p:grpSpPr bwMode="auto">
          <a:xfrm>
            <a:off x="2147889" y="3324225"/>
            <a:ext cx="8194675" cy="552450"/>
            <a:chOff x="393" y="2094"/>
            <a:chExt cx="5162" cy="348"/>
          </a:xfrm>
        </p:grpSpPr>
        <p:sp>
          <p:nvSpPr>
            <p:cNvPr id="53256" name="Rectangle 6">
              <a:extLst>
                <a:ext uri="{FF2B5EF4-FFF2-40B4-BE49-F238E27FC236}">
                  <a16:creationId xmlns:a16="http://schemas.microsoft.com/office/drawing/2014/main" id="{C6AF1540-6B83-77AC-51D1-A53DC3CB7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2116"/>
              <a:ext cx="1560" cy="32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3257" name="Rectangle 7">
              <a:extLst>
                <a:ext uri="{FF2B5EF4-FFF2-40B4-BE49-F238E27FC236}">
                  <a16:creationId xmlns:a16="http://schemas.microsoft.com/office/drawing/2014/main" id="{5F9F8607-2718-E7B1-2D79-69FB7B90B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" y="2222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Directory</a:t>
              </a:r>
              <a:endParaRPr lang="en-US" altLang="en-US" sz="2800" b="0"/>
            </a:p>
          </p:txBody>
        </p:sp>
        <p:sp>
          <p:nvSpPr>
            <p:cNvPr id="53258" name="Rectangle 8">
              <a:extLst>
                <a:ext uri="{FF2B5EF4-FFF2-40B4-BE49-F238E27FC236}">
                  <a16:creationId xmlns:a16="http://schemas.microsoft.com/office/drawing/2014/main" id="{8CC38EF2-8082-A928-D9D2-5085A156E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" y="2116"/>
              <a:ext cx="1560" cy="32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3259" name="Rectangle 9">
              <a:extLst>
                <a:ext uri="{FF2B5EF4-FFF2-40B4-BE49-F238E27FC236}">
                  <a16:creationId xmlns:a16="http://schemas.microsoft.com/office/drawing/2014/main" id="{57E5879C-2068-26AA-F585-EA1A1A64B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2222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File</a:t>
              </a:r>
              <a:endParaRPr lang="en-US" altLang="en-US" sz="2800" b="0"/>
            </a:p>
          </p:txBody>
        </p:sp>
        <p:sp>
          <p:nvSpPr>
            <p:cNvPr id="53260" name="Line 10">
              <a:extLst>
                <a:ext uri="{FF2B5EF4-FFF2-40B4-BE49-F238E27FC236}">
                  <a16:creationId xmlns:a16="http://schemas.microsoft.com/office/drawing/2014/main" id="{F0A83161-0E4B-2178-2691-E70C180E3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2258"/>
              <a:ext cx="86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261" name="Rectangle 30">
              <a:extLst>
                <a:ext uri="{FF2B5EF4-FFF2-40B4-BE49-F238E27FC236}">
                  <a16:creationId xmlns:a16="http://schemas.microsoft.com/office/drawing/2014/main" id="{7C7EB911-6B10-7B59-A643-F1652CE8F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2094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1</a:t>
              </a:r>
              <a:endParaRPr lang="en-US" altLang="en-US" sz="2800" b="0"/>
            </a:p>
          </p:txBody>
        </p:sp>
        <p:sp>
          <p:nvSpPr>
            <p:cNvPr id="53262" name="Rectangle 12">
              <a:extLst>
                <a:ext uri="{FF2B5EF4-FFF2-40B4-BE49-F238E27FC236}">
                  <a16:creationId xmlns:a16="http://schemas.microsoft.com/office/drawing/2014/main" id="{4E8385F0-F508-1EFF-718F-EFAC74644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" y="2173"/>
              <a:ext cx="1192" cy="213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3263" name="Rectangle 11">
              <a:extLst>
                <a:ext uri="{FF2B5EF4-FFF2-40B4-BE49-F238E27FC236}">
                  <a16:creationId xmlns:a16="http://schemas.microsoft.com/office/drawing/2014/main" id="{63ADA73E-D383-6250-D6DF-688597360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2222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filename</a:t>
              </a:r>
              <a:endParaRPr lang="en-US" altLang="en-US" sz="2800" b="0"/>
            </a:p>
          </p:txBody>
        </p:sp>
      </p:grpSp>
    </p:spTree>
    <p:extLst>
      <p:ext uri="{BB962C8B-B14F-4D97-AF65-F5344CB8AC3E}">
        <p14:creationId xmlns:p14="http://schemas.microsoft.com/office/powerpoint/2010/main" val="427173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3" grpId="0" build="p" autoUpdateAnimBg="0"/>
      <p:bldP spid="124957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ABAC413-1B6D-EC91-11FD-0FDB6276A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Qualification: Another Example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4DF4EA97-7817-33EC-2BDC-914A4D4F1DF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078289"/>
            <a:ext cx="7246938" cy="2154237"/>
            <a:chOff x="528" y="2569"/>
            <a:chExt cx="4565" cy="1357"/>
          </a:xfrm>
        </p:grpSpPr>
        <p:grpSp>
          <p:nvGrpSpPr>
            <p:cNvPr id="55315" name="Group 6">
              <a:extLst>
                <a:ext uri="{FF2B5EF4-FFF2-40B4-BE49-F238E27FC236}">
                  <a16:creationId xmlns:a16="http://schemas.microsoft.com/office/drawing/2014/main" id="{9558CA97-129F-AB5B-002C-1141B04C9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592"/>
              <a:ext cx="4565" cy="1334"/>
              <a:chOff x="528" y="2595"/>
              <a:chExt cx="4593" cy="1519"/>
            </a:xfrm>
          </p:grpSpPr>
          <p:sp>
            <p:nvSpPr>
              <p:cNvPr id="55317" name="Rectangle 7">
                <a:extLst>
                  <a:ext uri="{FF2B5EF4-FFF2-40B4-BE49-F238E27FC236}">
                    <a16:creationId xmlns:a16="http://schemas.microsoft.com/office/drawing/2014/main" id="{C4760430-C30D-8460-F866-C4B3D40F2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" y="2690"/>
                <a:ext cx="240" cy="5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4000">
                    <a:solidFill>
                      <a:schemeClr val="tx1"/>
                    </a:solidFill>
                  </a:rPr>
                  <a:t>*</a:t>
                </a:r>
              </a:p>
            </p:txBody>
          </p:sp>
          <p:sp>
            <p:nvSpPr>
              <p:cNvPr id="55318" name="Rectangle 8">
                <a:extLst>
                  <a:ext uri="{FF2B5EF4-FFF2-40B4-BE49-F238E27FC236}">
                    <a16:creationId xmlns:a16="http://schemas.microsoft.com/office/drawing/2014/main" id="{41C58880-3FF3-192C-9D5D-A47D367E4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692"/>
                <a:ext cx="1475" cy="113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5319" name="Rectangle 9">
                <a:extLst>
                  <a:ext uri="{FF2B5EF4-FFF2-40B4-BE49-F238E27FC236}">
                    <a16:creationId xmlns:a16="http://schemas.microsoft.com/office/drawing/2014/main" id="{D55B044C-DFB8-4504-5978-E2BDC99A0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2874"/>
                <a:ext cx="1381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rgbClr val="000000"/>
                    </a:solidFill>
                    <a:latin typeface="Times" panose="02020603050405020304" pitchFamily="18" charset="0"/>
                  </a:rPr>
                  <a:t>StockExchange</a:t>
                </a:r>
              </a:p>
            </p:txBody>
          </p:sp>
          <p:sp>
            <p:nvSpPr>
              <p:cNvPr id="55320" name="Rectangle 10">
                <a:extLst>
                  <a:ext uri="{FF2B5EF4-FFF2-40B4-BE49-F238E27FC236}">
                    <a16:creationId xmlns:a16="http://schemas.microsoft.com/office/drawing/2014/main" id="{E3BB26E0-62AE-6FA6-DFAF-F8FCA5AE7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3" y="2604"/>
                <a:ext cx="1268" cy="151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5321" name="Rectangle 11">
                <a:extLst>
                  <a:ext uri="{FF2B5EF4-FFF2-40B4-BE49-F238E27FC236}">
                    <a16:creationId xmlns:a16="http://schemas.microsoft.com/office/drawing/2014/main" id="{D654F4AE-F161-3BFD-2CF9-46F1FA30D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" y="2701"/>
                <a:ext cx="919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>
                    <a:solidFill>
                      <a:srgbClr val="000000"/>
                    </a:solidFill>
                    <a:latin typeface="Times" panose="02020603050405020304" pitchFamily="18" charset="0"/>
                  </a:rPr>
                  <a:t>Company</a:t>
                </a:r>
              </a:p>
            </p:txBody>
          </p:sp>
          <p:sp>
            <p:nvSpPr>
              <p:cNvPr id="55322" name="Rectangle 12">
                <a:extLst>
                  <a:ext uri="{FF2B5EF4-FFF2-40B4-BE49-F238E27FC236}">
                    <a16:creationId xmlns:a16="http://schemas.microsoft.com/office/drawing/2014/main" id="{84F6F15F-AB54-200A-1B58-D0D37B8AA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1" y="2595"/>
                <a:ext cx="53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400" i="1">
                    <a:solidFill>
                      <a:srgbClr val="3333FF"/>
                    </a:solidFill>
                    <a:latin typeface="Times" panose="02020603050405020304" pitchFamily="18" charset="0"/>
                  </a:rPr>
                  <a:t>Lists </a:t>
                </a:r>
                <a:endParaRPr lang="en-US" altLang="en-US" sz="2400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55323" name="Line 13">
                <a:extLst>
                  <a:ext uri="{FF2B5EF4-FFF2-40B4-BE49-F238E27FC236}">
                    <a16:creationId xmlns:a16="http://schemas.microsoft.com/office/drawing/2014/main" id="{7E56D62C-6D73-B228-3F61-F5C0AC7F7E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227"/>
                <a:ext cx="14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5324" name="Line 14">
                <a:extLst>
                  <a:ext uri="{FF2B5EF4-FFF2-40B4-BE49-F238E27FC236}">
                    <a16:creationId xmlns:a16="http://schemas.microsoft.com/office/drawing/2014/main" id="{3118E969-EA01-EBB5-6FA3-DD47DA0F6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623"/>
                <a:ext cx="148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5325" name="Line 15">
                <a:extLst>
                  <a:ext uri="{FF2B5EF4-FFF2-40B4-BE49-F238E27FC236}">
                    <a16:creationId xmlns:a16="http://schemas.microsoft.com/office/drawing/2014/main" id="{2924FC3C-DDD7-E40E-8429-18A643A99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3326"/>
                <a:ext cx="12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5326" name="Line 16">
                <a:extLst>
                  <a:ext uri="{FF2B5EF4-FFF2-40B4-BE49-F238E27FC236}">
                    <a16:creationId xmlns:a16="http://schemas.microsoft.com/office/drawing/2014/main" id="{C9254B8F-863B-6150-6B46-51766B1ED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3887"/>
                <a:ext cx="12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5327" name="Line 17">
                <a:extLst>
                  <a:ext uri="{FF2B5EF4-FFF2-40B4-BE49-F238E27FC236}">
                    <a16:creationId xmlns:a16="http://schemas.microsoft.com/office/drawing/2014/main" id="{6C764D5F-D098-19F2-0EFC-9376038E8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" y="2977"/>
                <a:ext cx="18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55316" name="Rectangle 18">
              <a:extLst>
                <a:ext uri="{FF2B5EF4-FFF2-40B4-BE49-F238E27FC236}">
                  <a16:creationId xmlns:a16="http://schemas.microsoft.com/office/drawing/2014/main" id="{599E2438-134B-12A1-6168-BD9A4D181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5" y="2569"/>
              <a:ext cx="239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4000">
                  <a:solidFill>
                    <a:schemeClr val="tx1"/>
                  </a:solidFill>
                </a:rPr>
                <a:t>*</a:t>
              </a:r>
            </a:p>
          </p:txBody>
        </p:sp>
      </p:grpSp>
      <p:sp>
        <p:nvSpPr>
          <p:cNvPr id="231444" name="Rectangle 20">
            <a:extLst>
              <a:ext uri="{FF2B5EF4-FFF2-40B4-BE49-F238E27FC236}">
                <a16:creationId xmlns:a16="http://schemas.microsoft.com/office/drawing/2014/main" id="{A3BF47FF-9513-999B-1598-CCFF8D5B2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1" y="4468814"/>
            <a:ext cx="1355725" cy="3460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600">
                <a:solidFill>
                  <a:srgbClr val="000000"/>
                </a:solidFill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231443" name="Rectangle 19">
            <a:extLst>
              <a:ext uri="{FF2B5EF4-FFF2-40B4-BE49-F238E27FC236}">
                <a16:creationId xmlns:a16="http://schemas.microsoft.com/office/drawing/2014/main" id="{0A691634-CCEA-302B-0FF4-98ECADB90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151" y="4244975"/>
            <a:ext cx="3079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5302" name="Rectangle 21">
            <a:extLst>
              <a:ext uri="{FF2B5EF4-FFF2-40B4-BE49-F238E27FC236}">
                <a16:creationId xmlns:a16="http://schemas.microsoft.com/office/drawing/2014/main" id="{622DF258-E05C-9103-24B9-A3133F323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1935163"/>
            <a:ext cx="2341563" cy="1803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55303" name="Rectangle 22">
            <a:extLst>
              <a:ext uri="{FF2B5EF4-FFF2-40B4-BE49-F238E27FC236}">
                <a16:creationId xmlns:a16="http://schemas.microsoft.com/office/drawing/2014/main" id="{AA0B9343-42B7-8B77-E8DF-8215EDBB5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2224089"/>
            <a:ext cx="217963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StockExchange</a:t>
            </a:r>
          </a:p>
        </p:txBody>
      </p:sp>
      <p:sp>
        <p:nvSpPr>
          <p:cNvPr id="55304" name="Rectangle 23">
            <a:extLst>
              <a:ext uri="{FF2B5EF4-FFF2-40B4-BE49-F238E27FC236}">
                <a16:creationId xmlns:a16="http://schemas.microsoft.com/office/drawing/2014/main" id="{A171A7A5-2B9E-141A-6DE9-523A90056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1358901"/>
            <a:ext cx="2012950" cy="23971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55305" name="Rectangle 24">
            <a:extLst>
              <a:ext uri="{FF2B5EF4-FFF2-40B4-BE49-F238E27FC236}">
                <a16:creationId xmlns:a16="http://schemas.microsoft.com/office/drawing/2014/main" id="{DDEC5B6E-0069-2797-CBAC-D80118E53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9" y="1441451"/>
            <a:ext cx="1544637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dirty="0">
                <a:solidFill>
                  <a:srgbClr val="000000"/>
                </a:solidFill>
                <a:latin typeface="Times" panose="02020603050405020304" pitchFamily="18" charset="0"/>
              </a:rPr>
              <a:t>Company</a:t>
            </a:r>
          </a:p>
        </p:txBody>
      </p:sp>
      <p:sp>
        <p:nvSpPr>
          <p:cNvPr id="55306" name="Rectangle 25">
            <a:extLst>
              <a:ext uri="{FF2B5EF4-FFF2-40B4-BE49-F238E27FC236}">
                <a16:creationId xmlns:a16="http://schemas.microsoft.com/office/drawing/2014/main" id="{6297D004-2D78-0064-B3C1-6483DF341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179639"/>
            <a:ext cx="192563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55307" name="Rectangle 26">
            <a:extLst>
              <a:ext uri="{FF2B5EF4-FFF2-40B4-BE49-F238E27FC236}">
                <a16:creationId xmlns:a16="http://schemas.microsoft.com/office/drawing/2014/main" id="{F1EB67D3-47B7-D64C-EF05-523B9B37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1925639"/>
            <a:ext cx="84931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i="1">
                <a:solidFill>
                  <a:srgbClr val="3333FF"/>
                </a:solidFill>
                <a:latin typeface="Times" panose="02020603050405020304" pitchFamily="18" charset="0"/>
              </a:rPr>
              <a:t>Lists </a:t>
            </a:r>
            <a:endParaRPr lang="en-US" altLang="en-US" sz="24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55308" name="Line 27">
            <a:extLst>
              <a:ext uri="{FF2B5EF4-FFF2-40B4-BE49-F238E27FC236}">
                <a16:creationId xmlns:a16="http://schemas.microsoft.com/office/drawing/2014/main" id="{FED34A30-1DD8-7998-FE3D-42E20CD60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784475"/>
            <a:ext cx="2332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55309" name="Line 28">
            <a:extLst>
              <a:ext uri="{FF2B5EF4-FFF2-40B4-BE49-F238E27FC236}">
                <a16:creationId xmlns:a16="http://schemas.microsoft.com/office/drawing/2014/main" id="{B9ACBE42-FC1B-ADA7-B6B7-1776D044D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1" y="3413125"/>
            <a:ext cx="235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55310" name="Line 29">
            <a:extLst>
              <a:ext uri="{FF2B5EF4-FFF2-40B4-BE49-F238E27FC236}">
                <a16:creationId xmlns:a16="http://schemas.microsoft.com/office/drawing/2014/main" id="{EE3BE1BB-5A26-DC01-B1C4-A5A1DB9BA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6176" y="2060575"/>
            <a:ext cx="1997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55311" name="Line 30">
            <a:extLst>
              <a:ext uri="{FF2B5EF4-FFF2-40B4-BE49-F238E27FC236}">
                <a16:creationId xmlns:a16="http://schemas.microsoft.com/office/drawing/2014/main" id="{7BC7771D-10B7-E3C1-1126-0C74F5EFD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6176" y="2951163"/>
            <a:ext cx="1997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55312" name="Line 31">
            <a:extLst>
              <a:ext uri="{FF2B5EF4-FFF2-40B4-BE49-F238E27FC236}">
                <a16:creationId xmlns:a16="http://schemas.microsoft.com/office/drawing/2014/main" id="{C47F194C-CF99-DEBA-FEAB-90F1B1706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651" y="2522538"/>
            <a:ext cx="2919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55313" name="Rectangle 32">
            <a:extLst>
              <a:ext uri="{FF2B5EF4-FFF2-40B4-BE49-F238E27FC236}">
                <a16:creationId xmlns:a16="http://schemas.microsoft.com/office/drawing/2014/main" id="{67141D43-9768-782D-9408-39EAAB2F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1" y="1922463"/>
            <a:ext cx="379413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40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55314" name="Rectangle 33">
            <a:extLst>
              <a:ext uri="{FF2B5EF4-FFF2-40B4-BE49-F238E27FC236}">
                <a16:creationId xmlns:a16="http://schemas.microsoft.com/office/drawing/2014/main" id="{4A8FADD7-8C45-0DBA-B63B-CBB459296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6" y="1874838"/>
            <a:ext cx="379413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4000">
                <a:solidFill>
                  <a:schemeClr val="tx1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01991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23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44" grpId="0" animBg="1"/>
      <p:bldP spid="2314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47D5F38-FDF5-6C27-58D3-0DE3FAAAF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Inheritance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D681237D-25CB-CEC2-25E2-579202756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3967164"/>
            <a:ext cx="8001000" cy="2128837"/>
          </a:xfrm>
        </p:spPr>
        <p:txBody>
          <a:bodyPr/>
          <a:lstStyle/>
          <a:p>
            <a:r>
              <a:rPr lang="en-US" altLang="en-US" i="1" dirty="0">
                <a:solidFill>
                  <a:srgbClr val="1615B1"/>
                </a:solidFill>
                <a:ea typeface="ＭＳ Ｐゴシック" panose="020B0600070205080204" pitchFamily="34" charset="-128"/>
              </a:rPr>
              <a:t>Inheritance </a:t>
            </a:r>
            <a:r>
              <a:rPr lang="en-US" altLang="en-US" dirty="0">
                <a:ea typeface="ＭＳ Ｐゴシック" panose="020B0600070205080204" pitchFamily="34" charset="-128"/>
              </a:rPr>
              <a:t>is another special case of an association denoting a “kind-of” hierarchy.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Inheritance simplifies the analysis model by introducing a taxonomy.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b="1" dirty="0">
                <a:ea typeface="ＭＳ Ｐゴシック" panose="020B0600070205080204" pitchFamily="34" charset="-128"/>
              </a:rPr>
              <a:t>children classes</a:t>
            </a:r>
            <a:r>
              <a:rPr lang="en-US" altLang="en-US" dirty="0">
                <a:ea typeface="ＭＳ Ｐゴシック" panose="020B0600070205080204" pitchFamily="34" charset="-128"/>
              </a:rPr>
              <a:t> inherit the attributes and operations of the </a:t>
            </a:r>
            <a:r>
              <a:rPr lang="en-US" altLang="en-US" b="1" dirty="0">
                <a:ea typeface="ＭＳ Ｐゴシック" panose="020B0600070205080204" pitchFamily="34" charset="-128"/>
              </a:rPr>
              <a:t>parent class.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AD82383C-84DB-665E-8358-2693729318A3}"/>
              </a:ext>
            </a:extLst>
          </p:cNvPr>
          <p:cNvGrpSpPr>
            <a:grpSpLocks/>
          </p:cNvGrpSpPr>
          <p:nvPr/>
        </p:nvGrpSpPr>
        <p:grpSpPr bwMode="auto">
          <a:xfrm>
            <a:off x="2498726" y="1620839"/>
            <a:ext cx="6931025" cy="1895475"/>
            <a:chOff x="614" y="1021"/>
            <a:chExt cx="4366" cy="1194"/>
          </a:xfrm>
        </p:grpSpPr>
        <p:grpSp>
          <p:nvGrpSpPr>
            <p:cNvPr id="57349" name="Group 5">
              <a:extLst>
                <a:ext uri="{FF2B5EF4-FFF2-40B4-BE49-F238E27FC236}">
                  <a16:creationId xmlns:a16="http://schemas.microsoft.com/office/drawing/2014/main" id="{874AABCF-39F5-C17B-073C-5BF1D77167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4" y="1021"/>
              <a:ext cx="1390" cy="282"/>
              <a:chOff x="554" y="1413"/>
              <a:chExt cx="1390" cy="282"/>
            </a:xfrm>
          </p:grpSpPr>
          <p:sp>
            <p:nvSpPr>
              <p:cNvPr id="57359" name="Rectangle 6">
                <a:extLst>
                  <a:ext uri="{FF2B5EF4-FFF2-40B4-BE49-F238E27FC236}">
                    <a16:creationId xmlns:a16="http://schemas.microsoft.com/office/drawing/2014/main" id="{8AE15FED-4D48-2E69-A332-FD46FC27F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7360" name="Rectangle 7">
                <a:extLst>
                  <a:ext uri="{FF2B5EF4-FFF2-40B4-BE49-F238E27FC236}">
                    <a16:creationId xmlns:a16="http://schemas.microsoft.com/office/drawing/2014/main" id="{805155B3-9BF3-9DF1-9A2B-243D57627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" y="1507"/>
                <a:ext cx="51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Button</a:t>
                </a:r>
                <a:endParaRPr lang="en-US" altLang="en-US" sz="1800" i="1">
                  <a:solidFill>
                    <a:srgbClr val="000000"/>
                  </a:solidFill>
                  <a:latin typeface="Courier" charset="0"/>
                </a:endParaRPr>
              </a:p>
            </p:txBody>
          </p:sp>
        </p:grpSp>
        <p:grpSp>
          <p:nvGrpSpPr>
            <p:cNvPr id="57350" name="Group 8">
              <a:extLst>
                <a:ext uri="{FF2B5EF4-FFF2-40B4-BE49-F238E27FC236}">
                  <a16:creationId xmlns:a16="http://schemas.microsoft.com/office/drawing/2014/main" id="{E1064205-12A1-6700-4A6F-C6A785E5F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0" y="1933"/>
              <a:ext cx="1390" cy="282"/>
              <a:chOff x="554" y="1413"/>
              <a:chExt cx="1390" cy="282"/>
            </a:xfrm>
          </p:grpSpPr>
          <p:sp>
            <p:nvSpPr>
              <p:cNvPr id="57357" name="Rectangle 9">
                <a:extLst>
                  <a:ext uri="{FF2B5EF4-FFF2-40B4-BE49-F238E27FC236}">
                    <a16:creationId xmlns:a16="http://schemas.microsoft.com/office/drawing/2014/main" id="{D8C56727-2559-FF48-19A1-777849BD3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7358" name="Rectangle 10">
                <a:extLst>
                  <a:ext uri="{FF2B5EF4-FFF2-40B4-BE49-F238E27FC236}">
                    <a16:creationId xmlns:a16="http://schemas.microsoft.com/office/drawing/2014/main" id="{BDFB910E-BA69-F4DA-AC83-F8D7E58E4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07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ZoneButton</a:t>
                </a:r>
              </a:p>
            </p:txBody>
          </p:sp>
        </p:grpSp>
        <p:cxnSp>
          <p:nvCxnSpPr>
            <p:cNvPr id="57351" name="AutoShape 11">
              <a:extLst>
                <a:ext uri="{FF2B5EF4-FFF2-40B4-BE49-F238E27FC236}">
                  <a16:creationId xmlns:a16="http://schemas.microsoft.com/office/drawing/2014/main" id="{2D8DC132-EB9C-D579-DC12-764DBAA54897}"/>
                </a:ext>
              </a:extLst>
            </p:cNvPr>
            <p:cNvCxnSpPr>
              <a:cxnSpLocks noChangeShapeType="1"/>
              <a:stCxn id="57359" idx="2"/>
              <a:endCxn id="57357" idx="1"/>
            </p:cNvCxnSpPr>
            <p:nvPr/>
          </p:nvCxnSpPr>
          <p:spPr bwMode="auto">
            <a:xfrm rot="16200000" flipH="1">
              <a:off x="2784" y="1273"/>
              <a:ext cx="766" cy="83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57352" name="Group 14">
              <a:extLst>
                <a:ext uri="{FF2B5EF4-FFF2-40B4-BE49-F238E27FC236}">
                  <a16:creationId xmlns:a16="http://schemas.microsoft.com/office/drawing/2014/main" id="{58EF18E4-DC26-0694-5A99-92660CA101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" y="1933"/>
              <a:ext cx="1390" cy="282"/>
              <a:chOff x="554" y="1413"/>
              <a:chExt cx="1390" cy="282"/>
            </a:xfrm>
          </p:grpSpPr>
          <p:sp>
            <p:nvSpPr>
              <p:cNvPr id="57355" name="Rectangle 15">
                <a:extLst>
                  <a:ext uri="{FF2B5EF4-FFF2-40B4-BE49-F238E27FC236}">
                    <a16:creationId xmlns:a16="http://schemas.microsoft.com/office/drawing/2014/main" id="{D65A307F-6B45-37FC-35D0-ECA10859FB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7356" name="Rectangle 16">
                <a:extLst>
                  <a:ext uri="{FF2B5EF4-FFF2-40B4-BE49-F238E27FC236}">
                    <a16:creationId xmlns:a16="http://schemas.microsoft.com/office/drawing/2014/main" id="{1D517194-CB0E-A368-67AB-0D989ECD3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507"/>
                <a:ext cx="103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CancelButton</a:t>
                </a:r>
              </a:p>
            </p:txBody>
          </p:sp>
        </p:grpSp>
        <p:cxnSp>
          <p:nvCxnSpPr>
            <p:cNvPr id="57353" name="AutoShape 17">
              <a:extLst>
                <a:ext uri="{FF2B5EF4-FFF2-40B4-BE49-F238E27FC236}">
                  <a16:creationId xmlns:a16="http://schemas.microsoft.com/office/drawing/2014/main" id="{51B20DBB-E36D-6945-26CF-E2093BB2C1C6}"/>
                </a:ext>
              </a:extLst>
            </p:cNvPr>
            <p:cNvCxnSpPr>
              <a:cxnSpLocks noChangeShapeType="1"/>
              <a:stCxn id="57355" idx="3"/>
              <a:endCxn id="57359" idx="2"/>
            </p:cNvCxnSpPr>
            <p:nvPr/>
          </p:nvCxnSpPr>
          <p:spPr bwMode="auto">
            <a:xfrm flipV="1">
              <a:off x="2009" y="1308"/>
              <a:ext cx="740" cy="76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54" name="AutoShape 18">
              <a:extLst>
                <a:ext uri="{FF2B5EF4-FFF2-40B4-BE49-F238E27FC236}">
                  <a16:creationId xmlns:a16="http://schemas.microsoft.com/office/drawing/2014/main" id="{3263AB00-7A27-9616-956F-C10DBD59E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320"/>
              <a:ext cx="278" cy="24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20963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DEB640A-1176-AED8-DAF4-362983ED0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Packages	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848E8CFD-1C19-53EA-DD25-A37FA51C1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8663" y="1133475"/>
            <a:ext cx="8255000" cy="4800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Packages help you to organize UML models to increase their readability.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We can use the UML package mechanism to organize classes into subsystems.  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Any complex system can be decomposed into subsystems, where each subsystem is modeled as a package.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132">
            <a:extLst>
              <a:ext uri="{FF2B5EF4-FFF2-40B4-BE49-F238E27FC236}">
                <a16:creationId xmlns:a16="http://schemas.microsoft.com/office/drawing/2014/main" id="{FA5153B3-D7F5-209F-0D7E-4E6EE05E368F}"/>
              </a:ext>
            </a:extLst>
          </p:cNvPr>
          <p:cNvGrpSpPr>
            <a:grpSpLocks/>
          </p:cNvGrpSpPr>
          <p:nvPr/>
        </p:nvGrpSpPr>
        <p:grpSpPr bwMode="auto">
          <a:xfrm>
            <a:off x="5835651" y="2676526"/>
            <a:ext cx="3311525" cy="1336675"/>
            <a:chOff x="2716" y="1686"/>
            <a:chExt cx="2086" cy="842"/>
          </a:xfrm>
        </p:grpSpPr>
        <p:sp>
          <p:nvSpPr>
            <p:cNvPr id="59413" name="Rectangle 8">
              <a:extLst>
                <a:ext uri="{FF2B5EF4-FFF2-40B4-BE49-F238E27FC236}">
                  <a16:creationId xmlns:a16="http://schemas.microsoft.com/office/drawing/2014/main" id="{25F2B8F0-BBC9-2211-725A-256692E02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1846"/>
              <a:ext cx="2086" cy="68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9414" name="Rectangle 9">
              <a:extLst>
                <a:ext uri="{FF2B5EF4-FFF2-40B4-BE49-F238E27FC236}">
                  <a16:creationId xmlns:a16="http://schemas.microsoft.com/office/drawing/2014/main" id="{D1221109-EB81-1F02-FBC1-79E9C1D22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" y="2039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Account</a:t>
              </a:r>
              <a:endParaRPr lang="en-US" altLang="en-US" sz="2000" b="0"/>
            </a:p>
          </p:txBody>
        </p:sp>
        <p:sp>
          <p:nvSpPr>
            <p:cNvPr id="59415" name="Freeform 42">
              <a:extLst>
                <a:ext uri="{FF2B5EF4-FFF2-40B4-BE49-F238E27FC236}">
                  <a16:creationId xmlns:a16="http://schemas.microsoft.com/office/drawing/2014/main" id="{C2515379-4849-95F4-F97A-E24BB4DA4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1686"/>
              <a:ext cx="392" cy="160"/>
            </a:xfrm>
            <a:custGeom>
              <a:avLst/>
              <a:gdLst>
                <a:gd name="T0" fmla="*/ 0 w 392"/>
                <a:gd name="T1" fmla="*/ 160 h 160"/>
                <a:gd name="T2" fmla="*/ 72 w 392"/>
                <a:gd name="T3" fmla="*/ 0 h 160"/>
                <a:gd name="T4" fmla="*/ 320 w 392"/>
                <a:gd name="T5" fmla="*/ 0 h 160"/>
                <a:gd name="T6" fmla="*/ 392 w 392"/>
                <a:gd name="T7" fmla="*/ 160 h 160"/>
                <a:gd name="T8" fmla="*/ 0 w 392"/>
                <a:gd name="T9" fmla="*/ 16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160"/>
                <a:gd name="T17" fmla="*/ 392 w 392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160">
                  <a:moveTo>
                    <a:pt x="0" y="160"/>
                  </a:moveTo>
                  <a:lnTo>
                    <a:pt x="72" y="0"/>
                  </a:lnTo>
                  <a:lnTo>
                    <a:pt x="320" y="0"/>
                  </a:lnTo>
                  <a:lnTo>
                    <a:pt x="392" y="160"/>
                  </a:lnTo>
                  <a:lnTo>
                    <a:pt x="0" y="16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59416" name="Group 88">
              <a:extLst>
                <a:ext uri="{FF2B5EF4-FFF2-40B4-BE49-F238E27FC236}">
                  <a16:creationId xmlns:a16="http://schemas.microsoft.com/office/drawing/2014/main" id="{7F3C4FC7-1149-A5FD-8110-341CC3D0CD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9" y="1857"/>
              <a:ext cx="647" cy="648"/>
              <a:chOff x="1114" y="583"/>
              <a:chExt cx="3350" cy="3353"/>
            </a:xfrm>
          </p:grpSpPr>
          <p:sp>
            <p:nvSpPr>
              <p:cNvPr id="59417" name="Rectangle 89">
                <a:extLst>
                  <a:ext uri="{FF2B5EF4-FFF2-40B4-BE49-F238E27FC236}">
                    <a16:creationId xmlns:a16="http://schemas.microsoft.com/office/drawing/2014/main" id="{CBF42A71-E24F-742D-0656-B3F63E809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2488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18" name="Line 90">
                <a:extLst>
                  <a:ext uri="{FF2B5EF4-FFF2-40B4-BE49-F238E27FC236}">
                    <a16:creationId xmlns:a16="http://schemas.microsoft.com/office/drawing/2014/main" id="{E63FA1DE-9FCA-934D-EDE1-18FAC9E2B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4" y="292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19" name="Line 91">
                <a:extLst>
                  <a:ext uri="{FF2B5EF4-FFF2-40B4-BE49-F238E27FC236}">
                    <a16:creationId xmlns:a16="http://schemas.microsoft.com/office/drawing/2014/main" id="{DC3C57FD-9476-2CE1-3EF6-7C5507EA2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4" y="3432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20" name="AutoShape 92">
                <a:extLst>
                  <a:ext uri="{FF2B5EF4-FFF2-40B4-BE49-F238E27FC236}">
                    <a16:creationId xmlns:a16="http://schemas.microsoft.com/office/drawing/2014/main" id="{1EB4B7AB-7107-C144-08FF-DB1D1D673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22303">
                <a:off x="2322" y="1992"/>
                <a:ext cx="204" cy="17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21" name="Line 93">
                <a:extLst>
                  <a:ext uri="{FF2B5EF4-FFF2-40B4-BE49-F238E27FC236}">
                    <a16:creationId xmlns:a16="http://schemas.microsoft.com/office/drawing/2014/main" id="{C6873FE5-4E79-EADE-E409-1E0FE9B38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0" y="2136"/>
                <a:ext cx="800" cy="3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22" name="Rectangle 94">
                <a:extLst>
                  <a:ext uri="{FF2B5EF4-FFF2-40B4-BE49-F238E27FC236}">
                    <a16:creationId xmlns:a16="http://schemas.microsoft.com/office/drawing/2014/main" id="{3944D627-FC54-EEA5-1599-C63B8B349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23" name="Line 95">
                <a:extLst>
                  <a:ext uri="{FF2B5EF4-FFF2-40B4-BE49-F238E27FC236}">
                    <a16:creationId xmlns:a16="http://schemas.microsoft.com/office/drawing/2014/main" id="{1C644C99-F77E-06D1-C1B7-F3BFB4ADF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92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24" name="Line 96">
                <a:extLst>
                  <a:ext uri="{FF2B5EF4-FFF2-40B4-BE49-F238E27FC236}">
                    <a16:creationId xmlns:a16="http://schemas.microsoft.com/office/drawing/2014/main" id="{C3E98801-1BB9-51D4-BF5F-1086833F7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432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25" name="AutoShape 97">
                <a:extLst>
                  <a:ext uri="{FF2B5EF4-FFF2-40B4-BE49-F238E27FC236}">
                    <a16:creationId xmlns:a16="http://schemas.microsoft.com/office/drawing/2014/main" id="{98679569-A024-7781-8F93-B3BF4F7C2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6418">
                <a:off x="2626" y="1992"/>
                <a:ext cx="204" cy="17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26" name="Line 98">
                <a:extLst>
                  <a:ext uri="{FF2B5EF4-FFF2-40B4-BE49-F238E27FC236}">
                    <a16:creationId xmlns:a16="http://schemas.microsoft.com/office/drawing/2014/main" id="{28DB7B60-90CB-E239-4C59-10702542F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216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27" name="Rectangle 99">
                <a:extLst>
                  <a:ext uri="{FF2B5EF4-FFF2-40B4-BE49-F238E27FC236}">
                    <a16:creationId xmlns:a16="http://schemas.microsoft.com/office/drawing/2014/main" id="{69CD202A-304A-2E18-F72F-DB1ABB389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496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28" name="Line 100">
                <a:extLst>
                  <a:ext uri="{FF2B5EF4-FFF2-40B4-BE49-F238E27FC236}">
                    <a16:creationId xmlns:a16="http://schemas.microsoft.com/office/drawing/2014/main" id="{1FFF167B-28E7-2078-315B-1A190CBCC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92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29" name="Line 101">
                <a:extLst>
                  <a:ext uri="{FF2B5EF4-FFF2-40B4-BE49-F238E27FC236}">
                    <a16:creationId xmlns:a16="http://schemas.microsoft.com/office/drawing/2014/main" id="{D6103A10-425E-3C7A-9A34-7FFA59960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3432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30" name="AutoShape 102">
                <a:extLst>
                  <a:ext uri="{FF2B5EF4-FFF2-40B4-BE49-F238E27FC236}">
                    <a16:creationId xmlns:a16="http://schemas.microsoft.com/office/drawing/2014/main" id="{D95365AE-9F45-25CB-4AC6-352DFD501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3324731">
                <a:off x="2930" y="1976"/>
                <a:ext cx="204" cy="17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31" name="Line 103">
                <a:extLst>
                  <a:ext uri="{FF2B5EF4-FFF2-40B4-BE49-F238E27FC236}">
                    <a16:creationId xmlns:a16="http://schemas.microsoft.com/office/drawing/2014/main" id="{4E65CAFE-0D33-E8C7-A061-2D9ABE3AE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6" y="2112"/>
                <a:ext cx="904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32" name="Rectangle 104">
                <a:extLst>
                  <a:ext uri="{FF2B5EF4-FFF2-40B4-BE49-F238E27FC236}">
                    <a16:creationId xmlns:a16="http://schemas.microsoft.com/office/drawing/2014/main" id="{5758B96A-854E-57A2-7712-3F615CF73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4" y="583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33" name="Line 105">
                <a:extLst>
                  <a:ext uri="{FF2B5EF4-FFF2-40B4-BE49-F238E27FC236}">
                    <a16:creationId xmlns:a16="http://schemas.microsoft.com/office/drawing/2014/main" id="{D255A7D3-3343-E823-E9C1-AABE29757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4" y="1015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34" name="Line 106">
                <a:extLst>
                  <a:ext uri="{FF2B5EF4-FFF2-40B4-BE49-F238E27FC236}">
                    <a16:creationId xmlns:a16="http://schemas.microsoft.com/office/drawing/2014/main" id="{F084EE5B-8A3E-0B22-7D94-1B621A7284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4" y="1519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</p:grpSp>
      <p:grpSp>
        <p:nvGrpSpPr>
          <p:cNvPr id="4" name="Group 134">
            <a:extLst>
              <a:ext uri="{FF2B5EF4-FFF2-40B4-BE49-F238E27FC236}">
                <a16:creationId xmlns:a16="http://schemas.microsoft.com/office/drawing/2014/main" id="{91C5E335-994C-6A2F-2336-8B5A8A6E65CF}"/>
              </a:ext>
            </a:extLst>
          </p:cNvPr>
          <p:cNvGrpSpPr>
            <a:grpSpLocks/>
          </p:cNvGrpSpPr>
          <p:nvPr/>
        </p:nvGrpSpPr>
        <p:grpSpPr bwMode="auto">
          <a:xfrm>
            <a:off x="6394451" y="4102100"/>
            <a:ext cx="2881313" cy="1066800"/>
            <a:chOff x="3068" y="2584"/>
            <a:chExt cx="1815" cy="672"/>
          </a:xfrm>
        </p:grpSpPr>
        <p:sp>
          <p:nvSpPr>
            <p:cNvPr id="59406" name="Rectangle 12">
              <a:extLst>
                <a:ext uri="{FF2B5EF4-FFF2-40B4-BE49-F238E27FC236}">
                  <a16:creationId xmlns:a16="http://schemas.microsoft.com/office/drawing/2014/main" id="{E219B656-D635-3B37-17FA-EE71D8674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2744"/>
              <a:ext cx="1815" cy="5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9407" name="Rectangle 13">
              <a:extLst>
                <a:ext uri="{FF2B5EF4-FFF2-40B4-BE49-F238E27FC236}">
                  <a16:creationId xmlns:a16="http://schemas.microsoft.com/office/drawing/2014/main" id="{B32630A2-6E3A-11FD-2D99-FEEFFE48C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2908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Customer</a:t>
              </a:r>
              <a:endParaRPr lang="en-US" altLang="en-US" sz="2000" b="0"/>
            </a:p>
          </p:txBody>
        </p:sp>
        <p:sp>
          <p:nvSpPr>
            <p:cNvPr id="59408" name="Freeform 41">
              <a:extLst>
                <a:ext uri="{FF2B5EF4-FFF2-40B4-BE49-F238E27FC236}">
                  <a16:creationId xmlns:a16="http://schemas.microsoft.com/office/drawing/2014/main" id="{AE9968DC-6C77-A3D9-7F6A-34FA168FA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2584"/>
              <a:ext cx="392" cy="160"/>
            </a:xfrm>
            <a:custGeom>
              <a:avLst/>
              <a:gdLst>
                <a:gd name="T0" fmla="*/ 0 w 392"/>
                <a:gd name="T1" fmla="*/ 160 h 160"/>
                <a:gd name="T2" fmla="*/ 72 w 392"/>
                <a:gd name="T3" fmla="*/ 0 h 160"/>
                <a:gd name="T4" fmla="*/ 320 w 392"/>
                <a:gd name="T5" fmla="*/ 0 h 160"/>
                <a:gd name="T6" fmla="*/ 392 w 392"/>
                <a:gd name="T7" fmla="*/ 160 h 160"/>
                <a:gd name="T8" fmla="*/ 0 w 392"/>
                <a:gd name="T9" fmla="*/ 16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160"/>
                <a:gd name="T17" fmla="*/ 392 w 392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160">
                  <a:moveTo>
                    <a:pt x="0" y="160"/>
                  </a:moveTo>
                  <a:lnTo>
                    <a:pt x="72" y="0"/>
                  </a:lnTo>
                  <a:lnTo>
                    <a:pt x="320" y="0"/>
                  </a:lnTo>
                  <a:lnTo>
                    <a:pt x="392" y="160"/>
                  </a:lnTo>
                  <a:lnTo>
                    <a:pt x="0" y="16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59409" name="Group 127">
              <a:extLst>
                <a:ext uri="{FF2B5EF4-FFF2-40B4-BE49-F238E27FC236}">
                  <a16:creationId xmlns:a16="http://schemas.microsoft.com/office/drawing/2014/main" id="{83721D0D-D020-9304-C816-AF2DD4178A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2857"/>
              <a:ext cx="176" cy="278"/>
              <a:chOff x="4337" y="2537"/>
              <a:chExt cx="176" cy="278"/>
            </a:xfrm>
          </p:grpSpPr>
          <p:sp>
            <p:nvSpPr>
              <p:cNvPr id="59410" name="Rectangle 123">
                <a:extLst>
                  <a:ext uri="{FF2B5EF4-FFF2-40B4-BE49-F238E27FC236}">
                    <a16:creationId xmlns:a16="http://schemas.microsoft.com/office/drawing/2014/main" id="{0CD3347B-9F04-A84F-4D7D-7594B0C7A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2537"/>
                <a:ext cx="176" cy="27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11" name="Line 124">
                <a:extLst>
                  <a:ext uri="{FF2B5EF4-FFF2-40B4-BE49-F238E27FC236}">
                    <a16:creationId xmlns:a16="http://schemas.microsoft.com/office/drawing/2014/main" id="{C28946A9-F9C8-FDA3-0546-3B95EB141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620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12" name="Line 125">
                <a:extLst>
                  <a:ext uri="{FF2B5EF4-FFF2-40B4-BE49-F238E27FC236}">
                    <a16:creationId xmlns:a16="http://schemas.microsoft.com/office/drawing/2014/main" id="{D3004D10-D819-9C37-E526-AAC2C2B9F5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718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</p:grpSp>
      <p:grpSp>
        <p:nvGrpSpPr>
          <p:cNvPr id="6" name="Group 133">
            <a:extLst>
              <a:ext uri="{FF2B5EF4-FFF2-40B4-BE49-F238E27FC236}">
                <a16:creationId xmlns:a16="http://schemas.microsoft.com/office/drawing/2014/main" id="{B765819C-D440-F929-2710-289D53212370}"/>
              </a:ext>
            </a:extLst>
          </p:cNvPr>
          <p:cNvGrpSpPr>
            <a:grpSpLocks/>
          </p:cNvGrpSpPr>
          <p:nvPr/>
        </p:nvGrpSpPr>
        <p:grpSpPr bwMode="auto">
          <a:xfrm>
            <a:off x="3328988" y="4038601"/>
            <a:ext cx="2520950" cy="1141413"/>
            <a:chOff x="1137" y="2544"/>
            <a:chExt cx="1588" cy="719"/>
          </a:xfrm>
        </p:grpSpPr>
        <p:sp>
          <p:nvSpPr>
            <p:cNvPr id="59399" name="Rectangle 10">
              <a:extLst>
                <a:ext uri="{FF2B5EF4-FFF2-40B4-BE49-F238E27FC236}">
                  <a16:creationId xmlns:a16="http://schemas.microsoft.com/office/drawing/2014/main" id="{37341CA5-58AB-F0CA-38C3-C99DFB9F6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704"/>
              <a:ext cx="1588" cy="55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9400" name="Rectangle 11">
              <a:extLst>
                <a:ext uri="{FF2B5EF4-FFF2-40B4-BE49-F238E27FC236}">
                  <a16:creationId xmlns:a16="http://schemas.microsoft.com/office/drawing/2014/main" id="{18BB6A40-BD16-2ECF-C4DD-ADF71992C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2886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Bank</a:t>
              </a:r>
              <a:endParaRPr lang="en-US" altLang="en-US" sz="2000" b="0"/>
            </a:p>
          </p:txBody>
        </p:sp>
        <p:sp>
          <p:nvSpPr>
            <p:cNvPr id="59401" name="Freeform 45">
              <a:extLst>
                <a:ext uri="{FF2B5EF4-FFF2-40B4-BE49-F238E27FC236}">
                  <a16:creationId xmlns:a16="http://schemas.microsoft.com/office/drawing/2014/main" id="{5A070268-F4A8-9BE9-9751-0153ACB3F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2544"/>
              <a:ext cx="392" cy="160"/>
            </a:xfrm>
            <a:custGeom>
              <a:avLst/>
              <a:gdLst>
                <a:gd name="T0" fmla="*/ 0 w 392"/>
                <a:gd name="T1" fmla="*/ 160 h 160"/>
                <a:gd name="T2" fmla="*/ 72 w 392"/>
                <a:gd name="T3" fmla="*/ 0 h 160"/>
                <a:gd name="T4" fmla="*/ 320 w 392"/>
                <a:gd name="T5" fmla="*/ 0 h 160"/>
                <a:gd name="T6" fmla="*/ 392 w 392"/>
                <a:gd name="T7" fmla="*/ 160 h 160"/>
                <a:gd name="T8" fmla="*/ 0 w 392"/>
                <a:gd name="T9" fmla="*/ 16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160"/>
                <a:gd name="T17" fmla="*/ 392 w 392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160">
                  <a:moveTo>
                    <a:pt x="0" y="160"/>
                  </a:moveTo>
                  <a:lnTo>
                    <a:pt x="72" y="0"/>
                  </a:lnTo>
                  <a:lnTo>
                    <a:pt x="320" y="0"/>
                  </a:lnTo>
                  <a:lnTo>
                    <a:pt x="392" y="160"/>
                  </a:lnTo>
                  <a:lnTo>
                    <a:pt x="0" y="16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59402" name="Group 128">
              <a:extLst>
                <a:ext uri="{FF2B5EF4-FFF2-40B4-BE49-F238E27FC236}">
                  <a16:creationId xmlns:a16="http://schemas.microsoft.com/office/drawing/2014/main" id="{A3B3E6FE-8B65-143D-5D7D-1D94140649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2861"/>
              <a:ext cx="176" cy="278"/>
              <a:chOff x="4337" y="2537"/>
              <a:chExt cx="176" cy="278"/>
            </a:xfrm>
          </p:grpSpPr>
          <p:sp>
            <p:nvSpPr>
              <p:cNvPr id="59403" name="Rectangle 129">
                <a:extLst>
                  <a:ext uri="{FF2B5EF4-FFF2-40B4-BE49-F238E27FC236}">
                    <a16:creationId xmlns:a16="http://schemas.microsoft.com/office/drawing/2014/main" id="{5AB8077A-86D6-4899-5D16-E9E0F9C61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2537"/>
                <a:ext cx="176" cy="27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59404" name="Line 130">
                <a:extLst>
                  <a:ext uri="{FF2B5EF4-FFF2-40B4-BE49-F238E27FC236}">
                    <a16:creationId xmlns:a16="http://schemas.microsoft.com/office/drawing/2014/main" id="{DA5DA8C2-BFF0-9C16-B10C-B42B42ABC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620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9405" name="Line 131">
                <a:extLst>
                  <a:ext uri="{FF2B5EF4-FFF2-40B4-BE49-F238E27FC236}">
                    <a16:creationId xmlns:a16="http://schemas.microsoft.com/office/drawing/2014/main" id="{3C2070A3-6132-87C6-D8CE-B5FCB899A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718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800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0B36089-4456-09D6-1CF5-985E6E73D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>
                <a:ea typeface="ＭＳ Ｐゴシック" panose="020B0600070205080204" pitchFamily="34" charset="-128"/>
              </a:rPr>
              <a:t>Object Modeling in Practice</a:t>
            </a:r>
          </a:p>
        </p:txBody>
      </p:sp>
      <p:sp>
        <p:nvSpPr>
          <p:cNvPr id="61443" name="Text Box 13">
            <a:extLst>
              <a:ext uri="{FF2B5EF4-FFF2-40B4-BE49-F238E27FC236}">
                <a16:creationId xmlns:a16="http://schemas.microsoft.com/office/drawing/2014/main" id="{E505A799-145C-1035-50C4-A1ECA03C6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1" y="4956176"/>
            <a:ext cx="86852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Class Identification: Name of Class, Attributes and Methods</a:t>
            </a:r>
          </a:p>
        </p:txBody>
      </p:sp>
      <p:sp>
        <p:nvSpPr>
          <p:cNvPr id="149518" name="Text Box 14">
            <a:extLst>
              <a:ext uri="{FF2B5EF4-FFF2-40B4-BE49-F238E27FC236}">
                <a16:creationId xmlns:a16="http://schemas.microsoft.com/office/drawing/2014/main" id="{E080BE03-61E9-4F97-990A-1F6272AF0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3783" y="1940223"/>
            <a:ext cx="310673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 dirty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Verdana" panose="020B0604030504040204" pitchFamily="34" charset="0"/>
              </a:rPr>
              <a:t>Is </a:t>
            </a:r>
            <a:r>
              <a:rPr lang="en-US" altLang="en-US" sz="1800" dirty="0">
                <a:solidFill>
                  <a:srgbClr val="3333FF"/>
                </a:solidFill>
                <a:latin typeface="Verdana" panose="020B0604030504040204" pitchFamily="34" charset="0"/>
              </a:rPr>
              <a:t>Foo</a:t>
            </a:r>
            <a:r>
              <a:rPr lang="en-US" altLang="en-US" sz="1800" dirty="0">
                <a:solidFill>
                  <a:schemeClr val="tx1"/>
                </a:solidFill>
                <a:latin typeface="Verdana" panose="020B0604030504040204" pitchFamily="34" charset="0"/>
              </a:rPr>
              <a:t> the right name?</a:t>
            </a:r>
            <a:endParaRPr lang="en-US" altLang="en-US" sz="1800" dirty="0">
              <a:solidFill>
                <a:schemeClr val="tx1"/>
              </a:solidFill>
              <a:latin typeface="Palatino" charset="0"/>
            </a:endParaRP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B9BDD30F-1433-88CB-6B96-1819C0163B8C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1371600"/>
            <a:ext cx="1530350" cy="2325688"/>
            <a:chOff x="2486" y="864"/>
            <a:chExt cx="964" cy="1465"/>
          </a:xfrm>
        </p:grpSpPr>
        <p:grpSp>
          <p:nvGrpSpPr>
            <p:cNvPr id="61446" name="Group 16">
              <a:extLst>
                <a:ext uri="{FF2B5EF4-FFF2-40B4-BE49-F238E27FC236}">
                  <a16:creationId xmlns:a16="http://schemas.microsoft.com/office/drawing/2014/main" id="{CD72153E-9DBF-42AC-639A-CBA33DB1F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864"/>
              <a:ext cx="912" cy="1440"/>
              <a:chOff x="1536" y="2592"/>
              <a:chExt cx="864" cy="960"/>
            </a:xfrm>
          </p:grpSpPr>
          <p:sp>
            <p:nvSpPr>
              <p:cNvPr id="61453" name="Rectangle 17">
                <a:extLst>
                  <a:ext uri="{FF2B5EF4-FFF2-40B4-BE49-F238E27FC236}">
                    <a16:creationId xmlns:a16="http://schemas.microsoft.com/office/drawing/2014/main" id="{14C85327-6083-9603-EEC7-2B8A0A70D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1454" name="Line 18">
                <a:extLst>
                  <a:ext uri="{FF2B5EF4-FFF2-40B4-BE49-F238E27FC236}">
                    <a16:creationId xmlns:a16="http://schemas.microsoft.com/office/drawing/2014/main" id="{B8047D81-C3B3-34C1-F727-31C157669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1455" name="Line 19">
                <a:extLst>
                  <a:ext uri="{FF2B5EF4-FFF2-40B4-BE49-F238E27FC236}">
                    <a16:creationId xmlns:a16="http://schemas.microsoft.com/office/drawing/2014/main" id="{7C6B1805-FCA5-1DBD-1C67-F3210E648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1447" name="Text Box 20">
              <a:extLst>
                <a:ext uri="{FF2B5EF4-FFF2-40B4-BE49-F238E27FC236}">
                  <a16:creationId xmlns:a16="http://schemas.microsoft.com/office/drawing/2014/main" id="{6AD99646-8411-054A-58E6-C33535D14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946"/>
              <a:ext cx="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Foo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1448" name="Text Box 21">
              <a:extLst>
                <a:ext uri="{FF2B5EF4-FFF2-40B4-BE49-F238E27FC236}">
                  <a16:creationId xmlns:a16="http://schemas.microsoft.com/office/drawing/2014/main" id="{BB71766D-8036-8701-9D99-C241A1A1B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282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61449" name="Text Box 22">
              <a:extLst>
                <a:ext uri="{FF2B5EF4-FFF2-40B4-BE49-F238E27FC236}">
                  <a16:creationId xmlns:a16="http://schemas.microsoft.com/office/drawing/2014/main" id="{1D3472D7-75F6-A88B-EE17-6C02D9B13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522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61450" name="Text Box 23">
              <a:extLst>
                <a:ext uri="{FF2B5EF4-FFF2-40B4-BE49-F238E27FC236}">
                  <a16:creationId xmlns:a16="http://schemas.microsoft.com/office/drawing/2014/main" id="{EDCFDD1A-7BA2-F6AD-BABF-DCB4D9FA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810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61451" name="Text Box 24">
              <a:extLst>
                <a:ext uri="{FF2B5EF4-FFF2-40B4-BE49-F238E27FC236}">
                  <a16:creationId xmlns:a16="http://schemas.microsoft.com/office/drawing/2014/main" id="{0DEBCB67-AD6E-1FB7-9EE7-1B511307C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954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1452" name="Text Box 25">
              <a:extLst>
                <a:ext uri="{FF2B5EF4-FFF2-40B4-BE49-F238E27FC236}">
                  <a16:creationId xmlns:a16="http://schemas.microsoft.com/office/drawing/2014/main" id="{F081CB6C-8509-5790-0563-93CE95B64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2098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043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8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7100A08-6C1A-F093-78D9-2485018BD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222250"/>
            <a:ext cx="8610600" cy="70485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Object Modeling in Practice:  Brainstorming </a:t>
            </a:r>
          </a:p>
        </p:txBody>
      </p:sp>
      <p:grpSp>
        <p:nvGrpSpPr>
          <p:cNvPr id="63491" name="Group 3">
            <a:extLst>
              <a:ext uri="{FF2B5EF4-FFF2-40B4-BE49-F238E27FC236}">
                <a16:creationId xmlns:a16="http://schemas.microsoft.com/office/drawing/2014/main" id="{B8B8F90C-4AED-00AC-FDD5-B2563C363AFB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1371600"/>
            <a:ext cx="1530350" cy="2325688"/>
            <a:chOff x="2486" y="864"/>
            <a:chExt cx="964" cy="1465"/>
          </a:xfrm>
        </p:grpSpPr>
        <p:grpSp>
          <p:nvGrpSpPr>
            <p:cNvPr id="63524" name="Group 4">
              <a:extLst>
                <a:ext uri="{FF2B5EF4-FFF2-40B4-BE49-F238E27FC236}">
                  <a16:creationId xmlns:a16="http://schemas.microsoft.com/office/drawing/2014/main" id="{BC806105-0B77-70BA-D3A4-77957F557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864"/>
              <a:ext cx="912" cy="1440"/>
              <a:chOff x="1536" y="2592"/>
              <a:chExt cx="864" cy="960"/>
            </a:xfrm>
          </p:grpSpPr>
          <p:sp>
            <p:nvSpPr>
              <p:cNvPr id="63531" name="Rectangle 5">
                <a:extLst>
                  <a:ext uri="{FF2B5EF4-FFF2-40B4-BE49-F238E27FC236}">
                    <a16:creationId xmlns:a16="http://schemas.microsoft.com/office/drawing/2014/main" id="{4D9B5E92-34FD-A9B3-3A8B-74B6E4DB8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3532" name="Line 6">
                <a:extLst>
                  <a:ext uri="{FF2B5EF4-FFF2-40B4-BE49-F238E27FC236}">
                    <a16:creationId xmlns:a16="http://schemas.microsoft.com/office/drawing/2014/main" id="{EE51F7B0-48FF-7037-EDB2-C0280D2CF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3533" name="Line 7">
                <a:extLst>
                  <a:ext uri="{FF2B5EF4-FFF2-40B4-BE49-F238E27FC236}">
                    <a16:creationId xmlns:a16="http://schemas.microsoft.com/office/drawing/2014/main" id="{59896024-F5BF-7298-45DF-BED31FF83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3525" name="Text Box 8">
              <a:extLst>
                <a:ext uri="{FF2B5EF4-FFF2-40B4-BE49-F238E27FC236}">
                  <a16:creationId xmlns:a16="http://schemas.microsoft.com/office/drawing/2014/main" id="{F5EE34CD-BDC3-6AEE-7804-5C0602294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946"/>
              <a:ext cx="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Foo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3526" name="Text Box 9">
              <a:extLst>
                <a:ext uri="{FF2B5EF4-FFF2-40B4-BE49-F238E27FC236}">
                  <a16:creationId xmlns:a16="http://schemas.microsoft.com/office/drawing/2014/main" id="{28FB1086-6069-5F00-499E-033CFF0FC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282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63527" name="Text Box 10">
              <a:extLst>
                <a:ext uri="{FF2B5EF4-FFF2-40B4-BE49-F238E27FC236}">
                  <a16:creationId xmlns:a16="http://schemas.microsoft.com/office/drawing/2014/main" id="{A66FF5D3-5AC2-2517-B78D-3A2B76CF8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522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63528" name="Text Box 11">
              <a:extLst>
                <a:ext uri="{FF2B5EF4-FFF2-40B4-BE49-F238E27FC236}">
                  <a16:creationId xmlns:a16="http://schemas.microsoft.com/office/drawing/2014/main" id="{4FB71950-2BCC-75AA-C32A-887EE7039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810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63529" name="Text Box 12">
              <a:extLst>
                <a:ext uri="{FF2B5EF4-FFF2-40B4-BE49-F238E27FC236}">
                  <a16:creationId xmlns:a16="http://schemas.microsoft.com/office/drawing/2014/main" id="{1CB35CDD-A33D-29FC-D764-FF5543BF6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954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3530" name="Text Box 13">
              <a:extLst>
                <a:ext uri="{FF2B5EF4-FFF2-40B4-BE49-F238E27FC236}">
                  <a16:creationId xmlns:a16="http://schemas.microsoft.com/office/drawing/2014/main" id="{3725E894-7D0A-537A-583F-8A7F8199C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2098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5DD49EF1-C9F1-966E-5A3E-2A7720BD6203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371600"/>
            <a:ext cx="1905000" cy="685800"/>
            <a:chOff x="2352" y="768"/>
            <a:chExt cx="1200" cy="1680"/>
          </a:xfrm>
        </p:grpSpPr>
        <p:sp>
          <p:nvSpPr>
            <p:cNvPr id="63522" name="Line 16">
              <a:extLst>
                <a:ext uri="{FF2B5EF4-FFF2-40B4-BE49-F238E27FC236}">
                  <a16:creationId xmlns:a16="http://schemas.microsoft.com/office/drawing/2014/main" id="{BBD4A629-6280-8229-F7FD-E62521A947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768"/>
              <a:ext cx="1056" cy="1584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3523" name="Line 17">
              <a:extLst>
                <a:ext uri="{FF2B5EF4-FFF2-40B4-BE49-F238E27FC236}">
                  <a16:creationId xmlns:a16="http://schemas.microsoft.com/office/drawing/2014/main" id="{F68C6F16-2843-5E77-C7E0-EBE4C4093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768"/>
              <a:ext cx="1200" cy="1680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B7EE20D4-46A3-E233-2F3D-D60A4AD6424A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3429000"/>
            <a:ext cx="1530350" cy="2325688"/>
            <a:chOff x="4080" y="810"/>
            <a:chExt cx="964" cy="1465"/>
          </a:xfrm>
        </p:grpSpPr>
        <p:grpSp>
          <p:nvGrpSpPr>
            <p:cNvPr id="63512" name="Group 19">
              <a:extLst>
                <a:ext uri="{FF2B5EF4-FFF2-40B4-BE49-F238E27FC236}">
                  <a16:creationId xmlns:a16="http://schemas.microsoft.com/office/drawing/2014/main" id="{C8DA4DA1-C192-E5A1-5FAF-DDE029E5DA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0" y="810"/>
              <a:ext cx="912" cy="1440"/>
              <a:chOff x="1536" y="2592"/>
              <a:chExt cx="864" cy="960"/>
            </a:xfrm>
          </p:grpSpPr>
          <p:sp>
            <p:nvSpPr>
              <p:cNvPr id="63519" name="Rectangle 20">
                <a:extLst>
                  <a:ext uri="{FF2B5EF4-FFF2-40B4-BE49-F238E27FC236}">
                    <a16:creationId xmlns:a16="http://schemas.microsoft.com/office/drawing/2014/main" id="{A4453375-C7F0-E2F2-E840-F18070482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3520" name="Line 21">
                <a:extLst>
                  <a:ext uri="{FF2B5EF4-FFF2-40B4-BE49-F238E27FC236}">
                    <a16:creationId xmlns:a16="http://schemas.microsoft.com/office/drawing/2014/main" id="{5D70DBB1-78DF-A208-5D83-0B690A0CF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3521" name="Line 22">
                <a:extLst>
                  <a:ext uri="{FF2B5EF4-FFF2-40B4-BE49-F238E27FC236}">
                    <a16:creationId xmlns:a16="http://schemas.microsoft.com/office/drawing/2014/main" id="{BB3E56DF-2897-BB48-E5D3-149A11F05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3513" name="Text Box 23">
              <a:extLst>
                <a:ext uri="{FF2B5EF4-FFF2-40B4-BE49-F238E27FC236}">
                  <a16:creationId xmlns:a16="http://schemas.microsoft.com/office/drawing/2014/main" id="{1CF88267-AEA0-ECD2-B850-932D1B0BA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2" y="906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3514" name="Text Box 24">
              <a:extLst>
                <a:ext uri="{FF2B5EF4-FFF2-40B4-BE49-F238E27FC236}">
                  <a16:creationId xmlns:a16="http://schemas.microsoft.com/office/drawing/2014/main" id="{9F62A4BF-94CF-8D8D-A382-26875773E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228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63515" name="Text Box 25">
              <a:extLst>
                <a:ext uri="{FF2B5EF4-FFF2-40B4-BE49-F238E27FC236}">
                  <a16:creationId xmlns:a16="http://schemas.microsoft.com/office/drawing/2014/main" id="{CB0F055D-5427-AD53-84F2-734DB65D1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468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63516" name="Text Box 26">
              <a:extLst>
                <a:ext uri="{FF2B5EF4-FFF2-40B4-BE49-F238E27FC236}">
                  <a16:creationId xmlns:a16="http://schemas.microsoft.com/office/drawing/2014/main" id="{01CCB058-1355-23DE-4270-5418BCFFC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756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63517" name="Text Box 27">
              <a:extLst>
                <a:ext uri="{FF2B5EF4-FFF2-40B4-BE49-F238E27FC236}">
                  <a16:creationId xmlns:a16="http://schemas.microsoft.com/office/drawing/2014/main" id="{E4C00606-37B0-17FD-F04C-69EDC4804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900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3518" name="Text Box 28">
              <a:extLst>
                <a:ext uri="{FF2B5EF4-FFF2-40B4-BE49-F238E27FC236}">
                  <a16:creationId xmlns:a16="http://schemas.microsoft.com/office/drawing/2014/main" id="{18A3975C-00BB-8861-6131-B2FA2BC42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44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sp>
        <p:nvSpPr>
          <p:cNvPr id="63495" name="Text Box 29">
            <a:extLst>
              <a:ext uri="{FF2B5EF4-FFF2-40B4-BE49-F238E27FC236}">
                <a16:creationId xmlns:a16="http://schemas.microsoft.com/office/drawing/2014/main" id="{D5C96F99-69CF-8262-4CEF-1E35999E6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239" y="5083175"/>
            <a:ext cx="310673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solidFill>
                <a:schemeClr val="tx1"/>
              </a:solidFill>
              <a:latin typeface="Palatino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Verdana" panose="020B0604030504040204" pitchFamily="34" charset="0"/>
              </a:rPr>
              <a:t>Is </a:t>
            </a:r>
            <a:r>
              <a:rPr lang="en-US" altLang="en-US" sz="1800">
                <a:solidFill>
                  <a:srgbClr val="3333FF"/>
                </a:solidFill>
                <a:latin typeface="Verdana" panose="020B0604030504040204" pitchFamily="34" charset="0"/>
              </a:rPr>
              <a:t>Foo</a:t>
            </a:r>
            <a:r>
              <a:rPr lang="en-US" altLang="en-US" sz="1800">
                <a:solidFill>
                  <a:schemeClr val="tx1"/>
                </a:solidFill>
                <a:latin typeface="Verdana" panose="020B0604030504040204" pitchFamily="34" charset="0"/>
              </a:rPr>
              <a:t> the right name?</a:t>
            </a:r>
          </a:p>
        </p:txBody>
      </p:sp>
      <p:grpSp>
        <p:nvGrpSpPr>
          <p:cNvPr id="63500" name="Group 31">
            <a:extLst>
              <a:ext uri="{FF2B5EF4-FFF2-40B4-BE49-F238E27FC236}">
                <a16:creationId xmlns:a16="http://schemas.microsoft.com/office/drawing/2014/main" id="{8FBCB720-ECE3-C1B9-34B1-2B1FAA2B47CA}"/>
              </a:ext>
            </a:extLst>
          </p:cNvPr>
          <p:cNvGrpSpPr>
            <a:grpSpLocks/>
          </p:cNvGrpSpPr>
          <p:nvPr/>
        </p:nvGrpSpPr>
        <p:grpSpPr bwMode="auto">
          <a:xfrm>
            <a:off x="2727326" y="1371600"/>
            <a:ext cx="1530350" cy="2325688"/>
            <a:chOff x="998" y="864"/>
            <a:chExt cx="964" cy="1465"/>
          </a:xfrm>
        </p:grpSpPr>
        <p:grpSp>
          <p:nvGrpSpPr>
            <p:cNvPr id="63502" name="Group 32">
              <a:extLst>
                <a:ext uri="{FF2B5EF4-FFF2-40B4-BE49-F238E27FC236}">
                  <a16:creationId xmlns:a16="http://schemas.microsoft.com/office/drawing/2014/main" id="{1D645F75-E09B-6AD4-5AA9-B3B08730B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864"/>
              <a:ext cx="912" cy="1440"/>
              <a:chOff x="1536" y="2592"/>
              <a:chExt cx="864" cy="960"/>
            </a:xfrm>
          </p:grpSpPr>
          <p:sp>
            <p:nvSpPr>
              <p:cNvPr id="63509" name="Rectangle 33">
                <a:extLst>
                  <a:ext uri="{FF2B5EF4-FFF2-40B4-BE49-F238E27FC236}">
                    <a16:creationId xmlns:a16="http://schemas.microsoft.com/office/drawing/2014/main" id="{244C7303-B52B-9B9F-B64C-C9843AD5D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3510" name="Line 34">
                <a:extLst>
                  <a:ext uri="{FF2B5EF4-FFF2-40B4-BE49-F238E27FC236}">
                    <a16:creationId xmlns:a16="http://schemas.microsoft.com/office/drawing/2014/main" id="{3994036F-969E-861D-3CA2-0D6519914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3511" name="Line 35">
                <a:extLst>
                  <a:ext uri="{FF2B5EF4-FFF2-40B4-BE49-F238E27FC236}">
                    <a16:creationId xmlns:a16="http://schemas.microsoft.com/office/drawing/2014/main" id="{CEAAEA5C-A5FB-48AA-4AE4-2C8AC8DF6F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3503" name="Text Box 36">
              <a:extLst>
                <a:ext uri="{FF2B5EF4-FFF2-40B4-BE49-F238E27FC236}">
                  <a16:creationId xmlns:a16="http://schemas.microsoft.com/office/drawing/2014/main" id="{1413B607-B0F5-DF1F-1752-B547F0118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960"/>
              <a:ext cx="6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“Dada”</a:t>
              </a:r>
            </a:p>
          </p:txBody>
        </p:sp>
        <p:sp>
          <p:nvSpPr>
            <p:cNvPr id="63504" name="Text Box 37">
              <a:extLst>
                <a:ext uri="{FF2B5EF4-FFF2-40B4-BE49-F238E27FC236}">
                  <a16:creationId xmlns:a16="http://schemas.microsoft.com/office/drawing/2014/main" id="{A58425C8-BC79-9486-2D83-9D20E7FAC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282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63505" name="Text Box 38">
              <a:extLst>
                <a:ext uri="{FF2B5EF4-FFF2-40B4-BE49-F238E27FC236}">
                  <a16:creationId xmlns:a16="http://schemas.microsoft.com/office/drawing/2014/main" id="{37889D75-E3C5-A1C4-A544-4DF141DF2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522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63506" name="Text Box 39">
              <a:extLst>
                <a:ext uri="{FF2B5EF4-FFF2-40B4-BE49-F238E27FC236}">
                  <a16:creationId xmlns:a16="http://schemas.microsoft.com/office/drawing/2014/main" id="{37ADA44B-6116-BE80-F7BF-44FD2908B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810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63507" name="Text Box 40">
              <a:extLst>
                <a:ext uri="{FF2B5EF4-FFF2-40B4-BE49-F238E27FC236}">
                  <a16:creationId xmlns:a16="http://schemas.microsoft.com/office/drawing/2014/main" id="{624CBECA-A32C-E940-B231-AC94F2B7A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954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3508" name="Text Box 41">
              <a:extLst>
                <a:ext uri="{FF2B5EF4-FFF2-40B4-BE49-F238E27FC236}">
                  <a16:creationId xmlns:a16="http://schemas.microsoft.com/office/drawing/2014/main" id="{CBF2E9AD-9450-7F07-61DD-D9CB3ED2C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2098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grpSp>
        <p:nvGrpSpPr>
          <p:cNvPr id="10" name="Group 43">
            <a:extLst>
              <a:ext uri="{FF2B5EF4-FFF2-40B4-BE49-F238E27FC236}">
                <a16:creationId xmlns:a16="http://schemas.microsoft.com/office/drawing/2014/main" id="{FA66D48D-9A61-C640-85FD-B5835C533A02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295400"/>
            <a:ext cx="1752600" cy="762000"/>
            <a:chOff x="2352" y="768"/>
            <a:chExt cx="1200" cy="1680"/>
          </a:xfrm>
        </p:grpSpPr>
        <p:sp>
          <p:nvSpPr>
            <p:cNvPr id="63498" name="Line 44">
              <a:extLst>
                <a:ext uri="{FF2B5EF4-FFF2-40B4-BE49-F238E27FC236}">
                  <a16:creationId xmlns:a16="http://schemas.microsoft.com/office/drawing/2014/main" id="{DE1F0113-7EC9-0CAA-88EA-21D0E62EA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768"/>
              <a:ext cx="1056" cy="1584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3499" name="Line 45">
              <a:extLst>
                <a:ext uri="{FF2B5EF4-FFF2-40B4-BE49-F238E27FC236}">
                  <a16:creationId xmlns:a16="http://schemas.microsoft.com/office/drawing/2014/main" id="{323A5E01-B332-77B3-A930-B5F03B1E4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768"/>
              <a:ext cx="1200" cy="1680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90169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C08B349-CB22-BEE2-8659-95AF0FD1B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Object Modeling in Practice: More classes</a:t>
            </a:r>
          </a:p>
        </p:txBody>
      </p:sp>
      <p:grpSp>
        <p:nvGrpSpPr>
          <p:cNvPr id="65539" name="Group 3">
            <a:extLst>
              <a:ext uri="{FF2B5EF4-FFF2-40B4-BE49-F238E27FC236}">
                <a16:creationId xmlns:a16="http://schemas.microsoft.com/office/drawing/2014/main" id="{486090D8-8479-0FA6-40BF-49A0A817E48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219200"/>
            <a:ext cx="1530350" cy="2325688"/>
            <a:chOff x="2304" y="768"/>
            <a:chExt cx="964" cy="1465"/>
          </a:xfrm>
        </p:grpSpPr>
        <p:grpSp>
          <p:nvGrpSpPr>
            <p:cNvPr id="65561" name="Group 4">
              <a:extLst>
                <a:ext uri="{FF2B5EF4-FFF2-40B4-BE49-F238E27FC236}">
                  <a16:creationId xmlns:a16="http://schemas.microsoft.com/office/drawing/2014/main" id="{A978522C-573C-ADE1-8F76-03884C7739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4" y="768"/>
              <a:ext cx="912" cy="1440"/>
              <a:chOff x="1536" y="2592"/>
              <a:chExt cx="864" cy="960"/>
            </a:xfrm>
          </p:grpSpPr>
          <p:sp>
            <p:nvSpPr>
              <p:cNvPr id="65567" name="Rectangle 5">
                <a:extLst>
                  <a:ext uri="{FF2B5EF4-FFF2-40B4-BE49-F238E27FC236}">
                    <a16:creationId xmlns:a16="http://schemas.microsoft.com/office/drawing/2014/main" id="{32E0D9FA-5F05-5B85-F7F6-B735364D6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5568" name="Line 6">
                <a:extLst>
                  <a:ext uri="{FF2B5EF4-FFF2-40B4-BE49-F238E27FC236}">
                    <a16:creationId xmlns:a16="http://schemas.microsoft.com/office/drawing/2014/main" id="{DCDBFE1A-4618-04E3-24CF-5272D0469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5569" name="Line 7">
                <a:extLst>
                  <a:ext uri="{FF2B5EF4-FFF2-40B4-BE49-F238E27FC236}">
                    <a16:creationId xmlns:a16="http://schemas.microsoft.com/office/drawing/2014/main" id="{9A67B7A0-0A36-0ECA-B204-CC5C8B38F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5562" name="Text Box 8">
              <a:extLst>
                <a:ext uri="{FF2B5EF4-FFF2-40B4-BE49-F238E27FC236}">
                  <a16:creationId xmlns:a16="http://schemas.microsoft.com/office/drawing/2014/main" id="{0DCCAC63-8D31-CDAF-B3AE-A6408074C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6" y="864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5563" name="Text Box 9">
              <a:extLst>
                <a:ext uri="{FF2B5EF4-FFF2-40B4-BE49-F238E27FC236}">
                  <a16:creationId xmlns:a16="http://schemas.microsoft.com/office/drawing/2014/main" id="{5FA4CF7E-EA5E-96B7-EF48-20AFF1D60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186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65564" name="Text Box 10">
              <a:extLst>
                <a:ext uri="{FF2B5EF4-FFF2-40B4-BE49-F238E27FC236}">
                  <a16:creationId xmlns:a16="http://schemas.microsoft.com/office/drawing/2014/main" id="{75DCCD92-36F8-6EFF-0C7B-CB8C763B4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714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65565" name="Text Box 11">
              <a:extLst>
                <a:ext uri="{FF2B5EF4-FFF2-40B4-BE49-F238E27FC236}">
                  <a16:creationId xmlns:a16="http://schemas.microsoft.com/office/drawing/2014/main" id="{6797E6D9-CE17-03B5-3FEB-25F143BBD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858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5566" name="Text Box 12">
              <a:extLst>
                <a:ext uri="{FF2B5EF4-FFF2-40B4-BE49-F238E27FC236}">
                  <a16:creationId xmlns:a16="http://schemas.microsoft.com/office/drawing/2014/main" id="{327FEE93-D42C-88D2-D9AC-C4E6FB55E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002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8876726F-3A5F-67CE-B6FF-27A159C5358A}"/>
              </a:ext>
            </a:extLst>
          </p:cNvPr>
          <p:cNvGrpSpPr>
            <a:grpSpLocks/>
          </p:cNvGrpSpPr>
          <p:nvPr/>
        </p:nvGrpSpPr>
        <p:grpSpPr bwMode="auto">
          <a:xfrm>
            <a:off x="8382001" y="1828800"/>
            <a:ext cx="1463675" cy="2286000"/>
            <a:chOff x="4080" y="1104"/>
            <a:chExt cx="922" cy="1440"/>
          </a:xfrm>
        </p:grpSpPr>
        <p:grpSp>
          <p:nvGrpSpPr>
            <p:cNvPr id="65555" name="Group 14">
              <a:extLst>
                <a:ext uri="{FF2B5EF4-FFF2-40B4-BE49-F238E27FC236}">
                  <a16:creationId xmlns:a16="http://schemas.microsoft.com/office/drawing/2014/main" id="{D401133B-2C83-6641-84BE-ADEE7FF78E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0" y="1104"/>
              <a:ext cx="912" cy="1440"/>
              <a:chOff x="1536" y="2592"/>
              <a:chExt cx="864" cy="960"/>
            </a:xfrm>
          </p:grpSpPr>
          <p:sp>
            <p:nvSpPr>
              <p:cNvPr id="65558" name="Rectangle 15">
                <a:extLst>
                  <a:ext uri="{FF2B5EF4-FFF2-40B4-BE49-F238E27FC236}">
                    <a16:creationId xmlns:a16="http://schemas.microsoft.com/office/drawing/2014/main" id="{A8ED94CC-AC30-0568-FF61-688815CE5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5559" name="Line 16">
                <a:extLst>
                  <a:ext uri="{FF2B5EF4-FFF2-40B4-BE49-F238E27FC236}">
                    <a16:creationId xmlns:a16="http://schemas.microsoft.com/office/drawing/2014/main" id="{D4874C66-5632-0872-4FA6-DA683C0E28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5560" name="Line 17">
                <a:extLst>
                  <a:ext uri="{FF2B5EF4-FFF2-40B4-BE49-F238E27FC236}">
                    <a16:creationId xmlns:a16="http://schemas.microsoft.com/office/drawing/2014/main" id="{223ABADE-ECA1-FCE9-D406-D79677A0A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5556" name="Text Box 18">
              <a:extLst>
                <a:ext uri="{FF2B5EF4-FFF2-40B4-BE49-F238E27FC236}">
                  <a16:creationId xmlns:a16="http://schemas.microsoft.com/office/drawing/2014/main" id="{AA2726C9-20EE-FBBF-70B5-000412B33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200"/>
              <a:ext cx="7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Customer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5557" name="Text Box 19">
              <a:extLst>
                <a:ext uri="{FF2B5EF4-FFF2-40B4-BE49-F238E27FC236}">
                  <a16:creationId xmlns:a16="http://schemas.microsoft.com/office/drawing/2014/main" id="{D8393EE2-4F07-975E-256F-3DF9F669F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22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Name</a:t>
              </a:r>
            </a:p>
          </p:txBody>
        </p:sp>
      </p:grpSp>
      <p:sp>
        <p:nvSpPr>
          <p:cNvPr id="151572" name="Text Box 20">
            <a:extLst>
              <a:ext uri="{FF2B5EF4-FFF2-40B4-BE49-F238E27FC236}">
                <a16:creationId xmlns:a16="http://schemas.microsoft.com/office/drawing/2014/main" id="{BAAD7783-911A-CF21-4FAC-5F7499C68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819401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FC0128"/>
                </a:solidFill>
                <a:latin typeface="Palatino" charset="0"/>
              </a:rPr>
              <a:t>CustomerId</a:t>
            </a:r>
          </a:p>
        </p:txBody>
      </p:sp>
      <p:sp>
        <p:nvSpPr>
          <p:cNvPr id="65542" name="Text Box 22">
            <a:extLst>
              <a:ext uri="{FF2B5EF4-FFF2-40B4-BE49-F238E27FC236}">
                <a16:creationId xmlns:a16="http://schemas.microsoft.com/office/drawing/2014/main" id="{594D0869-8911-BA10-2585-9FB4BEACA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286001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CustomerId</a:t>
            </a:r>
          </a:p>
        </p:txBody>
      </p:sp>
      <p:grpSp>
        <p:nvGrpSpPr>
          <p:cNvPr id="6" name="Group 23">
            <a:extLst>
              <a:ext uri="{FF2B5EF4-FFF2-40B4-BE49-F238E27FC236}">
                <a16:creationId xmlns:a16="http://schemas.microsoft.com/office/drawing/2014/main" id="{14EDDBAA-04E1-DFF0-EF2A-0AE78BF1DD66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2243138"/>
            <a:ext cx="1276350" cy="444500"/>
            <a:chOff x="1056" y="1545"/>
            <a:chExt cx="847" cy="613"/>
          </a:xfrm>
        </p:grpSpPr>
        <p:sp>
          <p:nvSpPr>
            <p:cNvPr id="65553" name="Text Box 24">
              <a:extLst>
                <a:ext uri="{FF2B5EF4-FFF2-40B4-BE49-F238E27FC236}">
                  <a16:creationId xmlns:a16="http://schemas.microsoft.com/office/drawing/2014/main" id="{F8692CFD-6D1B-A5E2-1347-76A703732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29"/>
              <a:ext cx="804" cy="4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80000"/>
                </a:lnSpc>
              </a:pPr>
              <a:endParaRPr lang="de-DE" altLang="en-US" sz="1800">
                <a:solidFill>
                  <a:srgbClr val="FC0128"/>
                </a:solidFill>
                <a:latin typeface="Palatino" charset="0"/>
              </a:endParaRPr>
            </a:p>
          </p:txBody>
        </p:sp>
        <p:sp>
          <p:nvSpPr>
            <p:cNvPr id="65554" name="Text Box 25">
              <a:extLst>
                <a:ext uri="{FF2B5EF4-FFF2-40B4-BE49-F238E27FC236}">
                  <a16:creationId xmlns:a16="http://schemas.microsoft.com/office/drawing/2014/main" id="{690467E7-CA65-EF06-8E29-04E939BF2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45"/>
              <a:ext cx="847" cy="4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80000"/>
                </a:lnSpc>
              </a:pPr>
              <a:r>
                <a:rPr lang="en-US" altLang="en-US" sz="1800">
                  <a:solidFill>
                    <a:srgbClr val="FC0128"/>
                  </a:solidFill>
                  <a:latin typeface="Palatino" charset="0"/>
                </a:rPr>
                <a:t>AccountId</a:t>
              </a:r>
            </a:p>
          </p:txBody>
        </p:sp>
      </p:grpSp>
      <p:grpSp>
        <p:nvGrpSpPr>
          <p:cNvPr id="7" name="Group 27">
            <a:extLst>
              <a:ext uri="{FF2B5EF4-FFF2-40B4-BE49-F238E27FC236}">
                <a16:creationId xmlns:a16="http://schemas.microsoft.com/office/drawing/2014/main" id="{BFAA2994-DF82-F5DE-8D29-7F78D6B5DEC9}"/>
              </a:ext>
            </a:extLst>
          </p:cNvPr>
          <p:cNvGrpSpPr>
            <a:grpSpLocks/>
          </p:cNvGrpSpPr>
          <p:nvPr/>
        </p:nvGrpSpPr>
        <p:grpSpPr bwMode="auto">
          <a:xfrm>
            <a:off x="2438401" y="2133600"/>
            <a:ext cx="1463675" cy="2286000"/>
            <a:chOff x="4080" y="1104"/>
            <a:chExt cx="922" cy="1440"/>
          </a:xfrm>
        </p:grpSpPr>
        <p:grpSp>
          <p:nvGrpSpPr>
            <p:cNvPr id="65547" name="Group 28">
              <a:extLst>
                <a:ext uri="{FF2B5EF4-FFF2-40B4-BE49-F238E27FC236}">
                  <a16:creationId xmlns:a16="http://schemas.microsoft.com/office/drawing/2014/main" id="{9AA67C46-E04A-FE1C-32C1-FBCDACBD1E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0" y="1104"/>
              <a:ext cx="912" cy="1440"/>
              <a:chOff x="1536" y="2592"/>
              <a:chExt cx="864" cy="960"/>
            </a:xfrm>
          </p:grpSpPr>
          <p:sp>
            <p:nvSpPr>
              <p:cNvPr id="65550" name="Rectangle 29">
                <a:extLst>
                  <a:ext uri="{FF2B5EF4-FFF2-40B4-BE49-F238E27FC236}">
                    <a16:creationId xmlns:a16="http://schemas.microsoft.com/office/drawing/2014/main" id="{2091F4E1-E23E-65FE-E888-0302CE493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5551" name="Line 30">
                <a:extLst>
                  <a:ext uri="{FF2B5EF4-FFF2-40B4-BE49-F238E27FC236}">
                    <a16:creationId xmlns:a16="http://schemas.microsoft.com/office/drawing/2014/main" id="{4B75DC4F-58E2-7F47-B6DE-73225C7AC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5552" name="Line 31">
                <a:extLst>
                  <a:ext uri="{FF2B5EF4-FFF2-40B4-BE49-F238E27FC236}">
                    <a16:creationId xmlns:a16="http://schemas.microsoft.com/office/drawing/2014/main" id="{CD472327-AE5C-4032-7F0A-A8658DA66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5548" name="Text Box 32">
              <a:extLst>
                <a:ext uri="{FF2B5EF4-FFF2-40B4-BE49-F238E27FC236}">
                  <a16:creationId xmlns:a16="http://schemas.microsoft.com/office/drawing/2014/main" id="{3B4A67BC-6B90-A04A-8826-E61BB495E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20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Bank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5549" name="Text Box 33">
              <a:extLst>
                <a:ext uri="{FF2B5EF4-FFF2-40B4-BE49-F238E27FC236}">
                  <a16:creationId xmlns:a16="http://schemas.microsoft.com/office/drawing/2014/main" id="{8C49279C-FC32-6072-ED8C-B8EA055A4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22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Name</a:t>
              </a:r>
            </a:p>
          </p:txBody>
        </p:sp>
      </p:grpSp>
      <p:sp>
        <p:nvSpPr>
          <p:cNvPr id="151586" name="Text Box 34">
            <a:extLst>
              <a:ext uri="{FF2B5EF4-FFF2-40B4-BE49-F238E27FC236}">
                <a16:creationId xmlns:a16="http://schemas.microsoft.com/office/drawing/2014/main" id="{8ECF03D5-CD4E-02CC-6F41-541D0817A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326" y="3886200"/>
            <a:ext cx="3001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3333FF"/>
                </a:solidFill>
                <a:latin typeface="Palatino" charset="0"/>
              </a:rPr>
              <a:t>1) Find New Classes</a:t>
            </a:r>
            <a:endParaRPr lang="en-US" altLang="en-US" sz="24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151587" name="Text Box 35">
            <a:extLst>
              <a:ext uri="{FF2B5EF4-FFF2-40B4-BE49-F238E27FC236}">
                <a16:creationId xmlns:a16="http://schemas.microsoft.com/office/drawing/2014/main" id="{3ABCEDDA-592E-0ABE-EDE8-A3EFCD62F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1" y="4356100"/>
            <a:ext cx="609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3333FF"/>
                </a:solidFill>
                <a:latin typeface="Palatino" charset="0"/>
              </a:rPr>
              <a:t>2) Review Names, Attributes and Methods</a:t>
            </a:r>
            <a:endParaRPr lang="en-US" altLang="en-US" sz="2400">
              <a:solidFill>
                <a:srgbClr val="C0C0C0"/>
              </a:solidFill>
              <a:latin typeface="Palatin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97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72" grpId="0" build="p" autoUpdateAnimBg="0" advAuto="5000"/>
      <p:bldP spid="151586" grpId="0" build="p" autoUpdateAnimBg="0"/>
      <p:bldP spid="151587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EBAEF93-9473-4A79-0D83-7375A0C19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Object Modeling in Practice: Associations</a:t>
            </a:r>
          </a:p>
        </p:txBody>
      </p:sp>
      <p:grpSp>
        <p:nvGrpSpPr>
          <p:cNvPr id="67587" name="Group 3">
            <a:extLst>
              <a:ext uri="{FF2B5EF4-FFF2-40B4-BE49-F238E27FC236}">
                <a16:creationId xmlns:a16="http://schemas.microsoft.com/office/drawing/2014/main" id="{B1EA6D77-392B-FB90-5E10-43A3605AA7C0}"/>
              </a:ext>
            </a:extLst>
          </p:cNvPr>
          <p:cNvGrpSpPr>
            <a:grpSpLocks/>
          </p:cNvGrpSpPr>
          <p:nvPr/>
        </p:nvGrpSpPr>
        <p:grpSpPr bwMode="auto">
          <a:xfrm>
            <a:off x="2413001" y="1219200"/>
            <a:ext cx="7407275" cy="3200400"/>
            <a:chOff x="576" y="768"/>
            <a:chExt cx="4666" cy="2016"/>
          </a:xfrm>
        </p:grpSpPr>
        <p:grpSp>
          <p:nvGrpSpPr>
            <p:cNvPr id="67605" name="Group 4">
              <a:extLst>
                <a:ext uri="{FF2B5EF4-FFF2-40B4-BE49-F238E27FC236}">
                  <a16:creationId xmlns:a16="http://schemas.microsoft.com/office/drawing/2014/main" id="{3C221E54-13FF-04CF-B7AF-38158B42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68"/>
              <a:ext cx="964" cy="1465"/>
              <a:chOff x="2304" y="768"/>
              <a:chExt cx="964" cy="1465"/>
            </a:xfrm>
          </p:grpSpPr>
          <p:grpSp>
            <p:nvGrpSpPr>
              <p:cNvPr id="67625" name="Group 5">
                <a:extLst>
                  <a:ext uri="{FF2B5EF4-FFF2-40B4-BE49-F238E27FC236}">
                    <a16:creationId xmlns:a16="http://schemas.microsoft.com/office/drawing/2014/main" id="{2EB19A3D-1D1C-6559-0488-F6CDE5FF6C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" y="768"/>
                <a:ext cx="912" cy="1440"/>
                <a:chOff x="1536" y="2592"/>
                <a:chExt cx="864" cy="960"/>
              </a:xfrm>
            </p:grpSpPr>
            <p:sp>
              <p:nvSpPr>
                <p:cNvPr id="67631" name="Rectangle 6">
                  <a:extLst>
                    <a:ext uri="{FF2B5EF4-FFF2-40B4-BE49-F238E27FC236}">
                      <a16:creationId xmlns:a16="http://schemas.microsoft.com/office/drawing/2014/main" id="{DC507ED6-C383-FED1-DC4E-1F45C0CB1A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67632" name="Line 7">
                  <a:extLst>
                    <a:ext uri="{FF2B5EF4-FFF2-40B4-BE49-F238E27FC236}">
                      <a16:creationId xmlns:a16="http://schemas.microsoft.com/office/drawing/2014/main" id="{4B5A0298-DA3D-D2BB-3EF6-71455AA75B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67633" name="Line 8">
                  <a:extLst>
                    <a:ext uri="{FF2B5EF4-FFF2-40B4-BE49-F238E27FC236}">
                      <a16:creationId xmlns:a16="http://schemas.microsoft.com/office/drawing/2014/main" id="{0EF222A0-6401-1652-119A-A17A83CD88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67626" name="Text Box 9">
                <a:extLst>
                  <a:ext uri="{FF2B5EF4-FFF2-40B4-BE49-F238E27FC236}">
                    <a16:creationId xmlns:a16="http://schemas.microsoft.com/office/drawing/2014/main" id="{29C8EC10-9624-59D9-D786-7F04EB35A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" y="864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Account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67627" name="Text Box 10">
                <a:extLst>
                  <a:ext uri="{FF2B5EF4-FFF2-40B4-BE49-F238E27FC236}">
                    <a16:creationId xmlns:a16="http://schemas.microsoft.com/office/drawing/2014/main" id="{2342D665-4EC9-7595-39E4-9D26F26DBF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186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Amount</a:t>
                </a:r>
              </a:p>
            </p:txBody>
          </p:sp>
          <p:sp>
            <p:nvSpPr>
              <p:cNvPr id="67628" name="Text Box 11">
                <a:extLst>
                  <a:ext uri="{FF2B5EF4-FFF2-40B4-BE49-F238E27FC236}">
                    <a16:creationId xmlns:a16="http://schemas.microsoft.com/office/drawing/2014/main" id="{EAA71207-7E84-C36C-63A0-085769055B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714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Deposit()</a:t>
                </a:r>
              </a:p>
            </p:txBody>
          </p:sp>
          <p:sp>
            <p:nvSpPr>
              <p:cNvPr id="67629" name="Text Box 12">
                <a:extLst>
                  <a:ext uri="{FF2B5EF4-FFF2-40B4-BE49-F238E27FC236}">
                    <a16:creationId xmlns:a16="http://schemas.microsoft.com/office/drawing/2014/main" id="{882A6D1C-95CF-3D11-DA2D-D549BC0B8D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858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Withdraw()</a:t>
                </a:r>
              </a:p>
            </p:txBody>
          </p:sp>
          <p:sp>
            <p:nvSpPr>
              <p:cNvPr id="67630" name="Text Box 13">
                <a:extLst>
                  <a:ext uri="{FF2B5EF4-FFF2-40B4-BE49-F238E27FC236}">
                    <a16:creationId xmlns:a16="http://schemas.microsoft.com/office/drawing/2014/main" id="{09120BF6-1A43-23B9-B084-9B73892429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002"/>
                <a:ext cx="9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GetBalance()</a:t>
                </a:r>
              </a:p>
            </p:txBody>
          </p:sp>
        </p:grpSp>
        <p:grpSp>
          <p:nvGrpSpPr>
            <p:cNvPr id="67606" name="Group 14">
              <a:extLst>
                <a:ext uri="{FF2B5EF4-FFF2-40B4-BE49-F238E27FC236}">
                  <a16:creationId xmlns:a16="http://schemas.microsoft.com/office/drawing/2014/main" id="{100855D5-4A4A-27B8-5E7C-E1F65B496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152"/>
              <a:ext cx="922" cy="1440"/>
              <a:chOff x="4080" y="1104"/>
              <a:chExt cx="922" cy="1440"/>
            </a:xfrm>
          </p:grpSpPr>
          <p:grpSp>
            <p:nvGrpSpPr>
              <p:cNvPr id="67619" name="Group 15">
                <a:extLst>
                  <a:ext uri="{FF2B5EF4-FFF2-40B4-BE49-F238E27FC236}">
                    <a16:creationId xmlns:a16="http://schemas.microsoft.com/office/drawing/2014/main" id="{AA3BE42C-A15E-1F4C-1C1E-D2290CA2F7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67622" name="Rectangle 16">
                  <a:extLst>
                    <a:ext uri="{FF2B5EF4-FFF2-40B4-BE49-F238E27FC236}">
                      <a16:creationId xmlns:a16="http://schemas.microsoft.com/office/drawing/2014/main" id="{10C3CD4D-673C-589A-132E-48CB843C5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67623" name="Line 17">
                  <a:extLst>
                    <a:ext uri="{FF2B5EF4-FFF2-40B4-BE49-F238E27FC236}">
                      <a16:creationId xmlns:a16="http://schemas.microsoft.com/office/drawing/2014/main" id="{4CB97C9B-809C-06BE-B292-6F9F789548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67624" name="Line 18">
                  <a:extLst>
                    <a:ext uri="{FF2B5EF4-FFF2-40B4-BE49-F238E27FC236}">
                      <a16:creationId xmlns:a16="http://schemas.microsoft.com/office/drawing/2014/main" id="{2DEDBFB8-2500-F43F-412E-78D8176983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67620" name="Text Box 19">
                <a:extLst>
                  <a:ext uri="{FF2B5EF4-FFF2-40B4-BE49-F238E27FC236}">
                    <a16:creationId xmlns:a16="http://schemas.microsoft.com/office/drawing/2014/main" id="{3DBEB859-083A-5A82-A96C-0D0C3FEF1F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7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Customer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67621" name="Text Box 20">
                <a:extLst>
                  <a:ext uri="{FF2B5EF4-FFF2-40B4-BE49-F238E27FC236}">
                    <a16:creationId xmlns:a16="http://schemas.microsoft.com/office/drawing/2014/main" id="{64DCA0E4-D6C6-E6A2-363D-DD6F0EA2A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5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67607" name="Text Box 21">
              <a:extLst>
                <a:ext uri="{FF2B5EF4-FFF2-40B4-BE49-F238E27FC236}">
                  <a16:creationId xmlns:a16="http://schemas.microsoft.com/office/drawing/2014/main" id="{D98A9594-7D70-F9E3-26BC-F694C0938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776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67608" name="Text Box 22">
              <a:extLst>
                <a:ext uri="{FF2B5EF4-FFF2-40B4-BE49-F238E27FC236}">
                  <a16:creationId xmlns:a16="http://schemas.microsoft.com/office/drawing/2014/main" id="{CACB5E2B-4DDA-4761-DB96-5A79AC2F12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440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grpSp>
          <p:nvGrpSpPr>
            <p:cNvPr id="67609" name="Group 23">
              <a:extLst>
                <a:ext uri="{FF2B5EF4-FFF2-40B4-BE49-F238E27FC236}">
                  <a16:creationId xmlns:a16="http://schemas.microsoft.com/office/drawing/2014/main" id="{1B9D9247-D65A-F411-D2A9-09158AD4F8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" y="1413"/>
              <a:ext cx="804" cy="280"/>
              <a:chOff x="1056" y="1545"/>
              <a:chExt cx="804" cy="613"/>
            </a:xfrm>
          </p:grpSpPr>
          <p:sp>
            <p:nvSpPr>
              <p:cNvPr id="67617" name="Text Box 24">
                <a:extLst>
                  <a:ext uri="{FF2B5EF4-FFF2-40B4-BE49-F238E27FC236}">
                    <a16:creationId xmlns:a16="http://schemas.microsoft.com/office/drawing/2014/main" id="{16A5EFEA-EC22-0459-C102-794BF53A8B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729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bg1"/>
                    </a:solidFill>
                    <a:latin typeface="Palatino" charset="0"/>
                  </a:rPr>
                  <a:t>AccountId</a:t>
                </a:r>
              </a:p>
            </p:txBody>
          </p:sp>
          <p:sp>
            <p:nvSpPr>
              <p:cNvPr id="67618" name="Text Box 25">
                <a:extLst>
                  <a:ext uri="{FF2B5EF4-FFF2-40B4-BE49-F238E27FC236}">
                    <a16:creationId xmlns:a16="http://schemas.microsoft.com/office/drawing/2014/main" id="{4D7AC314-9386-29CF-EA21-4FAAB2D739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545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AccountId</a:t>
                </a:r>
              </a:p>
            </p:txBody>
          </p:sp>
        </p:grpSp>
        <p:grpSp>
          <p:nvGrpSpPr>
            <p:cNvPr id="67610" name="Group 26">
              <a:extLst>
                <a:ext uri="{FF2B5EF4-FFF2-40B4-BE49-F238E27FC236}">
                  <a16:creationId xmlns:a16="http://schemas.microsoft.com/office/drawing/2014/main" id="{969F2188-9F32-9D69-F686-76D15BC28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344"/>
              <a:ext cx="922" cy="1440"/>
              <a:chOff x="4080" y="1104"/>
              <a:chExt cx="922" cy="1440"/>
            </a:xfrm>
          </p:grpSpPr>
          <p:grpSp>
            <p:nvGrpSpPr>
              <p:cNvPr id="67611" name="Group 27">
                <a:extLst>
                  <a:ext uri="{FF2B5EF4-FFF2-40B4-BE49-F238E27FC236}">
                    <a16:creationId xmlns:a16="http://schemas.microsoft.com/office/drawing/2014/main" id="{7AD3A28C-0C61-D333-34CE-687BDFF6F1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67614" name="Rectangle 28">
                  <a:extLst>
                    <a:ext uri="{FF2B5EF4-FFF2-40B4-BE49-F238E27FC236}">
                      <a16:creationId xmlns:a16="http://schemas.microsoft.com/office/drawing/2014/main" id="{A3AEAA40-3839-FBE4-C305-1D2D6BF10D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67615" name="Line 29">
                  <a:extLst>
                    <a:ext uri="{FF2B5EF4-FFF2-40B4-BE49-F238E27FC236}">
                      <a16:creationId xmlns:a16="http://schemas.microsoft.com/office/drawing/2014/main" id="{F4BDD1C1-41AF-3C88-DF89-5DDEFD4BC1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67616" name="Line 30">
                  <a:extLst>
                    <a:ext uri="{FF2B5EF4-FFF2-40B4-BE49-F238E27FC236}">
                      <a16:creationId xmlns:a16="http://schemas.microsoft.com/office/drawing/2014/main" id="{09E3FEFC-C005-C020-6134-52363327A1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67612" name="Text Box 31">
                <a:extLst>
                  <a:ext uri="{FF2B5EF4-FFF2-40B4-BE49-F238E27FC236}">
                    <a16:creationId xmlns:a16="http://schemas.microsoft.com/office/drawing/2014/main" id="{0B850380-CECE-5356-3F29-026EA4A96E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4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Bank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67613" name="Text Box 32">
                <a:extLst>
                  <a:ext uri="{FF2B5EF4-FFF2-40B4-BE49-F238E27FC236}">
                    <a16:creationId xmlns:a16="http://schemas.microsoft.com/office/drawing/2014/main" id="{91291C19-91EB-4289-0C81-CC5295EF04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5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</p:grpSp>
      <p:sp>
        <p:nvSpPr>
          <p:cNvPr id="152609" name="Line 33">
            <a:extLst>
              <a:ext uri="{FF2B5EF4-FFF2-40B4-BE49-F238E27FC236}">
                <a16:creationId xmlns:a16="http://schemas.microsoft.com/office/drawing/2014/main" id="{58FCE0D7-20FA-EB2D-BACD-FBEDD21BC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222500"/>
            <a:ext cx="175260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67589" name="Text Box 34">
            <a:extLst>
              <a:ext uri="{FF2B5EF4-FFF2-40B4-BE49-F238E27FC236}">
                <a16:creationId xmlns:a16="http://schemas.microsoft.com/office/drawing/2014/main" id="{80FFF18F-A06C-AD71-5616-BE99F3E1A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326" y="3886200"/>
            <a:ext cx="3001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3333FF"/>
                </a:solidFill>
                <a:latin typeface="Palatino" charset="0"/>
              </a:rPr>
              <a:t>1) Find New Classes</a:t>
            </a:r>
            <a:endParaRPr lang="en-US" altLang="en-US" sz="24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67590" name="Text Box 35">
            <a:extLst>
              <a:ext uri="{FF2B5EF4-FFF2-40B4-BE49-F238E27FC236}">
                <a16:creationId xmlns:a16="http://schemas.microsoft.com/office/drawing/2014/main" id="{81477B75-2310-1567-4593-07DE68237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1" y="4356100"/>
            <a:ext cx="609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3333FF"/>
                </a:solidFill>
                <a:latin typeface="Palatino" charset="0"/>
              </a:rPr>
              <a:t>2) Review Names, Attributes and Methods</a:t>
            </a:r>
            <a:endParaRPr lang="en-US" altLang="en-US" sz="2400">
              <a:solidFill>
                <a:srgbClr val="C0C0C0"/>
              </a:solidFill>
              <a:latin typeface="Palatino" charset="0"/>
            </a:endParaRPr>
          </a:p>
        </p:txBody>
      </p:sp>
      <p:sp>
        <p:nvSpPr>
          <p:cNvPr id="152612" name="Text Box 36">
            <a:extLst>
              <a:ext uri="{FF2B5EF4-FFF2-40B4-BE49-F238E27FC236}">
                <a16:creationId xmlns:a16="http://schemas.microsoft.com/office/drawing/2014/main" id="{2E0E2B03-9A7F-AB8E-844C-8342A1216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451" y="4838700"/>
            <a:ext cx="586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1615B1"/>
                </a:solidFill>
                <a:latin typeface="Palatino" charset="0"/>
              </a:rPr>
              <a:t>3) Find Associations between Classes</a:t>
            </a:r>
          </a:p>
        </p:txBody>
      </p:sp>
      <p:sp>
        <p:nvSpPr>
          <p:cNvPr id="152613" name="Text Box 37">
            <a:extLst>
              <a:ext uri="{FF2B5EF4-FFF2-40B4-BE49-F238E27FC236}">
                <a16:creationId xmlns:a16="http://schemas.microsoft.com/office/drawing/2014/main" id="{75229B80-9FE2-C481-298B-C70C0CEC6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0" y="2224088"/>
            <a:ext cx="74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owns</a:t>
            </a:r>
          </a:p>
        </p:txBody>
      </p:sp>
      <p:sp>
        <p:nvSpPr>
          <p:cNvPr id="152614" name="Text Box 38">
            <a:extLst>
              <a:ext uri="{FF2B5EF4-FFF2-40B4-BE49-F238E27FC236}">
                <a16:creationId xmlns:a16="http://schemas.microsoft.com/office/drawing/2014/main" id="{5B3BEA32-3750-2128-05C7-A650A825A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451" y="5308600"/>
            <a:ext cx="455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1615B1"/>
                </a:solidFill>
                <a:latin typeface="Palatino" charset="0"/>
              </a:rPr>
              <a:t>4) Label the generic assocations</a:t>
            </a:r>
          </a:p>
        </p:txBody>
      </p:sp>
      <p:sp>
        <p:nvSpPr>
          <p:cNvPr id="152615" name="Text Box 39">
            <a:extLst>
              <a:ext uri="{FF2B5EF4-FFF2-40B4-BE49-F238E27FC236}">
                <a16:creationId xmlns:a16="http://schemas.microsoft.com/office/drawing/2014/main" id="{96CFE649-16B8-27BE-975A-DDE53C320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225" y="6043613"/>
            <a:ext cx="331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1615B1"/>
                </a:solidFill>
                <a:latin typeface="Palatino" charset="0"/>
              </a:rPr>
              <a:t>6) Review associations</a:t>
            </a:r>
          </a:p>
        </p:txBody>
      </p:sp>
      <p:sp>
        <p:nvSpPr>
          <p:cNvPr id="152616" name="Text Box 40">
            <a:extLst>
              <a:ext uri="{FF2B5EF4-FFF2-40B4-BE49-F238E27FC236}">
                <a16:creationId xmlns:a16="http://schemas.microsoft.com/office/drawing/2014/main" id="{607C0357-FE5B-A13E-6B95-1775A99DD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1" y="1981200"/>
            <a:ext cx="36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3200">
                <a:solidFill>
                  <a:schemeClr val="tx1"/>
                </a:solidFill>
                <a:latin typeface="Palatino" charset="0"/>
              </a:rPr>
              <a:t>*</a:t>
            </a:r>
          </a:p>
        </p:txBody>
      </p:sp>
      <p:sp>
        <p:nvSpPr>
          <p:cNvPr id="152617" name="Text Box 41">
            <a:extLst>
              <a:ext uri="{FF2B5EF4-FFF2-40B4-BE49-F238E27FC236}">
                <a16:creationId xmlns:a16="http://schemas.microsoft.com/office/drawing/2014/main" id="{399EDC88-B7E0-501D-1561-893B627F0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7038" y="2628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2</a:t>
            </a:r>
          </a:p>
        </p:txBody>
      </p:sp>
      <p:sp>
        <p:nvSpPr>
          <p:cNvPr id="152618" name="Text Box 42">
            <a:extLst>
              <a:ext uri="{FF2B5EF4-FFF2-40B4-BE49-F238E27FC236}">
                <a16:creationId xmlns:a16="http://schemas.microsoft.com/office/drawing/2014/main" id="{B0A583AB-C5FC-956F-18FB-768028A10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1401" y="1852614"/>
            <a:ext cx="365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3200">
                <a:solidFill>
                  <a:schemeClr val="tx1"/>
                </a:solidFill>
                <a:latin typeface="Palatino" charset="0"/>
              </a:rPr>
              <a:t>*</a:t>
            </a:r>
          </a:p>
        </p:txBody>
      </p:sp>
      <p:sp>
        <p:nvSpPr>
          <p:cNvPr id="152619" name="Line 43">
            <a:extLst>
              <a:ext uri="{FF2B5EF4-FFF2-40B4-BE49-F238E27FC236}">
                <a16:creationId xmlns:a16="http://schemas.microsoft.com/office/drawing/2014/main" id="{80364AD5-AC5E-EC3B-46A6-F07D0E39A9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1" y="2190750"/>
            <a:ext cx="1209675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2620" name="AutoShape 44">
            <a:extLst>
              <a:ext uri="{FF2B5EF4-FFF2-40B4-BE49-F238E27FC236}">
                <a16:creationId xmlns:a16="http://schemas.microsoft.com/office/drawing/2014/main" id="{AF594BBD-3CCA-A3C3-50EE-29D5633A4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2279650"/>
            <a:ext cx="239712" cy="254000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52621" name="Text Box 45">
            <a:extLst>
              <a:ext uri="{FF2B5EF4-FFF2-40B4-BE49-F238E27FC236}">
                <a16:creationId xmlns:a16="http://schemas.microsoft.com/office/drawing/2014/main" id="{5FA1B0F7-E282-CEE3-204B-EBD3BF9BF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9" y="1882775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?</a:t>
            </a:r>
          </a:p>
        </p:txBody>
      </p:sp>
      <p:sp>
        <p:nvSpPr>
          <p:cNvPr id="152622" name="Text Box 46">
            <a:extLst>
              <a:ext uri="{FF2B5EF4-FFF2-40B4-BE49-F238E27FC236}">
                <a16:creationId xmlns:a16="http://schemas.microsoft.com/office/drawing/2014/main" id="{D5393C9D-247D-8E0B-484A-D2ABAF32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788" y="2328863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has</a:t>
            </a:r>
          </a:p>
        </p:txBody>
      </p:sp>
      <p:sp>
        <p:nvSpPr>
          <p:cNvPr id="152623" name="Text Box 47">
            <a:extLst>
              <a:ext uri="{FF2B5EF4-FFF2-40B4-BE49-F238E27FC236}">
                <a16:creationId xmlns:a16="http://schemas.microsoft.com/office/drawing/2014/main" id="{A6BD8749-3D0B-8F0C-B377-F5BBF9D2E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26" y="5651500"/>
            <a:ext cx="678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>
                <a:solidFill>
                  <a:srgbClr val="1615B1"/>
                </a:solidFill>
                <a:latin typeface="Palatino" charset="0"/>
              </a:rPr>
              <a:t>5) Determine the multiplicity of the assocations</a:t>
            </a:r>
          </a:p>
        </p:txBody>
      </p:sp>
      <p:sp>
        <p:nvSpPr>
          <p:cNvPr id="152624" name="Line 48">
            <a:extLst>
              <a:ext uri="{FF2B5EF4-FFF2-40B4-BE49-F238E27FC236}">
                <a16:creationId xmlns:a16="http://schemas.microsoft.com/office/drawing/2014/main" id="{91FB4338-D7CC-F258-20ED-A467D12E41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7951" y="2182814"/>
            <a:ext cx="1268413" cy="225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52625" name="AutoShape 49">
            <a:extLst>
              <a:ext uri="{FF2B5EF4-FFF2-40B4-BE49-F238E27FC236}">
                <a16:creationId xmlns:a16="http://schemas.microsoft.com/office/drawing/2014/main" id="{4AF5EDA7-00FA-83DF-268D-C7EF6EB75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1" y="2287588"/>
            <a:ext cx="239713" cy="241300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71594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5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526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152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12" grpId="0" autoUpdateAnimBg="0"/>
      <p:bldP spid="152613" grpId="0" autoUpdateAnimBg="0"/>
      <p:bldP spid="152614" grpId="0" autoUpdateAnimBg="0"/>
      <p:bldP spid="152615" grpId="0" autoUpdateAnimBg="0"/>
      <p:bldP spid="152616" grpId="0" autoUpdateAnimBg="0"/>
      <p:bldP spid="152617" grpId="0" autoUpdateAnimBg="0"/>
      <p:bldP spid="152618" grpId="0" build="p" autoUpdateAnimBg="0"/>
      <p:bldP spid="152620" grpId="0" animBg="1"/>
      <p:bldP spid="152621" grpId="0" build="p" autoUpdateAnimBg="0"/>
      <p:bldP spid="152621" grpId="1" build="allAtOnce"/>
      <p:bldP spid="152622" grpId="0" autoUpdateAnimBg="0"/>
      <p:bldP spid="152622" grpId="1"/>
      <p:bldP spid="152623" grpId="0" autoUpdateAnimBg="0"/>
      <p:bldP spid="1526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1109210-D6C5-0DAB-4140-7B5C83FA5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3100" y="222250"/>
            <a:ext cx="8458200" cy="8636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Practice Object Modeling: Find Taxonomies</a:t>
            </a:r>
          </a:p>
        </p:txBody>
      </p:sp>
      <p:grpSp>
        <p:nvGrpSpPr>
          <p:cNvPr id="2" name="Group 70">
            <a:extLst>
              <a:ext uri="{FF2B5EF4-FFF2-40B4-BE49-F238E27FC236}">
                <a16:creationId xmlns:a16="http://schemas.microsoft.com/office/drawing/2014/main" id="{A693AEFF-6128-BEAE-B0B7-19A51EF174AF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3140076"/>
            <a:ext cx="2235200" cy="3108325"/>
            <a:chOff x="1104" y="1978"/>
            <a:chExt cx="1408" cy="1958"/>
          </a:xfrm>
        </p:grpSpPr>
        <p:grpSp>
          <p:nvGrpSpPr>
            <p:cNvPr id="69693" name="Group 3">
              <a:extLst>
                <a:ext uri="{FF2B5EF4-FFF2-40B4-BE49-F238E27FC236}">
                  <a16:creationId xmlns:a16="http://schemas.microsoft.com/office/drawing/2014/main" id="{28D2CD4C-49FD-F114-6294-C406D53AE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4" y="2496"/>
              <a:ext cx="912" cy="1440"/>
              <a:chOff x="1536" y="2592"/>
              <a:chExt cx="864" cy="960"/>
            </a:xfrm>
          </p:grpSpPr>
          <p:sp>
            <p:nvSpPr>
              <p:cNvPr id="69698" name="Rectangle 4">
                <a:extLst>
                  <a:ext uri="{FF2B5EF4-FFF2-40B4-BE49-F238E27FC236}">
                    <a16:creationId xmlns:a16="http://schemas.microsoft.com/office/drawing/2014/main" id="{8BE98FFF-E3DF-33D2-08E7-ACBCF3EDD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9699" name="Line 5">
                <a:extLst>
                  <a:ext uri="{FF2B5EF4-FFF2-40B4-BE49-F238E27FC236}">
                    <a16:creationId xmlns:a16="http://schemas.microsoft.com/office/drawing/2014/main" id="{2F669A06-D34E-F52D-2025-91EA17A19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00" name="Line 6">
                <a:extLst>
                  <a:ext uri="{FF2B5EF4-FFF2-40B4-BE49-F238E27FC236}">
                    <a16:creationId xmlns:a16="http://schemas.microsoft.com/office/drawing/2014/main" id="{8ED51820-7E55-B2F2-735D-CFD10D9BC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9694" name="Text Box 7">
              <a:extLst>
                <a:ext uri="{FF2B5EF4-FFF2-40B4-BE49-F238E27FC236}">
                  <a16:creationId xmlns:a16="http://schemas.microsoft.com/office/drawing/2014/main" id="{A93165AA-54C9-5131-C5EE-44C27BC0D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544"/>
              <a:ext cx="66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Savings</a:t>
              </a:r>
            </a:p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9695" name="Text Box 8">
              <a:extLst>
                <a:ext uri="{FF2B5EF4-FFF2-40B4-BE49-F238E27FC236}">
                  <a16:creationId xmlns:a16="http://schemas.microsoft.com/office/drawing/2014/main" id="{18BD2436-96FA-3313-AA25-68CE84A32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586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9696" name="AutoShape 61">
              <a:extLst>
                <a:ext uri="{FF2B5EF4-FFF2-40B4-BE49-F238E27FC236}">
                  <a16:creationId xmlns:a16="http://schemas.microsoft.com/office/drawing/2014/main" id="{D7126524-3FC1-AD3F-932F-0A475429C6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22303">
              <a:off x="2322" y="1992"/>
              <a:ext cx="204" cy="1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69697" name="Line 64">
              <a:extLst>
                <a:ext uri="{FF2B5EF4-FFF2-40B4-BE49-F238E27FC236}">
                  <a16:creationId xmlns:a16="http://schemas.microsoft.com/office/drawing/2014/main" id="{BBEC9E5C-4610-2953-7F4E-7378AFC31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0" y="2136"/>
              <a:ext cx="800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4" name="Group 71">
            <a:extLst>
              <a:ext uri="{FF2B5EF4-FFF2-40B4-BE49-F238E27FC236}">
                <a16:creationId xmlns:a16="http://schemas.microsoft.com/office/drawing/2014/main" id="{C49604DE-F720-E568-3487-C06D3A7B91A3}"/>
              </a:ext>
            </a:extLst>
          </p:cNvPr>
          <p:cNvGrpSpPr>
            <a:grpSpLocks/>
          </p:cNvGrpSpPr>
          <p:nvPr/>
        </p:nvGrpSpPr>
        <p:grpSpPr bwMode="auto">
          <a:xfrm>
            <a:off x="5165726" y="3162300"/>
            <a:ext cx="1463675" cy="3086100"/>
            <a:chOff x="2294" y="1992"/>
            <a:chExt cx="922" cy="1944"/>
          </a:xfrm>
        </p:grpSpPr>
        <p:grpSp>
          <p:nvGrpSpPr>
            <p:cNvPr id="69685" name="Group 9">
              <a:extLst>
                <a:ext uri="{FF2B5EF4-FFF2-40B4-BE49-F238E27FC236}">
                  <a16:creationId xmlns:a16="http://schemas.microsoft.com/office/drawing/2014/main" id="{D3AE04CF-52F5-4965-D263-9A6602323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496"/>
              <a:ext cx="912" cy="1440"/>
              <a:chOff x="1536" y="2592"/>
              <a:chExt cx="864" cy="960"/>
            </a:xfrm>
          </p:grpSpPr>
          <p:sp>
            <p:nvSpPr>
              <p:cNvPr id="69690" name="Rectangle 10">
                <a:extLst>
                  <a:ext uri="{FF2B5EF4-FFF2-40B4-BE49-F238E27FC236}">
                    <a16:creationId xmlns:a16="http://schemas.microsoft.com/office/drawing/2014/main" id="{97EA23B6-CC9E-93AF-80FC-F11BCECE3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9691" name="Line 11">
                <a:extLst>
                  <a:ext uri="{FF2B5EF4-FFF2-40B4-BE49-F238E27FC236}">
                    <a16:creationId xmlns:a16="http://schemas.microsoft.com/office/drawing/2014/main" id="{37C25273-ECC5-EA24-E6ED-96B1AFA1F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692" name="Line 12">
                <a:extLst>
                  <a:ext uri="{FF2B5EF4-FFF2-40B4-BE49-F238E27FC236}">
                    <a16:creationId xmlns:a16="http://schemas.microsoft.com/office/drawing/2014/main" id="{7730D3A0-3E6D-DC2E-3328-AF956D2BE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9686" name="Text Box 13">
              <a:extLst>
                <a:ext uri="{FF2B5EF4-FFF2-40B4-BE49-F238E27FC236}">
                  <a16:creationId xmlns:a16="http://schemas.microsoft.com/office/drawing/2014/main" id="{2E36AA55-6644-5DAB-BAA8-CB3D15F12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2544"/>
              <a:ext cx="7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Checking</a:t>
              </a:r>
            </a:p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9687" name="Text Box 14">
              <a:extLst>
                <a:ext uri="{FF2B5EF4-FFF2-40B4-BE49-F238E27FC236}">
                  <a16:creationId xmlns:a16="http://schemas.microsoft.com/office/drawing/2014/main" id="{7F346966-8EDB-7122-6F79-929D7C7D2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3586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9688" name="AutoShape 65">
              <a:extLst>
                <a:ext uri="{FF2B5EF4-FFF2-40B4-BE49-F238E27FC236}">
                  <a16:creationId xmlns:a16="http://schemas.microsoft.com/office/drawing/2014/main" id="{00399229-CBDE-A46B-83A6-0FC27C2FA7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418">
              <a:off x="2626" y="1992"/>
              <a:ext cx="204" cy="1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69689" name="Line 67">
              <a:extLst>
                <a:ext uri="{FF2B5EF4-FFF2-40B4-BE49-F238E27FC236}">
                  <a16:creationId xmlns:a16="http://schemas.microsoft.com/office/drawing/2014/main" id="{CAD06DB3-4D46-9ADC-D1DE-2A0BF9311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168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6" name="Group 72">
            <a:extLst>
              <a:ext uri="{FF2B5EF4-FFF2-40B4-BE49-F238E27FC236}">
                <a16:creationId xmlns:a16="http://schemas.microsoft.com/office/drawing/2014/main" id="{910E6751-0F74-4458-3163-4903FC036A61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3114676"/>
            <a:ext cx="2413000" cy="3133725"/>
            <a:chOff x="2944" y="1962"/>
            <a:chExt cx="1520" cy="1974"/>
          </a:xfrm>
        </p:grpSpPr>
        <p:grpSp>
          <p:nvGrpSpPr>
            <p:cNvPr id="69677" name="Group 15">
              <a:extLst>
                <a:ext uri="{FF2B5EF4-FFF2-40B4-BE49-F238E27FC236}">
                  <a16:creationId xmlns:a16="http://schemas.microsoft.com/office/drawing/2014/main" id="{C3521D85-4090-185B-C4D6-EAC10C83C4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496"/>
              <a:ext cx="912" cy="1440"/>
              <a:chOff x="1536" y="2592"/>
              <a:chExt cx="864" cy="960"/>
            </a:xfrm>
          </p:grpSpPr>
          <p:sp>
            <p:nvSpPr>
              <p:cNvPr id="69682" name="Rectangle 16">
                <a:extLst>
                  <a:ext uri="{FF2B5EF4-FFF2-40B4-BE49-F238E27FC236}">
                    <a16:creationId xmlns:a16="http://schemas.microsoft.com/office/drawing/2014/main" id="{20A5AF17-5664-A064-E297-02E9E75BC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69683" name="Line 17">
                <a:extLst>
                  <a:ext uri="{FF2B5EF4-FFF2-40B4-BE49-F238E27FC236}">
                    <a16:creationId xmlns:a16="http://schemas.microsoft.com/office/drawing/2014/main" id="{7952B07E-3AED-4EB3-C36C-19C603F02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684" name="Line 18">
                <a:extLst>
                  <a:ext uri="{FF2B5EF4-FFF2-40B4-BE49-F238E27FC236}">
                    <a16:creationId xmlns:a16="http://schemas.microsoft.com/office/drawing/2014/main" id="{90CB18AF-5246-8D26-7BFF-F766A7654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69678" name="Text Box 19">
              <a:extLst>
                <a:ext uri="{FF2B5EF4-FFF2-40B4-BE49-F238E27FC236}">
                  <a16:creationId xmlns:a16="http://schemas.microsoft.com/office/drawing/2014/main" id="{80CB57D1-2EE7-8447-950F-B4DEE05C0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2544"/>
              <a:ext cx="7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Mortgage</a:t>
              </a:r>
            </a:p>
            <a:p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69679" name="Text Box 20">
              <a:extLst>
                <a:ext uri="{FF2B5EF4-FFF2-40B4-BE49-F238E27FC236}">
                  <a16:creationId xmlns:a16="http://schemas.microsoft.com/office/drawing/2014/main" id="{31A3264D-06BF-8AFD-300A-F016CEFAE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3586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69680" name="AutoShape 66">
              <a:extLst>
                <a:ext uri="{FF2B5EF4-FFF2-40B4-BE49-F238E27FC236}">
                  <a16:creationId xmlns:a16="http://schemas.microsoft.com/office/drawing/2014/main" id="{D4581E75-0115-2DC3-2B6D-066840C09B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324731">
              <a:off x="2930" y="1976"/>
              <a:ext cx="204" cy="1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69681" name="Line 68">
              <a:extLst>
                <a:ext uri="{FF2B5EF4-FFF2-40B4-BE49-F238E27FC236}">
                  <a16:creationId xmlns:a16="http://schemas.microsoft.com/office/drawing/2014/main" id="{F76EE188-D7C4-ED1C-E5F3-1B9740DCD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" y="2112"/>
              <a:ext cx="90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69638" name="Group 33">
            <a:extLst>
              <a:ext uri="{FF2B5EF4-FFF2-40B4-BE49-F238E27FC236}">
                <a16:creationId xmlns:a16="http://schemas.microsoft.com/office/drawing/2014/main" id="{8CC21866-CBE9-CEC4-5224-78C4D91DA90A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925514"/>
            <a:ext cx="1530350" cy="2325687"/>
            <a:chOff x="2304" y="768"/>
            <a:chExt cx="964" cy="1465"/>
          </a:xfrm>
        </p:grpSpPr>
        <p:grpSp>
          <p:nvGrpSpPr>
            <p:cNvPr id="69663" name="Group 34">
              <a:extLst>
                <a:ext uri="{FF2B5EF4-FFF2-40B4-BE49-F238E27FC236}">
                  <a16:creationId xmlns:a16="http://schemas.microsoft.com/office/drawing/2014/main" id="{D2C0F4B1-ABF9-E19B-099D-573E72E9AF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68"/>
              <a:ext cx="964" cy="1465"/>
              <a:chOff x="2304" y="768"/>
              <a:chExt cx="964" cy="1465"/>
            </a:xfrm>
          </p:grpSpPr>
          <p:grpSp>
            <p:nvGrpSpPr>
              <p:cNvPr id="69668" name="Group 35">
                <a:extLst>
                  <a:ext uri="{FF2B5EF4-FFF2-40B4-BE49-F238E27FC236}">
                    <a16:creationId xmlns:a16="http://schemas.microsoft.com/office/drawing/2014/main" id="{0AC473FB-E0D5-4326-1F42-DBD99C5E15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" y="768"/>
                <a:ext cx="912" cy="1440"/>
                <a:chOff x="1536" y="2592"/>
                <a:chExt cx="864" cy="960"/>
              </a:xfrm>
            </p:grpSpPr>
            <p:sp>
              <p:nvSpPr>
                <p:cNvPr id="69674" name="Rectangle 36">
                  <a:extLst>
                    <a:ext uri="{FF2B5EF4-FFF2-40B4-BE49-F238E27FC236}">
                      <a16:creationId xmlns:a16="http://schemas.microsoft.com/office/drawing/2014/main" id="{A338532E-45B3-DFB3-F24E-AF1D963325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69675" name="Line 37">
                  <a:extLst>
                    <a:ext uri="{FF2B5EF4-FFF2-40B4-BE49-F238E27FC236}">
                      <a16:creationId xmlns:a16="http://schemas.microsoft.com/office/drawing/2014/main" id="{57F90036-D939-9C11-4411-D246AD0A1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69676" name="Line 38">
                  <a:extLst>
                    <a:ext uri="{FF2B5EF4-FFF2-40B4-BE49-F238E27FC236}">
                      <a16:creationId xmlns:a16="http://schemas.microsoft.com/office/drawing/2014/main" id="{B23E0682-A223-F866-6776-1E8881429F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69669" name="Text Box 39">
                <a:extLst>
                  <a:ext uri="{FF2B5EF4-FFF2-40B4-BE49-F238E27FC236}">
                    <a16:creationId xmlns:a16="http://schemas.microsoft.com/office/drawing/2014/main" id="{669CB9F3-BD6B-4C19-A66B-780A464ACE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" y="864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Account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69670" name="Text Box 40">
                <a:extLst>
                  <a:ext uri="{FF2B5EF4-FFF2-40B4-BE49-F238E27FC236}">
                    <a16:creationId xmlns:a16="http://schemas.microsoft.com/office/drawing/2014/main" id="{924FD68D-A587-5708-AAB6-C1AF9C9C29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186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Amount</a:t>
                </a:r>
              </a:p>
            </p:txBody>
          </p:sp>
          <p:sp>
            <p:nvSpPr>
              <p:cNvPr id="69671" name="Text Box 41">
                <a:extLst>
                  <a:ext uri="{FF2B5EF4-FFF2-40B4-BE49-F238E27FC236}">
                    <a16:creationId xmlns:a16="http://schemas.microsoft.com/office/drawing/2014/main" id="{FC922EB3-1E56-1292-098F-1079A2E7B1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714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Deposit()</a:t>
                </a:r>
              </a:p>
            </p:txBody>
          </p:sp>
          <p:sp>
            <p:nvSpPr>
              <p:cNvPr id="69672" name="Text Box 42">
                <a:extLst>
                  <a:ext uri="{FF2B5EF4-FFF2-40B4-BE49-F238E27FC236}">
                    <a16:creationId xmlns:a16="http://schemas.microsoft.com/office/drawing/2014/main" id="{13FAED4B-C283-88CB-D4C3-4187DF583F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858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Withdraw()</a:t>
                </a:r>
              </a:p>
            </p:txBody>
          </p:sp>
          <p:sp>
            <p:nvSpPr>
              <p:cNvPr id="69673" name="Text Box 43">
                <a:extLst>
                  <a:ext uri="{FF2B5EF4-FFF2-40B4-BE49-F238E27FC236}">
                    <a16:creationId xmlns:a16="http://schemas.microsoft.com/office/drawing/2014/main" id="{0042871C-9D13-1806-9015-B7966DF53F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002"/>
                <a:ext cx="9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GetBalance()</a:t>
                </a:r>
              </a:p>
            </p:txBody>
          </p:sp>
        </p:grpSp>
        <p:sp>
          <p:nvSpPr>
            <p:cNvPr id="69664" name="Text Box 44">
              <a:extLst>
                <a:ext uri="{FF2B5EF4-FFF2-40B4-BE49-F238E27FC236}">
                  <a16:creationId xmlns:a16="http://schemas.microsoft.com/office/drawing/2014/main" id="{7FB2A7CF-6419-7842-BC8B-3B62B2E42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440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grpSp>
          <p:nvGrpSpPr>
            <p:cNvPr id="69665" name="Group 45">
              <a:extLst>
                <a:ext uri="{FF2B5EF4-FFF2-40B4-BE49-F238E27FC236}">
                  <a16:creationId xmlns:a16="http://schemas.microsoft.com/office/drawing/2014/main" id="{3CFAA31C-411E-9595-818C-28A89CB1BB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" y="1413"/>
              <a:ext cx="804" cy="280"/>
              <a:chOff x="1056" y="1545"/>
              <a:chExt cx="804" cy="613"/>
            </a:xfrm>
          </p:grpSpPr>
          <p:sp>
            <p:nvSpPr>
              <p:cNvPr id="69666" name="Text Box 46">
                <a:extLst>
                  <a:ext uri="{FF2B5EF4-FFF2-40B4-BE49-F238E27FC236}">
                    <a16:creationId xmlns:a16="http://schemas.microsoft.com/office/drawing/2014/main" id="{DFC63ECA-493C-9E4D-F569-64D9CBDE69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729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bg1"/>
                    </a:solidFill>
                    <a:latin typeface="Palatino" charset="0"/>
                  </a:rPr>
                  <a:t>AccountId</a:t>
                </a:r>
              </a:p>
            </p:txBody>
          </p:sp>
          <p:sp>
            <p:nvSpPr>
              <p:cNvPr id="69667" name="Text Box 47">
                <a:extLst>
                  <a:ext uri="{FF2B5EF4-FFF2-40B4-BE49-F238E27FC236}">
                    <a16:creationId xmlns:a16="http://schemas.microsoft.com/office/drawing/2014/main" id="{477491D6-DDEA-3EA5-EDAB-309ABCE2AA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545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AccountId</a:t>
                </a:r>
              </a:p>
            </p:txBody>
          </p:sp>
        </p:grpSp>
      </p:grpSp>
      <p:grpSp>
        <p:nvGrpSpPr>
          <p:cNvPr id="69639" name="Group 117">
            <a:extLst>
              <a:ext uri="{FF2B5EF4-FFF2-40B4-BE49-F238E27FC236}">
                <a16:creationId xmlns:a16="http://schemas.microsoft.com/office/drawing/2014/main" id="{4F1849ED-9227-E05F-86B1-1D5419B88DA9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154113"/>
            <a:ext cx="3333750" cy="2286000"/>
            <a:chOff x="3216" y="727"/>
            <a:chExt cx="2100" cy="1440"/>
          </a:xfrm>
        </p:grpSpPr>
        <p:grpSp>
          <p:nvGrpSpPr>
            <p:cNvPr id="69652" name="Group 25">
              <a:extLst>
                <a:ext uri="{FF2B5EF4-FFF2-40B4-BE49-F238E27FC236}">
                  <a16:creationId xmlns:a16="http://schemas.microsoft.com/office/drawing/2014/main" id="{143C943E-5DAD-3558-1036-3820D970C6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727"/>
              <a:ext cx="994" cy="1440"/>
              <a:chOff x="4080" y="1104"/>
              <a:chExt cx="922" cy="1440"/>
            </a:xfrm>
          </p:grpSpPr>
          <p:grpSp>
            <p:nvGrpSpPr>
              <p:cNvPr id="69657" name="Group 26">
                <a:extLst>
                  <a:ext uri="{FF2B5EF4-FFF2-40B4-BE49-F238E27FC236}">
                    <a16:creationId xmlns:a16="http://schemas.microsoft.com/office/drawing/2014/main" id="{757B9A92-7F64-C1CF-58E1-C246DAF8A7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69660" name="Rectangle 27">
                  <a:extLst>
                    <a:ext uri="{FF2B5EF4-FFF2-40B4-BE49-F238E27FC236}">
                      <a16:creationId xmlns:a16="http://schemas.microsoft.com/office/drawing/2014/main" id="{1B3DA4CC-DEEF-A004-E810-588FDE40E7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69661" name="Line 28">
                  <a:extLst>
                    <a:ext uri="{FF2B5EF4-FFF2-40B4-BE49-F238E27FC236}">
                      <a16:creationId xmlns:a16="http://schemas.microsoft.com/office/drawing/2014/main" id="{BC38FADE-ADFF-D53D-D30C-4A0BAA2F6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69662" name="Line 29">
                  <a:extLst>
                    <a:ext uri="{FF2B5EF4-FFF2-40B4-BE49-F238E27FC236}">
                      <a16:creationId xmlns:a16="http://schemas.microsoft.com/office/drawing/2014/main" id="{55083528-2ABE-1F63-4919-C58B4F4F41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69658" name="Text Box 30">
                <a:extLst>
                  <a:ext uri="{FF2B5EF4-FFF2-40B4-BE49-F238E27FC236}">
                    <a16:creationId xmlns:a16="http://schemas.microsoft.com/office/drawing/2014/main" id="{8DA04CF3-9928-A3FC-E93A-BF9F3D7708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70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Customer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69659" name="Text Box 31">
                <a:extLst>
                  <a:ext uri="{FF2B5EF4-FFF2-40B4-BE49-F238E27FC236}">
                    <a16:creationId xmlns:a16="http://schemas.microsoft.com/office/drawing/2014/main" id="{3684730D-BB21-D7D8-952B-CC59DD45F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4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69653" name="Text Box 32">
              <a:extLst>
                <a:ext uri="{FF2B5EF4-FFF2-40B4-BE49-F238E27FC236}">
                  <a16:creationId xmlns:a16="http://schemas.microsoft.com/office/drawing/2014/main" id="{388A3433-A882-C61B-F7F0-DA7DE8D7A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783"/>
              <a:ext cx="9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CustomerId()</a:t>
              </a:r>
            </a:p>
          </p:txBody>
        </p:sp>
        <p:sp>
          <p:nvSpPr>
            <p:cNvPr id="69654" name="Line 55">
              <a:extLst>
                <a:ext uri="{FF2B5EF4-FFF2-40B4-BE49-F238E27FC236}">
                  <a16:creationId xmlns:a16="http://schemas.microsoft.com/office/drawing/2014/main" id="{2E02CA4B-D0DB-BD5B-32AC-EEF801295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11"/>
              <a:ext cx="1104" cy="528"/>
            </a:xfrm>
            <a:prstGeom prst="line">
              <a:avLst/>
            </a:prstGeom>
            <a:noFill/>
            <a:ln w="28575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9655" name="Text Box 56">
              <a:extLst>
                <a:ext uri="{FF2B5EF4-FFF2-40B4-BE49-F238E27FC236}">
                  <a16:creationId xmlns:a16="http://schemas.microsoft.com/office/drawing/2014/main" id="{5169F28F-0F52-904D-2A04-D80B14A99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" y="1120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Has</a:t>
              </a:r>
            </a:p>
          </p:txBody>
        </p:sp>
        <p:sp>
          <p:nvSpPr>
            <p:cNvPr id="69656" name="Text Box 57">
              <a:extLst>
                <a:ext uri="{FF2B5EF4-FFF2-40B4-BE49-F238E27FC236}">
                  <a16:creationId xmlns:a16="http://schemas.microsoft.com/office/drawing/2014/main" id="{E30DA48B-168B-CB15-1CEA-5EA6CAC10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67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3200">
                  <a:solidFill>
                    <a:schemeClr val="tx1"/>
                  </a:solidFill>
                  <a:latin typeface="Palatino" charset="0"/>
                </a:rPr>
                <a:t>*</a:t>
              </a:r>
            </a:p>
          </p:txBody>
        </p:sp>
      </p:grpSp>
      <p:grpSp>
        <p:nvGrpSpPr>
          <p:cNvPr id="15" name="Group 116">
            <a:extLst>
              <a:ext uri="{FF2B5EF4-FFF2-40B4-BE49-F238E27FC236}">
                <a16:creationId xmlns:a16="http://schemas.microsoft.com/office/drawing/2014/main" id="{4CDB9DB3-87AC-3A79-A3CE-988E9540052B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154113"/>
            <a:ext cx="2819400" cy="2286000"/>
            <a:chOff x="528" y="727"/>
            <a:chExt cx="1776" cy="1440"/>
          </a:xfrm>
        </p:grpSpPr>
        <p:grpSp>
          <p:nvGrpSpPr>
            <p:cNvPr id="69642" name="Group 48">
              <a:extLst>
                <a:ext uri="{FF2B5EF4-FFF2-40B4-BE49-F238E27FC236}">
                  <a16:creationId xmlns:a16="http://schemas.microsoft.com/office/drawing/2014/main" id="{C1CA303A-C864-5F86-5890-B418DDEAAB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727"/>
              <a:ext cx="922" cy="1440"/>
              <a:chOff x="4080" y="1104"/>
              <a:chExt cx="922" cy="1440"/>
            </a:xfrm>
          </p:grpSpPr>
          <p:grpSp>
            <p:nvGrpSpPr>
              <p:cNvPr id="69646" name="Group 49">
                <a:extLst>
                  <a:ext uri="{FF2B5EF4-FFF2-40B4-BE49-F238E27FC236}">
                    <a16:creationId xmlns:a16="http://schemas.microsoft.com/office/drawing/2014/main" id="{B6FFE428-1CC1-ABB4-6FB7-5FB7C2DE68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69649" name="Rectangle 50">
                  <a:extLst>
                    <a:ext uri="{FF2B5EF4-FFF2-40B4-BE49-F238E27FC236}">
                      <a16:creationId xmlns:a16="http://schemas.microsoft.com/office/drawing/2014/main" id="{FB3827B8-3281-0B0E-B98C-911628F7BA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69650" name="Line 51">
                  <a:extLst>
                    <a:ext uri="{FF2B5EF4-FFF2-40B4-BE49-F238E27FC236}">
                      <a16:creationId xmlns:a16="http://schemas.microsoft.com/office/drawing/2014/main" id="{E00F0D31-61A2-7AC3-E5A4-98BF25345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69651" name="Line 52">
                  <a:extLst>
                    <a:ext uri="{FF2B5EF4-FFF2-40B4-BE49-F238E27FC236}">
                      <a16:creationId xmlns:a16="http://schemas.microsoft.com/office/drawing/2014/main" id="{74F42D87-A670-32E1-2B76-5D8EFBD84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69647" name="Text Box 53">
                <a:extLst>
                  <a:ext uri="{FF2B5EF4-FFF2-40B4-BE49-F238E27FC236}">
                    <a16:creationId xmlns:a16="http://schemas.microsoft.com/office/drawing/2014/main" id="{B75F50BB-BBAC-6D06-D4EE-0D5396A85B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4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Bank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69648" name="Text Box 54">
                <a:extLst>
                  <a:ext uri="{FF2B5EF4-FFF2-40B4-BE49-F238E27FC236}">
                    <a16:creationId xmlns:a16="http://schemas.microsoft.com/office/drawing/2014/main" id="{8FC22FA9-42F4-DD51-2862-2AD5C985B9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5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69643" name="Text Box 59">
              <a:extLst>
                <a:ext uri="{FF2B5EF4-FFF2-40B4-BE49-F238E27FC236}">
                  <a16:creationId xmlns:a16="http://schemas.microsoft.com/office/drawing/2014/main" id="{38EBBF1A-0A6A-6D19-57EA-4168ADAB3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919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3200">
                  <a:solidFill>
                    <a:schemeClr val="tx1"/>
                  </a:solidFill>
                  <a:latin typeface="Palatino" charset="0"/>
                </a:rPr>
                <a:t>*</a:t>
              </a:r>
            </a:p>
          </p:txBody>
        </p:sp>
        <p:sp>
          <p:nvSpPr>
            <p:cNvPr id="69644" name="Line 58">
              <a:extLst>
                <a:ext uri="{FF2B5EF4-FFF2-40B4-BE49-F238E27FC236}">
                  <a16:creationId xmlns:a16="http://schemas.microsoft.com/office/drawing/2014/main" id="{DE901FC2-8589-985E-66D1-C55FB9593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207"/>
              <a:ext cx="81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diamond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9645" name="AutoShape 75">
              <a:extLst>
                <a:ext uri="{FF2B5EF4-FFF2-40B4-BE49-F238E27FC236}">
                  <a16:creationId xmlns:a16="http://schemas.microsoft.com/office/drawing/2014/main" id="{1BEE2B9D-1720-A822-8C9C-600198A58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268"/>
              <a:ext cx="151" cy="160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69641" name="AutoShape 118">
            <a:extLst>
              <a:ext uri="{FF2B5EF4-FFF2-40B4-BE49-F238E27FC236}">
                <a16:creationId xmlns:a16="http://schemas.microsoft.com/office/drawing/2014/main" id="{FDECC363-E21D-78A4-989A-76BA56BBA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176" y="2020888"/>
            <a:ext cx="239713" cy="241300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81319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68BD7EF-0288-F2A7-D493-CE2136A35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3100" y="222250"/>
            <a:ext cx="8458200" cy="8636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Practice Object Modeling: Simplify, Organize</a:t>
            </a:r>
          </a:p>
        </p:txBody>
      </p:sp>
      <p:grpSp>
        <p:nvGrpSpPr>
          <p:cNvPr id="71683" name="Group 4">
            <a:extLst>
              <a:ext uri="{FF2B5EF4-FFF2-40B4-BE49-F238E27FC236}">
                <a16:creationId xmlns:a16="http://schemas.microsoft.com/office/drawing/2014/main" id="{EB253423-FAF4-B8A8-9604-C226F517B652}"/>
              </a:ext>
            </a:extLst>
          </p:cNvPr>
          <p:cNvGrpSpPr>
            <a:grpSpLocks/>
          </p:cNvGrpSpPr>
          <p:nvPr/>
        </p:nvGrpSpPr>
        <p:grpSpPr bwMode="auto">
          <a:xfrm>
            <a:off x="3292475" y="3962400"/>
            <a:ext cx="1447800" cy="2286000"/>
            <a:chOff x="1536" y="2592"/>
            <a:chExt cx="864" cy="960"/>
          </a:xfrm>
        </p:grpSpPr>
        <p:sp>
          <p:nvSpPr>
            <p:cNvPr id="71720" name="Rectangle 5">
              <a:extLst>
                <a:ext uri="{FF2B5EF4-FFF2-40B4-BE49-F238E27FC236}">
                  <a16:creationId xmlns:a16="http://schemas.microsoft.com/office/drawing/2014/main" id="{401AD4AF-8EBA-6FE6-ABCD-AF75BBD86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92"/>
              <a:ext cx="864" cy="9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1721" name="Line 6">
              <a:extLst>
                <a:ext uri="{FF2B5EF4-FFF2-40B4-BE49-F238E27FC236}">
                  <a16:creationId xmlns:a16="http://schemas.microsoft.com/office/drawing/2014/main" id="{42C4AA40-B4C1-80F6-6F07-AB891296B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1722" name="Line 7">
              <a:extLst>
                <a:ext uri="{FF2B5EF4-FFF2-40B4-BE49-F238E27FC236}">
                  <a16:creationId xmlns:a16="http://schemas.microsoft.com/office/drawing/2014/main" id="{78C1E62E-E4EA-E411-AF4F-E521D4CA1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1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71684" name="Text Box 8">
            <a:extLst>
              <a:ext uri="{FF2B5EF4-FFF2-40B4-BE49-F238E27FC236}">
                <a16:creationId xmlns:a16="http://schemas.microsoft.com/office/drawing/2014/main" id="{D23C76DB-C741-0D07-8F82-74BCE1DE5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038600"/>
            <a:ext cx="1047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Savings</a:t>
            </a:r>
          </a:p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Account</a:t>
            </a:r>
            <a:endParaRPr lang="en-US" altLang="en-US" sz="18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71685" name="Text Box 9">
            <a:extLst>
              <a:ext uri="{FF2B5EF4-FFF2-40B4-BE49-F238E27FC236}">
                <a16:creationId xmlns:a16="http://schemas.microsoft.com/office/drawing/2014/main" id="{39C0059B-7EB6-E0FC-2F8D-BDAE41B4A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692776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Withdraw()</a:t>
            </a:r>
          </a:p>
        </p:txBody>
      </p:sp>
      <p:sp>
        <p:nvSpPr>
          <p:cNvPr id="71686" name="AutoShape 10">
            <a:extLst>
              <a:ext uri="{FF2B5EF4-FFF2-40B4-BE49-F238E27FC236}">
                <a16:creationId xmlns:a16="http://schemas.microsoft.com/office/drawing/2014/main" id="{E0EB129E-E3C9-4F97-A40E-3AF45A561864}"/>
              </a:ext>
            </a:extLst>
          </p:cNvPr>
          <p:cNvSpPr>
            <a:spLocks noChangeArrowheads="1"/>
          </p:cNvSpPr>
          <p:nvPr/>
        </p:nvSpPr>
        <p:spPr bwMode="auto">
          <a:xfrm rot="2722303">
            <a:off x="5210175" y="3162300"/>
            <a:ext cx="323850" cy="279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71687" name="Line 11">
            <a:extLst>
              <a:ext uri="{FF2B5EF4-FFF2-40B4-BE49-F238E27FC236}">
                <a16:creationId xmlns:a16="http://schemas.microsoft.com/office/drawing/2014/main" id="{0A86D04F-F88A-7EC7-9D40-E3E548C08E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0500" y="3390900"/>
            <a:ext cx="1270000" cy="571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71688" name="Group 13">
            <a:extLst>
              <a:ext uri="{FF2B5EF4-FFF2-40B4-BE49-F238E27FC236}">
                <a16:creationId xmlns:a16="http://schemas.microsoft.com/office/drawing/2014/main" id="{A375A353-EF4B-6FF5-384B-DE3066D6423A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962400"/>
            <a:ext cx="1447800" cy="2286000"/>
            <a:chOff x="1536" y="2592"/>
            <a:chExt cx="864" cy="960"/>
          </a:xfrm>
        </p:grpSpPr>
        <p:sp>
          <p:nvSpPr>
            <p:cNvPr id="71717" name="Rectangle 14">
              <a:extLst>
                <a:ext uri="{FF2B5EF4-FFF2-40B4-BE49-F238E27FC236}">
                  <a16:creationId xmlns:a16="http://schemas.microsoft.com/office/drawing/2014/main" id="{F6154536-EDC7-7EF6-5F98-D2423373B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92"/>
              <a:ext cx="864" cy="9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1718" name="Line 15">
              <a:extLst>
                <a:ext uri="{FF2B5EF4-FFF2-40B4-BE49-F238E27FC236}">
                  <a16:creationId xmlns:a16="http://schemas.microsoft.com/office/drawing/2014/main" id="{553841BD-7BBD-1159-A369-A9E4417A2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1719" name="Line 16">
              <a:extLst>
                <a:ext uri="{FF2B5EF4-FFF2-40B4-BE49-F238E27FC236}">
                  <a16:creationId xmlns:a16="http://schemas.microsoft.com/office/drawing/2014/main" id="{065E7406-E8A9-3D6B-4E58-41FABC6BA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1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71689" name="Text Box 17">
            <a:extLst>
              <a:ext uri="{FF2B5EF4-FFF2-40B4-BE49-F238E27FC236}">
                <a16:creationId xmlns:a16="http://schemas.microsoft.com/office/drawing/2014/main" id="{2CE3109D-21C8-5F6D-9035-74E1C491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4038600"/>
            <a:ext cx="1187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Checking</a:t>
            </a:r>
          </a:p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Account</a:t>
            </a:r>
            <a:endParaRPr lang="en-US" altLang="en-US" sz="18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71690" name="Text Box 18">
            <a:extLst>
              <a:ext uri="{FF2B5EF4-FFF2-40B4-BE49-F238E27FC236}">
                <a16:creationId xmlns:a16="http://schemas.microsoft.com/office/drawing/2014/main" id="{F0DE1109-8FD8-4763-5B75-FC98D27A5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5692776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Withdraw()</a:t>
            </a:r>
          </a:p>
        </p:txBody>
      </p:sp>
      <p:sp>
        <p:nvSpPr>
          <p:cNvPr id="71691" name="AutoShape 19">
            <a:extLst>
              <a:ext uri="{FF2B5EF4-FFF2-40B4-BE49-F238E27FC236}">
                <a16:creationId xmlns:a16="http://schemas.microsoft.com/office/drawing/2014/main" id="{B441207D-E6F5-3B9C-552C-3F78B629A473}"/>
              </a:ext>
            </a:extLst>
          </p:cNvPr>
          <p:cNvSpPr>
            <a:spLocks noChangeArrowheads="1"/>
          </p:cNvSpPr>
          <p:nvPr/>
        </p:nvSpPr>
        <p:spPr bwMode="auto">
          <a:xfrm rot="21593582">
            <a:off x="5692775" y="3162300"/>
            <a:ext cx="323850" cy="279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71692" name="Line 20">
            <a:extLst>
              <a:ext uri="{FF2B5EF4-FFF2-40B4-BE49-F238E27FC236}">
                <a16:creationId xmlns:a16="http://schemas.microsoft.com/office/drawing/2014/main" id="{857B75DE-D369-5CBD-DFA2-EBFAE9B5C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0100" y="34417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71693" name="Group 22">
            <a:extLst>
              <a:ext uri="{FF2B5EF4-FFF2-40B4-BE49-F238E27FC236}">
                <a16:creationId xmlns:a16="http://schemas.microsoft.com/office/drawing/2014/main" id="{7CB9D0B4-9EF2-8E3C-DDAE-B252FB4DF367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3962400"/>
            <a:ext cx="1447800" cy="2286000"/>
            <a:chOff x="1536" y="2592"/>
            <a:chExt cx="864" cy="960"/>
          </a:xfrm>
        </p:grpSpPr>
        <p:sp>
          <p:nvSpPr>
            <p:cNvPr id="71714" name="Rectangle 23">
              <a:extLst>
                <a:ext uri="{FF2B5EF4-FFF2-40B4-BE49-F238E27FC236}">
                  <a16:creationId xmlns:a16="http://schemas.microsoft.com/office/drawing/2014/main" id="{8838D7DC-0C45-47A0-67DD-378EEF1FB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92"/>
              <a:ext cx="864" cy="9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1715" name="Line 24">
              <a:extLst>
                <a:ext uri="{FF2B5EF4-FFF2-40B4-BE49-F238E27FC236}">
                  <a16:creationId xmlns:a16="http://schemas.microsoft.com/office/drawing/2014/main" id="{04BADB11-0AAB-E50C-A619-717DB9149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1716" name="Line 25">
              <a:extLst>
                <a:ext uri="{FF2B5EF4-FFF2-40B4-BE49-F238E27FC236}">
                  <a16:creationId xmlns:a16="http://schemas.microsoft.com/office/drawing/2014/main" id="{BD193990-55C7-55DE-BA87-45CEBAA21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1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71694" name="Text Box 26">
            <a:extLst>
              <a:ext uri="{FF2B5EF4-FFF2-40B4-BE49-F238E27FC236}">
                <a16:creationId xmlns:a16="http://schemas.microsoft.com/office/drawing/2014/main" id="{E08451E6-D15C-D7E9-F23E-335122DE4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5" y="4038600"/>
            <a:ext cx="1187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Mortgage</a:t>
            </a:r>
          </a:p>
          <a:p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Account</a:t>
            </a:r>
            <a:endParaRPr lang="en-US" altLang="en-US" sz="18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71695" name="Text Box 27">
            <a:extLst>
              <a:ext uri="{FF2B5EF4-FFF2-40B4-BE49-F238E27FC236}">
                <a16:creationId xmlns:a16="http://schemas.microsoft.com/office/drawing/2014/main" id="{ABB29CCC-519D-6D48-9C10-3EDE38C80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5692776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Withdraw()</a:t>
            </a:r>
          </a:p>
        </p:txBody>
      </p:sp>
      <p:sp>
        <p:nvSpPr>
          <p:cNvPr id="71696" name="AutoShape 28">
            <a:extLst>
              <a:ext uri="{FF2B5EF4-FFF2-40B4-BE49-F238E27FC236}">
                <a16:creationId xmlns:a16="http://schemas.microsoft.com/office/drawing/2014/main" id="{29508785-A315-9A1B-987B-93320CC649C1}"/>
              </a:ext>
            </a:extLst>
          </p:cNvPr>
          <p:cNvSpPr>
            <a:spLocks noChangeArrowheads="1"/>
          </p:cNvSpPr>
          <p:nvPr/>
        </p:nvSpPr>
        <p:spPr bwMode="auto">
          <a:xfrm rot="18275269">
            <a:off x="6175375" y="3136900"/>
            <a:ext cx="323850" cy="279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71697" name="Line 29">
            <a:extLst>
              <a:ext uri="{FF2B5EF4-FFF2-40B4-BE49-F238E27FC236}">
                <a16:creationId xmlns:a16="http://schemas.microsoft.com/office/drawing/2014/main" id="{EA645A40-6269-36B7-BBF6-C944A5E15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8900" y="3352800"/>
            <a:ext cx="14351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71698" name="Group 39">
            <a:extLst>
              <a:ext uri="{FF2B5EF4-FFF2-40B4-BE49-F238E27FC236}">
                <a16:creationId xmlns:a16="http://schemas.microsoft.com/office/drawing/2014/main" id="{6F69AF0B-F4F5-4AE2-7BDC-7C9ECD878B9A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925514"/>
            <a:ext cx="1530350" cy="2325687"/>
            <a:chOff x="2304" y="768"/>
            <a:chExt cx="964" cy="1465"/>
          </a:xfrm>
        </p:grpSpPr>
        <p:grpSp>
          <p:nvGrpSpPr>
            <p:cNvPr id="71700" name="Group 40">
              <a:extLst>
                <a:ext uri="{FF2B5EF4-FFF2-40B4-BE49-F238E27FC236}">
                  <a16:creationId xmlns:a16="http://schemas.microsoft.com/office/drawing/2014/main" id="{C1F358F5-AD6F-0359-3ED8-8CB641E57C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68"/>
              <a:ext cx="964" cy="1465"/>
              <a:chOff x="2304" y="768"/>
              <a:chExt cx="964" cy="1465"/>
            </a:xfrm>
          </p:grpSpPr>
          <p:grpSp>
            <p:nvGrpSpPr>
              <p:cNvPr id="71705" name="Group 41">
                <a:extLst>
                  <a:ext uri="{FF2B5EF4-FFF2-40B4-BE49-F238E27FC236}">
                    <a16:creationId xmlns:a16="http://schemas.microsoft.com/office/drawing/2014/main" id="{D4ADCB8E-AB0B-EF13-2080-98CADBFE49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" y="768"/>
                <a:ext cx="912" cy="1440"/>
                <a:chOff x="1536" y="2592"/>
                <a:chExt cx="864" cy="960"/>
              </a:xfrm>
            </p:grpSpPr>
            <p:sp>
              <p:nvSpPr>
                <p:cNvPr id="71711" name="Rectangle 42">
                  <a:extLst>
                    <a:ext uri="{FF2B5EF4-FFF2-40B4-BE49-F238E27FC236}">
                      <a16:creationId xmlns:a16="http://schemas.microsoft.com/office/drawing/2014/main" id="{027E15C5-B6C6-1A89-19E8-425C3F5C2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algn="ctr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71712" name="Line 43">
                  <a:extLst>
                    <a:ext uri="{FF2B5EF4-FFF2-40B4-BE49-F238E27FC236}">
                      <a16:creationId xmlns:a16="http://schemas.microsoft.com/office/drawing/2014/main" id="{512FF380-5F64-E204-1523-E671914E87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71713" name="Line 44">
                  <a:extLst>
                    <a:ext uri="{FF2B5EF4-FFF2-40B4-BE49-F238E27FC236}">
                      <a16:creationId xmlns:a16="http://schemas.microsoft.com/office/drawing/2014/main" id="{4407F916-C364-F704-72A6-9B427DB4F1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71706" name="Text Box 45">
                <a:extLst>
                  <a:ext uri="{FF2B5EF4-FFF2-40B4-BE49-F238E27FC236}">
                    <a16:creationId xmlns:a16="http://schemas.microsoft.com/office/drawing/2014/main" id="{8E4F0261-F458-523A-DE41-CC58A912CF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" y="864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Account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71707" name="Text Box 46">
                <a:extLst>
                  <a:ext uri="{FF2B5EF4-FFF2-40B4-BE49-F238E27FC236}">
                    <a16:creationId xmlns:a16="http://schemas.microsoft.com/office/drawing/2014/main" id="{26A5F3D0-5039-064D-668E-62B84CA562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186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Amount</a:t>
                </a:r>
              </a:p>
            </p:txBody>
          </p:sp>
          <p:sp>
            <p:nvSpPr>
              <p:cNvPr id="71708" name="Text Box 47">
                <a:extLst>
                  <a:ext uri="{FF2B5EF4-FFF2-40B4-BE49-F238E27FC236}">
                    <a16:creationId xmlns:a16="http://schemas.microsoft.com/office/drawing/2014/main" id="{67677742-0ADD-437F-CBA3-3AFD2381B3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714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Deposit()</a:t>
                </a:r>
              </a:p>
            </p:txBody>
          </p:sp>
          <p:sp>
            <p:nvSpPr>
              <p:cNvPr id="71709" name="Text Box 48">
                <a:extLst>
                  <a:ext uri="{FF2B5EF4-FFF2-40B4-BE49-F238E27FC236}">
                    <a16:creationId xmlns:a16="http://schemas.microsoft.com/office/drawing/2014/main" id="{66504251-AC85-0182-6C26-EE3F579CF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858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Withdraw()</a:t>
                </a:r>
              </a:p>
            </p:txBody>
          </p:sp>
          <p:sp>
            <p:nvSpPr>
              <p:cNvPr id="71710" name="Text Box 49">
                <a:extLst>
                  <a:ext uri="{FF2B5EF4-FFF2-40B4-BE49-F238E27FC236}">
                    <a16:creationId xmlns:a16="http://schemas.microsoft.com/office/drawing/2014/main" id="{095663DE-6470-3A57-CAE0-8B6231C8F3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002"/>
                <a:ext cx="9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GetBalance()</a:t>
                </a:r>
              </a:p>
            </p:txBody>
          </p:sp>
        </p:grpSp>
        <p:sp>
          <p:nvSpPr>
            <p:cNvPr id="71701" name="Text Box 50">
              <a:extLst>
                <a:ext uri="{FF2B5EF4-FFF2-40B4-BE49-F238E27FC236}">
                  <a16:creationId xmlns:a16="http://schemas.microsoft.com/office/drawing/2014/main" id="{B557986E-85FA-BD8B-0CFD-FD9A5DF8E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440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grpSp>
          <p:nvGrpSpPr>
            <p:cNvPr id="71702" name="Group 51">
              <a:extLst>
                <a:ext uri="{FF2B5EF4-FFF2-40B4-BE49-F238E27FC236}">
                  <a16:creationId xmlns:a16="http://schemas.microsoft.com/office/drawing/2014/main" id="{BCD75AF0-4D29-1029-98FE-A90CA18BA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" y="1413"/>
              <a:ext cx="804" cy="280"/>
              <a:chOff x="1056" y="1545"/>
              <a:chExt cx="804" cy="613"/>
            </a:xfrm>
          </p:grpSpPr>
          <p:sp>
            <p:nvSpPr>
              <p:cNvPr id="71703" name="Text Box 52">
                <a:extLst>
                  <a:ext uri="{FF2B5EF4-FFF2-40B4-BE49-F238E27FC236}">
                    <a16:creationId xmlns:a16="http://schemas.microsoft.com/office/drawing/2014/main" id="{1A9DA031-2D0B-0775-75F9-662E8C1C12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729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bg1"/>
                    </a:solidFill>
                    <a:latin typeface="Palatino" charset="0"/>
                  </a:rPr>
                  <a:t>AccountId</a:t>
                </a:r>
              </a:p>
            </p:txBody>
          </p:sp>
          <p:sp>
            <p:nvSpPr>
              <p:cNvPr id="71704" name="Text Box 53">
                <a:extLst>
                  <a:ext uri="{FF2B5EF4-FFF2-40B4-BE49-F238E27FC236}">
                    <a16:creationId xmlns:a16="http://schemas.microsoft.com/office/drawing/2014/main" id="{89719808-F177-D6EF-4EA9-ED152880FD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545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AccountId</a:t>
                </a:r>
              </a:p>
            </p:txBody>
          </p:sp>
        </p:grpSp>
      </p:grpSp>
      <p:sp>
        <p:nvSpPr>
          <p:cNvPr id="245827" name="Text Box 67">
            <a:extLst>
              <a:ext uri="{FF2B5EF4-FFF2-40B4-BE49-F238E27FC236}">
                <a16:creationId xmlns:a16="http://schemas.microsoft.com/office/drawing/2014/main" id="{C5DF1C0D-CC82-768B-E178-0B630551D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4889" y="1599576"/>
            <a:ext cx="28606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Show Taxonomies</a:t>
            </a:r>
          </a:p>
          <a:p>
            <a:pPr>
              <a:spcBef>
                <a:spcPct val="50000"/>
              </a:spcBef>
            </a:pPr>
            <a:r>
              <a:rPr lang="en-US" altLang="en-US" sz="2400"/>
              <a:t>separately</a:t>
            </a:r>
          </a:p>
        </p:txBody>
      </p:sp>
    </p:spTree>
    <p:extLst>
      <p:ext uri="{BB962C8B-B14F-4D97-AF65-F5344CB8AC3E}">
        <p14:creationId xmlns:p14="http://schemas.microsoft.com/office/powerpoint/2010/main" val="325563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79" name="AutoShape 35">
            <a:extLst>
              <a:ext uri="{FF2B5EF4-FFF2-40B4-BE49-F238E27FC236}">
                <a16:creationId xmlns:a16="http://schemas.microsoft.com/office/drawing/2014/main" id="{68A2D128-BE57-C0EC-3C41-B616E80DA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1866900"/>
            <a:ext cx="914400" cy="609600"/>
          </a:xfrm>
          <a:prstGeom prst="wedgeRoundRectCallout">
            <a:avLst>
              <a:gd name="adj1" fmla="val -130556"/>
              <a:gd name="adj2" fmla="val 10390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Class</a:t>
            </a:r>
          </a:p>
        </p:txBody>
      </p:sp>
      <p:sp>
        <p:nvSpPr>
          <p:cNvPr id="82980" name="AutoShape 36">
            <a:extLst>
              <a:ext uri="{FF2B5EF4-FFF2-40B4-BE49-F238E27FC236}">
                <a16:creationId xmlns:a16="http://schemas.microsoft.com/office/drawing/2014/main" id="{96E41FE2-122C-48F7-C472-B66C6F7F9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1498600"/>
            <a:ext cx="1676400" cy="609600"/>
          </a:xfrm>
          <a:prstGeom prst="wedgeRoundRectCallout">
            <a:avLst>
              <a:gd name="adj1" fmla="val 66287"/>
              <a:gd name="adj2" fmla="val 30025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Association</a:t>
            </a:r>
          </a:p>
        </p:txBody>
      </p:sp>
      <p:sp>
        <p:nvSpPr>
          <p:cNvPr id="82981" name="AutoShape 37">
            <a:extLst>
              <a:ext uri="{FF2B5EF4-FFF2-40B4-BE49-F238E27FC236}">
                <a16:creationId xmlns:a16="http://schemas.microsoft.com/office/drawing/2014/main" id="{DB10B073-D9A6-C866-513B-9BBF4DD5B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605088"/>
            <a:ext cx="1574800" cy="609600"/>
          </a:xfrm>
          <a:prstGeom prst="wedgeRoundRectCallout">
            <a:avLst>
              <a:gd name="adj1" fmla="val -2519"/>
              <a:gd name="adj2" fmla="val 12291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Multiplicity</a:t>
            </a:r>
          </a:p>
        </p:txBody>
      </p:sp>
      <p:sp>
        <p:nvSpPr>
          <p:cNvPr id="117766" name="Text Box 41">
            <a:extLst>
              <a:ext uri="{FF2B5EF4-FFF2-40B4-BE49-F238E27FC236}">
                <a16:creationId xmlns:a16="http://schemas.microsoft.com/office/drawing/2014/main" id="{56FA703B-4F73-D31F-112A-A79373972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583" y="5162671"/>
            <a:ext cx="7600285" cy="461665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 dirty="0">
                <a:solidFill>
                  <a:schemeClr val="bg1"/>
                </a:solidFill>
              </a:rPr>
              <a:t>Class diagrams represent the structure of the system</a:t>
            </a:r>
          </a:p>
        </p:txBody>
      </p:sp>
      <p:sp>
        <p:nvSpPr>
          <p:cNvPr id="82997" name="Rectangle 53">
            <a:extLst>
              <a:ext uri="{FF2B5EF4-FFF2-40B4-BE49-F238E27FC236}">
                <a16:creationId xmlns:a16="http://schemas.microsoft.com/office/drawing/2014/main" id="{D6A24726-3455-76C3-A897-3DF00628A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638550"/>
            <a:ext cx="15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rgbClr val="000000"/>
                </a:solidFill>
                <a:latin typeface="Lucida Sans Typewriter" panose="020B0509030504030204" pitchFamily="49" charset="0"/>
              </a:rPr>
              <a:t>2</a:t>
            </a:r>
            <a:endParaRPr lang="en-US" altLang="en-US" sz="2000" b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82998" name="Freeform 54">
            <a:extLst>
              <a:ext uri="{FF2B5EF4-FFF2-40B4-BE49-F238E27FC236}">
                <a16:creationId xmlns:a16="http://schemas.microsoft.com/office/drawing/2014/main" id="{1C437BDF-7746-79BD-0E50-ACD53649E3FE}"/>
              </a:ext>
            </a:extLst>
          </p:cNvPr>
          <p:cNvSpPr>
            <a:spLocks/>
          </p:cNvSpPr>
          <p:nvPr/>
        </p:nvSpPr>
        <p:spPr bwMode="auto">
          <a:xfrm>
            <a:off x="2714626" y="3297239"/>
            <a:ext cx="2765425" cy="604837"/>
          </a:xfrm>
          <a:custGeom>
            <a:avLst/>
            <a:gdLst>
              <a:gd name="T0" fmla="*/ 0 w 1742"/>
              <a:gd name="T1" fmla="*/ 2147483647 h 337"/>
              <a:gd name="T2" fmla="*/ 0 w 1742"/>
              <a:gd name="T3" fmla="*/ 2147483647 h 337"/>
              <a:gd name="T4" fmla="*/ 2147483647 w 1742"/>
              <a:gd name="T5" fmla="*/ 2147483647 h 337"/>
              <a:gd name="T6" fmla="*/ 2147483647 w 1742"/>
              <a:gd name="T7" fmla="*/ 0 h 337"/>
              <a:gd name="T8" fmla="*/ 0 60000 65536"/>
              <a:gd name="T9" fmla="*/ 0 60000 65536"/>
              <a:gd name="T10" fmla="*/ 0 60000 65536"/>
              <a:gd name="T11" fmla="*/ 0 60000 65536"/>
              <a:gd name="T12" fmla="*/ 0 w 1742"/>
              <a:gd name="T13" fmla="*/ 0 h 337"/>
              <a:gd name="T14" fmla="*/ 1742 w 1742"/>
              <a:gd name="T15" fmla="*/ 337 h 3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42" h="337">
                <a:moveTo>
                  <a:pt x="0" y="337"/>
                </a:moveTo>
                <a:lnTo>
                  <a:pt x="0" y="197"/>
                </a:lnTo>
                <a:lnTo>
                  <a:pt x="1742" y="197"/>
                </a:lnTo>
                <a:lnTo>
                  <a:pt x="174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82996" name="Rectangle 52">
            <a:extLst>
              <a:ext uri="{FF2B5EF4-FFF2-40B4-BE49-F238E27FC236}">
                <a16:creationId xmlns:a16="http://schemas.microsoft.com/office/drawing/2014/main" id="{45B438CF-8BA3-31E7-DB75-3917E52E6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675" y="3375025"/>
            <a:ext cx="152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rgbClr val="000000"/>
                </a:solidFill>
                <a:latin typeface="Lucida Sans Typewriter" panose="020B0509030504030204" pitchFamily="49" charset="0"/>
              </a:rPr>
              <a:t>1</a:t>
            </a:r>
            <a:endParaRPr lang="en-US" altLang="en-US" sz="2000" b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grpSp>
        <p:nvGrpSpPr>
          <p:cNvPr id="2" name="Group 80">
            <a:extLst>
              <a:ext uri="{FF2B5EF4-FFF2-40B4-BE49-F238E27FC236}">
                <a16:creationId xmlns:a16="http://schemas.microsoft.com/office/drawing/2014/main" id="{9AEDB85E-062B-C428-3DC9-559E3EF6B530}"/>
              </a:ext>
            </a:extLst>
          </p:cNvPr>
          <p:cNvGrpSpPr>
            <a:grpSpLocks/>
          </p:cNvGrpSpPr>
          <p:nvPr/>
        </p:nvGrpSpPr>
        <p:grpSpPr bwMode="auto">
          <a:xfrm>
            <a:off x="4613276" y="3279776"/>
            <a:ext cx="5057775" cy="733425"/>
            <a:chOff x="1946" y="2066"/>
            <a:chExt cx="3186" cy="462"/>
          </a:xfrm>
        </p:grpSpPr>
        <p:sp>
          <p:nvSpPr>
            <p:cNvPr id="117787" name="Freeform 51">
              <a:extLst>
                <a:ext uri="{FF2B5EF4-FFF2-40B4-BE49-F238E27FC236}">
                  <a16:creationId xmlns:a16="http://schemas.microsoft.com/office/drawing/2014/main" id="{7A05ADE4-8CB7-FF10-2B68-6174BF9EF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3" y="2069"/>
              <a:ext cx="646" cy="436"/>
            </a:xfrm>
            <a:custGeom>
              <a:avLst/>
              <a:gdLst>
                <a:gd name="T0" fmla="*/ 0 w 646"/>
                <a:gd name="T1" fmla="*/ 7408 h 337"/>
                <a:gd name="T2" fmla="*/ 0 w 646"/>
                <a:gd name="T3" fmla="*/ 5557 h 337"/>
                <a:gd name="T4" fmla="*/ 646 w 646"/>
                <a:gd name="T5" fmla="*/ 5557 h 337"/>
                <a:gd name="T6" fmla="*/ 646 w 646"/>
                <a:gd name="T7" fmla="*/ 0 h 3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6"/>
                <a:gd name="T13" fmla="*/ 0 h 337"/>
                <a:gd name="T14" fmla="*/ 646 w 646"/>
                <a:gd name="T15" fmla="*/ 337 h 3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6" h="337">
                  <a:moveTo>
                    <a:pt x="0" y="337"/>
                  </a:moveTo>
                  <a:lnTo>
                    <a:pt x="0" y="253"/>
                  </a:lnTo>
                  <a:lnTo>
                    <a:pt x="646" y="253"/>
                  </a:lnTo>
                  <a:lnTo>
                    <a:pt x="646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7788" name="Rectangle 55">
              <a:extLst>
                <a:ext uri="{FF2B5EF4-FFF2-40B4-BE49-F238E27FC236}">
                  <a16:creationId xmlns:a16="http://schemas.microsoft.com/office/drawing/2014/main" id="{7FB06E8D-822A-AC3D-D382-EA2A2EEF5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2126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1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17789" name="Rectangle 56">
              <a:extLst>
                <a:ext uri="{FF2B5EF4-FFF2-40B4-BE49-F238E27FC236}">
                  <a16:creationId xmlns:a16="http://schemas.microsoft.com/office/drawing/2014/main" id="{A0517F57-70A4-F9F4-D79A-62E230ECA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2336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1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17790" name="Freeform 57">
              <a:extLst>
                <a:ext uri="{FF2B5EF4-FFF2-40B4-BE49-F238E27FC236}">
                  <a16:creationId xmlns:a16="http://schemas.microsoft.com/office/drawing/2014/main" id="{F395683F-946A-1579-67E8-C02810D57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069"/>
              <a:ext cx="668" cy="454"/>
            </a:xfrm>
            <a:custGeom>
              <a:avLst/>
              <a:gdLst>
                <a:gd name="T0" fmla="*/ 967 w 646"/>
                <a:gd name="T1" fmla="*/ 19207 h 323"/>
                <a:gd name="T2" fmla="*/ 967 w 646"/>
                <a:gd name="T3" fmla="*/ 15054 h 323"/>
                <a:gd name="T4" fmla="*/ 0 w 646"/>
                <a:gd name="T5" fmla="*/ 15054 h 323"/>
                <a:gd name="T6" fmla="*/ 0 w 646"/>
                <a:gd name="T7" fmla="*/ 0 h 3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6"/>
                <a:gd name="T13" fmla="*/ 0 h 323"/>
                <a:gd name="T14" fmla="*/ 646 w 646"/>
                <a:gd name="T15" fmla="*/ 323 h 3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6" h="323">
                  <a:moveTo>
                    <a:pt x="646" y="323"/>
                  </a:moveTo>
                  <a:lnTo>
                    <a:pt x="646" y="253"/>
                  </a:lnTo>
                  <a:lnTo>
                    <a:pt x="0" y="2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7791" name="Rectangle 58">
              <a:extLst>
                <a:ext uri="{FF2B5EF4-FFF2-40B4-BE49-F238E27FC236}">
                  <a16:creationId xmlns:a16="http://schemas.microsoft.com/office/drawing/2014/main" id="{BB9BF687-71A3-916B-9FFE-40063405E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1" y="2126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1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17792" name="Rectangle 59">
              <a:extLst>
                <a:ext uri="{FF2B5EF4-FFF2-40B4-BE49-F238E27FC236}">
                  <a16:creationId xmlns:a16="http://schemas.microsoft.com/office/drawing/2014/main" id="{6A4C60CF-C702-F7C9-F514-30D3A5475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6" y="2325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1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17793" name="Freeform 60">
              <a:extLst>
                <a:ext uri="{FF2B5EF4-FFF2-40B4-BE49-F238E27FC236}">
                  <a16:creationId xmlns:a16="http://schemas.microsoft.com/office/drawing/2014/main" id="{CCDD7555-24E7-83DB-B538-FEF436706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066"/>
              <a:ext cx="1764" cy="447"/>
            </a:xfrm>
            <a:custGeom>
              <a:avLst/>
              <a:gdLst>
                <a:gd name="T0" fmla="*/ 2025 w 1742"/>
                <a:gd name="T1" fmla="*/ 10004 h 337"/>
                <a:gd name="T2" fmla="*/ 2025 w 1742"/>
                <a:gd name="T3" fmla="*/ 5839 h 337"/>
                <a:gd name="T4" fmla="*/ 0 w 1742"/>
                <a:gd name="T5" fmla="*/ 5839 h 337"/>
                <a:gd name="T6" fmla="*/ 0 w 1742"/>
                <a:gd name="T7" fmla="*/ 0 h 3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42"/>
                <a:gd name="T13" fmla="*/ 0 h 337"/>
                <a:gd name="T14" fmla="*/ 1742 w 1742"/>
                <a:gd name="T15" fmla="*/ 337 h 3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42" h="337">
                  <a:moveTo>
                    <a:pt x="1742" y="337"/>
                  </a:moveTo>
                  <a:lnTo>
                    <a:pt x="1742" y="197"/>
                  </a:lnTo>
                  <a:lnTo>
                    <a:pt x="0" y="19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7794" name="Rectangle 61">
              <a:extLst>
                <a:ext uri="{FF2B5EF4-FFF2-40B4-BE49-F238E27FC236}">
                  <a16:creationId xmlns:a16="http://schemas.microsoft.com/office/drawing/2014/main" id="{EF4117FF-E4AD-A9F6-C29B-8ACDD0A7E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2126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1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17795" name="Rectangle 62">
              <a:extLst>
                <a:ext uri="{FF2B5EF4-FFF2-40B4-BE49-F238E27FC236}">
                  <a16:creationId xmlns:a16="http://schemas.microsoft.com/office/drawing/2014/main" id="{B04F7F69-C79B-AEF7-7303-FA4E9D05E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5" y="2325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2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</p:grpSp>
      <p:grpSp>
        <p:nvGrpSpPr>
          <p:cNvPr id="3" name="Group 63">
            <a:extLst>
              <a:ext uri="{FF2B5EF4-FFF2-40B4-BE49-F238E27FC236}">
                <a16:creationId xmlns:a16="http://schemas.microsoft.com/office/drawing/2014/main" id="{F2DD6092-3BE8-55AC-CA92-6A9552DC6A98}"/>
              </a:ext>
            </a:extLst>
          </p:cNvPr>
          <p:cNvGrpSpPr>
            <a:grpSpLocks/>
          </p:cNvGrpSpPr>
          <p:nvPr/>
        </p:nvGrpSpPr>
        <p:grpSpPr bwMode="auto">
          <a:xfrm>
            <a:off x="5054601" y="2860675"/>
            <a:ext cx="1997075" cy="458788"/>
            <a:chOff x="2366" y="1725"/>
            <a:chExt cx="1053" cy="267"/>
          </a:xfrm>
        </p:grpSpPr>
        <p:sp>
          <p:nvSpPr>
            <p:cNvPr id="117785" name="Rectangle 64">
              <a:extLst>
                <a:ext uri="{FF2B5EF4-FFF2-40B4-BE49-F238E27FC236}">
                  <a16:creationId xmlns:a16="http://schemas.microsoft.com/office/drawing/2014/main" id="{20E5093F-BA4B-DECE-0E86-D51805EE6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" y="1725"/>
              <a:ext cx="1053" cy="26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7786" name="Rectangle 65">
              <a:extLst>
                <a:ext uri="{FF2B5EF4-FFF2-40B4-BE49-F238E27FC236}">
                  <a16:creationId xmlns:a16="http://schemas.microsoft.com/office/drawing/2014/main" id="{31112B4C-79F7-3FAF-F498-72A65949C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1782"/>
              <a:ext cx="887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SimpleWatch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</p:grpSp>
      <p:grpSp>
        <p:nvGrpSpPr>
          <p:cNvPr id="4" name="Group 78">
            <a:extLst>
              <a:ext uri="{FF2B5EF4-FFF2-40B4-BE49-F238E27FC236}">
                <a16:creationId xmlns:a16="http://schemas.microsoft.com/office/drawing/2014/main" id="{39985E40-84E5-AADF-FCFF-9547B879FD11}"/>
              </a:ext>
            </a:extLst>
          </p:cNvPr>
          <p:cNvGrpSpPr>
            <a:grpSpLocks/>
          </p:cNvGrpSpPr>
          <p:nvPr/>
        </p:nvGrpSpPr>
        <p:grpSpPr bwMode="auto">
          <a:xfrm>
            <a:off x="4071938" y="3994150"/>
            <a:ext cx="6203950" cy="401638"/>
            <a:chOff x="1605" y="2516"/>
            <a:chExt cx="3908" cy="253"/>
          </a:xfrm>
        </p:grpSpPr>
        <p:grpSp>
          <p:nvGrpSpPr>
            <p:cNvPr id="117776" name="Group 66">
              <a:extLst>
                <a:ext uri="{FF2B5EF4-FFF2-40B4-BE49-F238E27FC236}">
                  <a16:creationId xmlns:a16="http://schemas.microsoft.com/office/drawing/2014/main" id="{86EF494F-3B73-DFEB-2394-D050A24291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5" y="2516"/>
              <a:ext cx="1054" cy="253"/>
              <a:chOff x="1649" y="2329"/>
              <a:chExt cx="1054" cy="253"/>
            </a:xfrm>
          </p:grpSpPr>
          <p:sp>
            <p:nvSpPr>
              <p:cNvPr id="117783" name="Rectangle 67">
                <a:extLst>
                  <a:ext uri="{FF2B5EF4-FFF2-40B4-BE49-F238E27FC236}">
                    <a16:creationId xmlns:a16="http://schemas.microsoft.com/office/drawing/2014/main" id="{2379C917-1257-F8BE-D21B-B58352398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9" y="2329"/>
                <a:ext cx="1054" cy="25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17784" name="Rectangle 68">
                <a:extLst>
                  <a:ext uri="{FF2B5EF4-FFF2-40B4-BE49-F238E27FC236}">
                    <a16:creationId xmlns:a16="http://schemas.microsoft.com/office/drawing/2014/main" id="{A1DF8125-2F32-A544-EE0F-F97BE44CF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7" y="2379"/>
                <a:ext cx="67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0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Display</a:t>
                </a:r>
                <a:endParaRPr lang="en-US" altLang="en-US" sz="20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</p:grpSp>
        <p:grpSp>
          <p:nvGrpSpPr>
            <p:cNvPr id="117777" name="Group 69">
              <a:extLst>
                <a:ext uri="{FF2B5EF4-FFF2-40B4-BE49-F238E27FC236}">
                  <a16:creationId xmlns:a16="http://schemas.microsoft.com/office/drawing/2014/main" id="{61ACF346-07E2-08D6-245C-20ABED4E5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2516"/>
              <a:ext cx="1054" cy="253"/>
              <a:chOff x="3054" y="2329"/>
              <a:chExt cx="1054" cy="253"/>
            </a:xfrm>
          </p:grpSpPr>
          <p:sp>
            <p:nvSpPr>
              <p:cNvPr id="117781" name="Rectangle 70">
                <a:extLst>
                  <a:ext uri="{FF2B5EF4-FFF2-40B4-BE49-F238E27FC236}">
                    <a16:creationId xmlns:a16="http://schemas.microsoft.com/office/drawing/2014/main" id="{134E4451-59F4-A656-7775-4F8CC66ED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4" y="2329"/>
                <a:ext cx="1054" cy="25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17782" name="Rectangle 71">
                <a:extLst>
                  <a:ext uri="{FF2B5EF4-FFF2-40B4-BE49-F238E27FC236}">
                    <a16:creationId xmlns:a16="http://schemas.microsoft.com/office/drawing/2014/main" id="{4517E4A0-DDA9-E352-9AAD-05CD547BD1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379"/>
                <a:ext cx="67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0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Battery</a:t>
                </a:r>
                <a:endParaRPr lang="en-US" altLang="en-US" sz="20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</p:grpSp>
        <p:grpSp>
          <p:nvGrpSpPr>
            <p:cNvPr id="117778" name="Group 72">
              <a:extLst>
                <a:ext uri="{FF2B5EF4-FFF2-40B4-BE49-F238E27FC236}">
                  <a16:creationId xmlns:a16="http://schemas.microsoft.com/office/drawing/2014/main" id="{F6ACCB9B-65C4-BEB8-BC86-47C05A5EE7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5" y="2516"/>
              <a:ext cx="1068" cy="253"/>
              <a:chOff x="4445" y="2329"/>
              <a:chExt cx="1068" cy="253"/>
            </a:xfrm>
          </p:grpSpPr>
          <p:sp>
            <p:nvSpPr>
              <p:cNvPr id="117779" name="Rectangle 73">
                <a:extLst>
                  <a:ext uri="{FF2B5EF4-FFF2-40B4-BE49-F238E27FC236}">
                    <a16:creationId xmlns:a16="http://schemas.microsoft.com/office/drawing/2014/main" id="{4D409B0B-2BC5-D40F-43FE-97B6FF107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2329"/>
                <a:ext cx="1068" cy="25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17780" name="Rectangle 74">
                <a:extLst>
                  <a:ext uri="{FF2B5EF4-FFF2-40B4-BE49-F238E27FC236}">
                    <a16:creationId xmlns:a16="http://schemas.microsoft.com/office/drawing/2014/main" id="{8532192A-D5A3-3AAC-42E8-A1574B6BD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379"/>
                <a:ext cx="38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0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Time</a:t>
                </a:r>
                <a:endParaRPr lang="en-US" altLang="en-US" sz="20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</p:grpSp>
      </p:grpSp>
      <p:grpSp>
        <p:nvGrpSpPr>
          <p:cNvPr id="8" name="Group 75">
            <a:extLst>
              <a:ext uri="{FF2B5EF4-FFF2-40B4-BE49-F238E27FC236}">
                <a16:creationId xmlns:a16="http://schemas.microsoft.com/office/drawing/2014/main" id="{9F2795F8-C06D-66C3-712D-FAEAE96EB618}"/>
              </a:ext>
            </a:extLst>
          </p:cNvPr>
          <p:cNvGrpSpPr>
            <a:grpSpLocks/>
          </p:cNvGrpSpPr>
          <p:nvPr/>
        </p:nvGrpSpPr>
        <p:grpSpPr bwMode="auto">
          <a:xfrm>
            <a:off x="1858963" y="3959226"/>
            <a:ext cx="1827212" cy="436563"/>
            <a:chOff x="244" y="2329"/>
            <a:chExt cx="1068" cy="253"/>
          </a:xfrm>
        </p:grpSpPr>
        <p:sp>
          <p:nvSpPr>
            <p:cNvPr id="117774" name="Rectangle 76">
              <a:extLst>
                <a:ext uri="{FF2B5EF4-FFF2-40B4-BE49-F238E27FC236}">
                  <a16:creationId xmlns:a16="http://schemas.microsoft.com/office/drawing/2014/main" id="{90CCC1B6-569C-E26B-0E36-278CADB8C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" y="2329"/>
              <a:ext cx="1068" cy="2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7775" name="Rectangle 77">
              <a:extLst>
                <a:ext uri="{FF2B5EF4-FFF2-40B4-BE49-F238E27FC236}">
                  <a16:creationId xmlns:a16="http://schemas.microsoft.com/office/drawing/2014/main" id="{9ACB343B-5B90-4F8B-521B-BC6BFD8A7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2379"/>
              <a:ext cx="895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PushButton</a:t>
              </a:r>
              <a:endParaRPr lang="en-US" altLang="en-US" sz="20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E8D62F3B-D92D-4CE2-B9B0-81C3A830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199"/>
            <a:ext cx="10515600" cy="1325563"/>
          </a:xfrm>
        </p:spPr>
        <p:txBody>
          <a:bodyPr/>
          <a:lstStyle/>
          <a:p>
            <a:pPr algn="ctr"/>
            <a:r>
              <a:rPr lang="en-US" sz="4400" b="1" dirty="0">
                <a:latin typeface="Calibri Light(Headings)"/>
                <a:cs typeface="Calibri Light" panose="020F0302020204030204" pitchFamily="34" charset="0"/>
              </a:rPr>
              <a:t>Class</a:t>
            </a:r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Diagrams</a:t>
            </a:r>
          </a:p>
        </p:txBody>
      </p:sp>
    </p:spTree>
    <p:extLst>
      <p:ext uri="{BB962C8B-B14F-4D97-AF65-F5344CB8AC3E}">
        <p14:creationId xmlns:p14="http://schemas.microsoft.com/office/powerpoint/2010/main" val="6882080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79" grpId="0" animBg="1" autoUpdateAnimBg="0"/>
      <p:bldP spid="82980" grpId="0" animBg="1" autoUpdateAnimBg="0"/>
      <p:bldP spid="82981" grpId="0" animBg="1" autoUpdateAnimBg="0"/>
      <p:bldP spid="82997" grpId="0" build="p" autoUpdateAnimBg="0"/>
      <p:bldP spid="82998" grpId="0" animBg="1"/>
      <p:bldP spid="82996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4">
            <a:extLst>
              <a:ext uri="{FF2B5EF4-FFF2-40B4-BE49-F238E27FC236}">
                <a16:creationId xmlns:a16="http://schemas.microsoft.com/office/drawing/2014/main" id="{E3C38BA1-79AD-6261-00AA-A440B3CD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4" y="3165475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1</a:t>
            </a: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119812" name="Rectangle 5">
            <a:extLst>
              <a:ext uri="{FF2B5EF4-FFF2-40B4-BE49-F238E27FC236}">
                <a16:creationId xmlns:a16="http://schemas.microsoft.com/office/drawing/2014/main" id="{A1201150-26C0-BD41-2707-1324EDF98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1" y="3429000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2</a:t>
            </a: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119813" name="Rectangle 6">
            <a:extLst>
              <a:ext uri="{FF2B5EF4-FFF2-40B4-BE49-F238E27FC236}">
                <a16:creationId xmlns:a16="http://schemas.microsoft.com/office/drawing/2014/main" id="{2C3315A5-CFB3-8598-9CE0-F486C635C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6" y="3662363"/>
            <a:ext cx="1539875" cy="317500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19814" name="Rectangle 7">
            <a:extLst>
              <a:ext uri="{FF2B5EF4-FFF2-40B4-BE49-F238E27FC236}">
                <a16:creationId xmlns:a16="http://schemas.microsoft.com/office/drawing/2014/main" id="{65E0123C-51D9-124A-23E0-49431AA6F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1" y="4187826"/>
            <a:ext cx="12350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10000"/>
              </a:lnSpc>
            </a:pPr>
            <a:endParaRPr lang="en-US" altLang="en-US" sz="1800">
              <a:solidFill>
                <a:srgbClr val="000000"/>
              </a:solidFill>
              <a:latin typeface="Courier" charset="0"/>
            </a:endParaRPr>
          </a:p>
          <a:p>
            <a:pPr algn="l"/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push()</a:t>
            </a:r>
            <a:br>
              <a:rPr lang="en-US" altLang="en-US" sz="1800">
                <a:solidFill>
                  <a:srgbClr val="000000"/>
                </a:solidFill>
                <a:latin typeface="Courier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release()</a:t>
            </a: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119815" name="Freeform 8">
            <a:extLst>
              <a:ext uri="{FF2B5EF4-FFF2-40B4-BE49-F238E27FC236}">
                <a16:creationId xmlns:a16="http://schemas.microsoft.com/office/drawing/2014/main" id="{28DE345C-A820-3E93-6C68-8132D45618FA}"/>
              </a:ext>
            </a:extLst>
          </p:cNvPr>
          <p:cNvSpPr>
            <a:spLocks/>
          </p:cNvSpPr>
          <p:nvPr/>
        </p:nvSpPr>
        <p:spPr bwMode="auto">
          <a:xfrm>
            <a:off x="2892426" y="3113089"/>
            <a:ext cx="2568575" cy="496887"/>
          </a:xfrm>
          <a:custGeom>
            <a:avLst/>
            <a:gdLst>
              <a:gd name="T0" fmla="*/ 0 w 1618"/>
              <a:gd name="T1" fmla="*/ 2147483647 h 313"/>
              <a:gd name="T2" fmla="*/ 0 w 1618"/>
              <a:gd name="T3" fmla="*/ 2147483647 h 313"/>
              <a:gd name="T4" fmla="*/ 2147483647 w 1618"/>
              <a:gd name="T5" fmla="*/ 2147483647 h 313"/>
              <a:gd name="T6" fmla="*/ 2147483647 w 1618"/>
              <a:gd name="T7" fmla="*/ 0 h 313"/>
              <a:gd name="T8" fmla="*/ 0 60000 65536"/>
              <a:gd name="T9" fmla="*/ 0 60000 65536"/>
              <a:gd name="T10" fmla="*/ 0 60000 65536"/>
              <a:gd name="T11" fmla="*/ 0 60000 65536"/>
              <a:gd name="T12" fmla="*/ 0 w 1618"/>
              <a:gd name="T13" fmla="*/ 0 h 313"/>
              <a:gd name="T14" fmla="*/ 1618 w 1618"/>
              <a:gd name="T15" fmla="*/ 313 h 3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8" h="313">
                <a:moveTo>
                  <a:pt x="0" y="313"/>
                </a:moveTo>
                <a:lnTo>
                  <a:pt x="0" y="188"/>
                </a:lnTo>
                <a:lnTo>
                  <a:pt x="1618" y="188"/>
                </a:lnTo>
                <a:lnTo>
                  <a:pt x="1618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19816" name="Rectangle 9">
            <a:extLst>
              <a:ext uri="{FF2B5EF4-FFF2-40B4-BE49-F238E27FC236}">
                <a16:creationId xmlns:a16="http://schemas.microsoft.com/office/drawing/2014/main" id="{F25012B8-57DA-6680-151A-DACCDF393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9" y="3981451"/>
            <a:ext cx="1533525" cy="219075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19817" name="Rectangle 10">
            <a:extLst>
              <a:ext uri="{FF2B5EF4-FFF2-40B4-BE49-F238E27FC236}">
                <a16:creationId xmlns:a16="http://schemas.microsoft.com/office/drawing/2014/main" id="{08AC73DE-4CEC-384C-9B89-D7B00A710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6" y="4200525"/>
            <a:ext cx="1541463" cy="622300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119818" name="Group 11">
            <a:extLst>
              <a:ext uri="{FF2B5EF4-FFF2-40B4-BE49-F238E27FC236}">
                <a16:creationId xmlns:a16="http://schemas.microsoft.com/office/drawing/2014/main" id="{89E3E6B8-37E8-0B56-9E12-7EFD5C31AD38}"/>
              </a:ext>
            </a:extLst>
          </p:cNvPr>
          <p:cNvGrpSpPr>
            <a:grpSpLocks/>
          </p:cNvGrpSpPr>
          <p:nvPr/>
        </p:nvGrpSpPr>
        <p:grpSpPr bwMode="auto">
          <a:xfrm>
            <a:off x="3741739" y="3130551"/>
            <a:ext cx="2282825" cy="2930525"/>
            <a:chOff x="1694" y="1972"/>
            <a:chExt cx="1036" cy="1280"/>
          </a:xfrm>
        </p:grpSpPr>
        <p:sp>
          <p:nvSpPr>
            <p:cNvPr id="119844" name="Freeform 12">
              <a:extLst>
                <a:ext uri="{FF2B5EF4-FFF2-40B4-BE49-F238E27FC236}">
                  <a16:creationId xmlns:a16="http://schemas.microsoft.com/office/drawing/2014/main" id="{D3A57DF7-FE81-7EFB-DEE7-34E43E06A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" y="1972"/>
              <a:ext cx="595" cy="313"/>
            </a:xfrm>
            <a:custGeom>
              <a:avLst/>
              <a:gdLst>
                <a:gd name="T0" fmla="*/ 0 w 595"/>
                <a:gd name="T1" fmla="*/ 313 h 313"/>
                <a:gd name="T2" fmla="*/ 0 w 595"/>
                <a:gd name="T3" fmla="*/ 240 h 313"/>
                <a:gd name="T4" fmla="*/ 595 w 595"/>
                <a:gd name="T5" fmla="*/ 240 h 313"/>
                <a:gd name="T6" fmla="*/ 595 w 595"/>
                <a:gd name="T7" fmla="*/ 0 h 3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5"/>
                <a:gd name="T13" fmla="*/ 0 h 313"/>
                <a:gd name="T14" fmla="*/ 595 w 595"/>
                <a:gd name="T15" fmla="*/ 313 h 3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5" h="313">
                  <a:moveTo>
                    <a:pt x="0" y="313"/>
                  </a:moveTo>
                  <a:lnTo>
                    <a:pt x="0" y="240"/>
                  </a:lnTo>
                  <a:lnTo>
                    <a:pt x="595" y="240"/>
                  </a:lnTo>
                  <a:lnTo>
                    <a:pt x="595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9845" name="Rectangle 13">
              <a:extLst>
                <a:ext uri="{FF2B5EF4-FFF2-40B4-BE49-F238E27FC236}">
                  <a16:creationId xmlns:a16="http://schemas.microsoft.com/office/drawing/2014/main" id="{BBEBACA5-4FDB-CB5A-087D-98E3F389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" y="1994"/>
              <a:ext cx="62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1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19846" name="Rectangle 14">
              <a:extLst>
                <a:ext uri="{FF2B5EF4-FFF2-40B4-BE49-F238E27FC236}">
                  <a16:creationId xmlns:a16="http://schemas.microsoft.com/office/drawing/2014/main" id="{71876A03-E58F-85BE-71B4-F7115701E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5" y="2182"/>
              <a:ext cx="62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1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grpSp>
          <p:nvGrpSpPr>
            <p:cNvPr id="119847" name="Group 15">
              <a:extLst>
                <a:ext uri="{FF2B5EF4-FFF2-40B4-BE49-F238E27FC236}">
                  <a16:creationId xmlns:a16="http://schemas.microsoft.com/office/drawing/2014/main" id="{2527F154-334D-130B-B9A9-6D6518B94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4" y="2285"/>
              <a:ext cx="1008" cy="967"/>
              <a:chOff x="1694" y="2285"/>
              <a:chExt cx="1008" cy="967"/>
            </a:xfrm>
          </p:grpSpPr>
          <p:sp>
            <p:nvSpPr>
              <p:cNvPr id="119848" name="Text Box 16">
                <a:extLst>
                  <a:ext uri="{FF2B5EF4-FFF2-40B4-BE49-F238E27FC236}">
                    <a16:creationId xmlns:a16="http://schemas.microsoft.com/office/drawing/2014/main" id="{F2E266A8-C94E-8595-E4D0-97A1273C1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8" y="2457"/>
                <a:ext cx="984" cy="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blinkIdx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blinkSeconds()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blinkMinutes()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blinkHours()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stopBlinking()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referesh()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49" name="Rectangle 17">
                <a:extLst>
                  <a:ext uri="{FF2B5EF4-FFF2-40B4-BE49-F238E27FC236}">
                    <a16:creationId xmlns:a16="http://schemas.microsoft.com/office/drawing/2014/main" id="{67A37568-5597-6489-F4DB-D695379B6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7" y="2285"/>
                <a:ext cx="989" cy="201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19850" name="Rectangle 18">
                <a:extLst>
                  <a:ext uri="{FF2B5EF4-FFF2-40B4-BE49-F238E27FC236}">
                    <a16:creationId xmlns:a16="http://schemas.microsoft.com/office/drawing/2014/main" id="{DE3BCAC8-7550-30BF-0C85-2B1F389E6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6" y="2352"/>
                <a:ext cx="623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LCDDisplay</a:t>
                </a:r>
              </a:p>
            </p:txBody>
          </p:sp>
          <p:sp>
            <p:nvSpPr>
              <p:cNvPr id="119851" name="Rectangle 19">
                <a:extLst>
                  <a:ext uri="{FF2B5EF4-FFF2-40B4-BE49-F238E27FC236}">
                    <a16:creationId xmlns:a16="http://schemas.microsoft.com/office/drawing/2014/main" id="{DE51AD0A-5F93-17EE-77F6-D024EA44C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4" y="2488"/>
                <a:ext cx="992" cy="115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19852" name="Rectangle 20">
                <a:extLst>
                  <a:ext uri="{FF2B5EF4-FFF2-40B4-BE49-F238E27FC236}">
                    <a16:creationId xmlns:a16="http://schemas.microsoft.com/office/drawing/2014/main" id="{53183586-D788-96D9-75E8-BF753F4E0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6" y="2596"/>
                <a:ext cx="992" cy="656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</p:grpSp>
      <p:grpSp>
        <p:nvGrpSpPr>
          <p:cNvPr id="119819" name="Group 21">
            <a:extLst>
              <a:ext uri="{FF2B5EF4-FFF2-40B4-BE49-F238E27FC236}">
                <a16:creationId xmlns:a16="http://schemas.microsoft.com/office/drawing/2014/main" id="{B3BB4742-35AE-21B5-CA40-6567AB20F407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130550"/>
            <a:ext cx="1982788" cy="1397000"/>
            <a:chOff x="2918" y="1972"/>
            <a:chExt cx="1077" cy="627"/>
          </a:xfrm>
        </p:grpSpPr>
        <p:sp>
          <p:nvSpPr>
            <p:cNvPr id="119838" name="Rectangle 22">
              <a:extLst>
                <a:ext uri="{FF2B5EF4-FFF2-40B4-BE49-F238E27FC236}">
                  <a16:creationId xmlns:a16="http://schemas.microsoft.com/office/drawing/2014/main" id="{BD0F602B-5F4F-CE38-1004-9A024807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2285"/>
              <a:ext cx="993" cy="184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9839" name="Rectangle 23">
              <a:extLst>
                <a:ext uri="{FF2B5EF4-FFF2-40B4-BE49-F238E27FC236}">
                  <a16:creationId xmlns:a16="http://schemas.microsoft.com/office/drawing/2014/main" id="{7273F801-7668-395D-27B4-4B97F5B5A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1" y="2352"/>
              <a:ext cx="521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Battery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Load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19840" name="Freeform 24">
              <a:extLst>
                <a:ext uri="{FF2B5EF4-FFF2-40B4-BE49-F238E27FC236}">
                  <a16:creationId xmlns:a16="http://schemas.microsoft.com/office/drawing/2014/main" id="{D63BE225-914B-16E4-461E-738A8BDD0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972"/>
              <a:ext cx="595" cy="302"/>
            </a:xfrm>
            <a:custGeom>
              <a:avLst/>
              <a:gdLst>
                <a:gd name="T0" fmla="*/ 595 w 595"/>
                <a:gd name="T1" fmla="*/ 302 h 302"/>
                <a:gd name="T2" fmla="*/ 595 w 595"/>
                <a:gd name="T3" fmla="*/ 229 h 302"/>
                <a:gd name="T4" fmla="*/ 0 w 595"/>
                <a:gd name="T5" fmla="*/ 229 h 302"/>
                <a:gd name="T6" fmla="*/ 0 w 595"/>
                <a:gd name="T7" fmla="*/ 0 h 3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5"/>
                <a:gd name="T13" fmla="*/ 0 h 302"/>
                <a:gd name="T14" fmla="*/ 595 w 595"/>
                <a:gd name="T15" fmla="*/ 302 h 3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5" h="302">
                  <a:moveTo>
                    <a:pt x="595" y="302"/>
                  </a:moveTo>
                  <a:lnTo>
                    <a:pt x="595" y="229"/>
                  </a:lnTo>
                  <a:lnTo>
                    <a:pt x="0" y="229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19841" name="Rectangle 25">
              <a:extLst>
                <a:ext uri="{FF2B5EF4-FFF2-40B4-BE49-F238E27FC236}">
                  <a16:creationId xmlns:a16="http://schemas.microsoft.com/office/drawing/2014/main" id="{2E224044-0722-9B18-D4A4-DF1708129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4" y="1987"/>
              <a:ext cx="74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1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19842" name="Rectangle 26">
              <a:extLst>
                <a:ext uri="{FF2B5EF4-FFF2-40B4-BE49-F238E27FC236}">
                  <a16:creationId xmlns:a16="http://schemas.microsoft.com/office/drawing/2014/main" id="{75D0A4C9-7E75-BC27-6AEF-59EB6351B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2175"/>
              <a:ext cx="74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2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19843" name="Rectangle 27">
              <a:extLst>
                <a:ext uri="{FF2B5EF4-FFF2-40B4-BE49-F238E27FC236}">
                  <a16:creationId xmlns:a16="http://schemas.microsoft.com/office/drawing/2014/main" id="{5D38FD9B-69AA-BCAB-B60C-7E3384C53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2468"/>
              <a:ext cx="992" cy="131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119820" name="Rectangle 29">
            <a:extLst>
              <a:ext uri="{FF2B5EF4-FFF2-40B4-BE49-F238E27FC236}">
                <a16:creationId xmlns:a16="http://schemas.microsoft.com/office/drawing/2014/main" id="{2554ED54-DDA4-D540-7D83-DF661A42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9" y="3168650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1</a:t>
            </a:r>
            <a:endParaRPr lang="en-US" altLang="en-US" sz="1800" b="0">
              <a:solidFill>
                <a:schemeClr val="tx1"/>
              </a:solidFill>
            </a:endParaRPr>
          </a:p>
        </p:txBody>
      </p:sp>
      <p:grpSp>
        <p:nvGrpSpPr>
          <p:cNvPr id="119821" name="Group 30">
            <a:extLst>
              <a:ext uri="{FF2B5EF4-FFF2-40B4-BE49-F238E27FC236}">
                <a16:creationId xmlns:a16="http://schemas.microsoft.com/office/drawing/2014/main" id="{6E8A9726-7D10-E503-2068-922089D8EA1C}"/>
              </a:ext>
            </a:extLst>
          </p:cNvPr>
          <p:cNvGrpSpPr>
            <a:grpSpLocks/>
          </p:cNvGrpSpPr>
          <p:nvPr/>
        </p:nvGrpSpPr>
        <p:grpSpPr bwMode="auto">
          <a:xfrm>
            <a:off x="6554789" y="3113089"/>
            <a:ext cx="3709987" cy="1381125"/>
            <a:chOff x="3169" y="1961"/>
            <a:chExt cx="2119" cy="649"/>
          </a:xfrm>
        </p:grpSpPr>
        <p:sp>
          <p:nvSpPr>
            <p:cNvPr id="119832" name="Rectangle 31">
              <a:extLst>
                <a:ext uri="{FF2B5EF4-FFF2-40B4-BE49-F238E27FC236}">
                  <a16:creationId xmlns:a16="http://schemas.microsoft.com/office/drawing/2014/main" id="{F6632951-CBE2-2E11-2E9C-200D78AE5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285"/>
              <a:ext cx="992" cy="196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19833" name="Group 32">
              <a:extLst>
                <a:ext uri="{FF2B5EF4-FFF2-40B4-BE49-F238E27FC236}">
                  <a16:creationId xmlns:a16="http://schemas.microsoft.com/office/drawing/2014/main" id="{4FBD760B-7796-3B41-6F59-4B11EF3482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9" y="1961"/>
              <a:ext cx="2117" cy="649"/>
              <a:chOff x="3169" y="1961"/>
              <a:chExt cx="2117" cy="649"/>
            </a:xfrm>
          </p:grpSpPr>
          <p:sp>
            <p:nvSpPr>
              <p:cNvPr id="119834" name="Rectangle 33">
                <a:extLst>
                  <a:ext uri="{FF2B5EF4-FFF2-40B4-BE49-F238E27FC236}">
                    <a16:creationId xmlns:a16="http://schemas.microsoft.com/office/drawing/2014/main" id="{48B5062E-E787-7AAA-1373-2BB1CB2E1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52"/>
                <a:ext cx="314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Time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Now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35" name="Rectangle 34">
                <a:extLst>
                  <a:ext uri="{FF2B5EF4-FFF2-40B4-BE49-F238E27FC236}">
                    <a16:creationId xmlns:a16="http://schemas.microsoft.com/office/drawing/2014/main" id="{D72A9E9F-4969-08CC-234D-33A7CF122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4" y="2175"/>
                <a:ext cx="7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1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36" name="Freeform 35">
                <a:extLst>
                  <a:ext uri="{FF2B5EF4-FFF2-40B4-BE49-F238E27FC236}">
                    <a16:creationId xmlns:a16="http://schemas.microsoft.com/office/drawing/2014/main" id="{5817FFE1-B901-6A3E-1276-B597A5DE1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1961"/>
                <a:ext cx="1618" cy="313"/>
              </a:xfrm>
              <a:custGeom>
                <a:avLst/>
                <a:gdLst>
                  <a:gd name="T0" fmla="*/ 1618 w 1618"/>
                  <a:gd name="T1" fmla="*/ 313 h 313"/>
                  <a:gd name="T2" fmla="*/ 1618 w 1618"/>
                  <a:gd name="T3" fmla="*/ 188 h 313"/>
                  <a:gd name="T4" fmla="*/ 0 w 1618"/>
                  <a:gd name="T5" fmla="*/ 188 h 313"/>
                  <a:gd name="T6" fmla="*/ 0 w 1618"/>
                  <a:gd name="T7" fmla="*/ 0 h 3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18"/>
                  <a:gd name="T13" fmla="*/ 0 h 313"/>
                  <a:gd name="T14" fmla="*/ 1618 w 1618"/>
                  <a:gd name="T15" fmla="*/ 313 h 3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18" h="313">
                    <a:moveTo>
                      <a:pt x="1618" y="313"/>
                    </a:moveTo>
                    <a:lnTo>
                      <a:pt x="1618" y="188"/>
                    </a:lnTo>
                    <a:lnTo>
                      <a:pt x="0" y="18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19837" name="Rectangle 36">
                <a:extLst>
                  <a:ext uri="{FF2B5EF4-FFF2-40B4-BE49-F238E27FC236}">
                    <a16:creationId xmlns:a16="http://schemas.microsoft.com/office/drawing/2014/main" id="{CDCE08D8-8650-62FE-5A7C-5BC8CD2A1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4" y="2480"/>
                <a:ext cx="992" cy="115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</p:grpSp>
      <p:sp>
        <p:nvSpPr>
          <p:cNvPr id="119822" name="Rectangle 37">
            <a:extLst>
              <a:ext uri="{FF2B5EF4-FFF2-40B4-BE49-F238E27FC236}">
                <a16:creationId xmlns:a16="http://schemas.microsoft.com/office/drawing/2014/main" id="{E9897B0D-E019-3024-B7A7-56FD4AFE5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563" y="2747964"/>
            <a:ext cx="1573212" cy="382587"/>
          </a:xfrm>
          <a:prstGeom prst="rect">
            <a:avLst/>
          </a:prstGeom>
          <a:solidFill>
            <a:schemeClr val="bg1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119823" name="Rectangle 38">
            <a:extLst>
              <a:ext uri="{FF2B5EF4-FFF2-40B4-BE49-F238E27FC236}">
                <a16:creationId xmlns:a16="http://schemas.microsoft.com/office/drawing/2014/main" id="{FA6DAA6D-12FB-2EC5-72AB-CC9AD1743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050" y="2840039"/>
            <a:ext cx="685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Watch</a:t>
            </a: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189482" name="AutoShape 42">
            <a:extLst>
              <a:ext uri="{FF2B5EF4-FFF2-40B4-BE49-F238E27FC236}">
                <a16:creationId xmlns:a16="http://schemas.microsoft.com/office/drawing/2014/main" id="{73191DF9-005A-D459-610D-0780D63E6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5356225"/>
            <a:ext cx="1574800" cy="609600"/>
          </a:xfrm>
          <a:prstGeom prst="wedgeRoundRectCallout">
            <a:avLst>
              <a:gd name="adj1" fmla="val -192542"/>
              <a:gd name="adj2" fmla="val -13958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Operations</a:t>
            </a:r>
          </a:p>
        </p:txBody>
      </p:sp>
      <p:sp>
        <p:nvSpPr>
          <p:cNvPr id="119825" name="Rectangle 43">
            <a:extLst>
              <a:ext uri="{FF2B5EF4-FFF2-40B4-BE49-F238E27FC236}">
                <a16:creationId xmlns:a16="http://schemas.microsoft.com/office/drawing/2014/main" id="{DCD7DA66-1951-ACD8-B403-C1969D7B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3984625"/>
            <a:ext cx="685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state</a:t>
            </a:r>
          </a:p>
        </p:txBody>
      </p:sp>
      <p:sp>
        <p:nvSpPr>
          <p:cNvPr id="119826" name="Rectangle 44">
            <a:extLst>
              <a:ext uri="{FF2B5EF4-FFF2-40B4-BE49-F238E27FC236}">
                <a16:creationId xmlns:a16="http://schemas.microsoft.com/office/drawing/2014/main" id="{92CC52E8-518A-67AB-3828-16D575017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113" y="3743325"/>
            <a:ext cx="137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000000"/>
                </a:solidFill>
                <a:latin typeface="Courier" charset="0"/>
              </a:rPr>
              <a:t>PushButton</a:t>
            </a:r>
          </a:p>
        </p:txBody>
      </p:sp>
      <p:sp>
        <p:nvSpPr>
          <p:cNvPr id="189485" name="AutoShape 45">
            <a:extLst>
              <a:ext uri="{FF2B5EF4-FFF2-40B4-BE49-F238E27FC236}">
                <a16:creationId xmlns:a16="http://schemas.microsoft.com/office/drawing/2014/main" id="{492C9018-208C-EB6F-C6CA-9ACF316E5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275" y="5513388"/>
            <a:ext cx="1384300" cy="609600"/>
          </a:xfrm>
          <a:prstGeom prst="wedgeRoundRectCallout">
            <a:avLst>
              <a:gd name="adj1" fmla="val 85894"/>
              <a:gd name="adj2" fmla="val -22500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Attribute</a:t>
            </a:r>
          </a:p>
        </p:txBody>
      </p:sp>
      <p:sp>
        <p:nvSpPr>
          <p:cNvPr id="119829" name="AutoShape 49">
            <a:extLst>
              <a:ext uri="{FF2B5EF4-FFF2-40B4-BE49-F238E27FC236}">
                <a16:creationId xmlns:a16="http://schemas.microsoft.com/office/drawing/2014/main" id="{B3D986C8-178F-3F32-6A7F-647FB8CB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1866900"/>
            <a:ext cx="914400" cy="609600"/>
          </a:xfrm>
          <a:prstGeom prst="wedgeRoundRectCallout">
            <a:avLst>
              <a:gd name="adj1" fmla="val -130556"/>
              <a:gd name="adj2" fmla="val 10390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Class</a:t>
            </a:r>
          </a:p>
        </p:txBody>
      </p:sp>
      <p:sp>
        <p:nvSpPr>
          <p:cNvPr id="119830" name="AutoShape 50">
            <a:extLst>
              <a:ext uri="{FF2B5EF4-FFF2-40B4-BE49-F238E27FC236}">
                <a16:creationId xmlns:a16="http://schemas.microsoft.com/office/drawing/2014/main" id="{31775484-4B16-DC5B-BB43-E9DDC217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1498600"/>
            <a:ext cx="1676400" cy="609600"/>
          </a:xfrm>
          <a:prstGeom prst="wedgeRoundRectCallout">
            <a:avLst>
              <a:gd name="adj1" fmla="val 66287"/>
              <a:gd name="adj2" fmla="val 30025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Association</a:t>
            </a:r>
          </a:p>
        </p:txBody>
      </p:sp>
      <p:sp>
        <p:nvSpPr>
          <p:cNvPr id="119831" name="AutoShape 51">
            <a:extLst>
              <a:ext uri="{FF2B5EF4-FFF2-40B4-BE49-F238E27FC236}">
                <a16:creationId xmlns:a16="http://schemas.microsoft.com/office/drawing/2014/main" id="{5FBEB21F-5034-E340-625F-20332F645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2560638"/>
            <a:ext cx="1574800" cy="609600"/>
          </a:xfrm>
          <a:prstGeom prst="wedgeRoundRectCallout">
            <a:avLst>
              <a:gd name="adj1" fmla="val -2519"/>
              <a:gd name="adj2" fmla="val 12291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Multiplicity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C2E0C7-E413-8558-5531-C4C84341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199"/>
            <a:ext cx="10515600" cy="1325563"/>
          </a:xfrm>
        </p:spPr>
        <p:txBody>
          <a:bodyPr/>
          <a:lstStyle/>
          <a:p>
            <a:pPr algn="ctr"/>
            <a:r>
              <a:rPr lang="en-US" sz="4400" b="1" dirty="0">
                <a:latin typeface="Calibri Light(Headings)"/>
                <a:cs typeface="Calibri Light" panose="020F0302020204030204" pitchFamily="34" charset="0"/>
              </a:rPr>
              <a:t>Class</a:t>
            </a:r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Diagrams</a:t>
            </a:r>
          </a:p>
        </p:txBody>
      </p:sp>
    </p:spTree>
    <p:extLst>
      <p:ext uri="{BB962C8B-B14F-4D97-AF65-F5344CB8AC3E}">
        <p14:creationId xmlns:p14="http://schemas.microsoft.com/office/powerpoint/2010/main" val="15644463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82" grpId="0" animBg="1" autoUpdateAnimBg="0"/>
      <p:bldP spid="189485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0AE6-2513-1FE5-31E0-A5B8ABE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Calibri Light(Headings)"/>
              </a:rPr>
              <a:t>Sequence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308A-EF6B-273D-A0E0-C28FCAFF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altLang="en-US" sz="2400" dirty="0">
              <a:latin typeface="Calibri Body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latin typeface="Calibri Body"/>
                <a:ea typeface="ＭＳ Ｐゴシック" panose="020B0600070205080204" pitchFamily="34" charset="-128"/>
              </a:rPr>
              <a:t>Used to formalize the dynamic behavior of the system and to visualize the communication among objects. </a:t>
            </a:r>
          </a:p>
          <a:p>
            <a:pPr lvl="1"/>
            <a:endParaRPr lang="en-US" altLang="en-US" sz="2400" dirty="0">
              <a:latin typeface="Calibri Body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latin typeface="Calibri Body"/>
                <a:ea typeface="ＭＳ Ｐゴシック" panose="020B0600070205080204" pitchFamily="34" charset="-128"/>
              </a:rPr>
              <a:t>Useful for identifying additional objects that participate in the use cases. </a:t>
            </a:r>
          </a:p>
          <a:p>
            <a:pPr lvl="1"/>
            <a:endParaRPr lang="en-US" altLang="en-US" sz="2400" dirty="0">
              <a:latin typeface="Calibri Body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latin typeface="Calibri Body"/>
                <a:ea typeface="ＭＳ Ｐゴシック" panose="020B0600070205080204" pitchFamily="34" charset="-128"/>
              </a:rPr>
              <a:t>Objects involved in a use case are called participating objects. </a:t>
            </a:r>
          </a:p>
          <a:p>
            <a:pPr lvl="1"/>
            <a:endParaRPr lang="en-US" altLang="en-US" sz="2400" dirty="0">
              <a:latin typeface="Calibri Body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latin typeface="Calibri Body"/>
                <a:ea typeface="ＭＳ Ｐゴシック" panose="020B0600070205080204" pitchFamily="34" charset="-128"/>
              </a:rPr>
              <a:t>Sequence diagrams represent the interactions that take place among these objects.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696773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CFE867B-9456-2EF2-C786-1DA95AB78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Sequence Diagrams</a:t>
            </a:r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7ADDCA1F-CEA6-DCC1-9512-ACDC7E7E827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30913" y="1504950"/>
            <a:ext cx="4540250" cy="4800600"/>
          </a:xfrm>
        </p:spPr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Used during analysis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To refine use case descriptions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to find additional objects (“participating objects”)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Used during system design 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to refine subsystem interfaces</a:t>
            </a:r>
          </a:p>
          <a:p>
            <a:r>
              <a:rPr lang="en-US" altLang="en-US" sz="2000" b="1" i="1">
                <a:ea typeface="ＭＳ Ｐゴシック" panose="020B0600070205080204" pitchFamily="34" charset="-128"/>
              </a:rPr>
              <a:t>Instances </a:t>
            </a:r>
            <a:r>
              <a:rPr lang="en-US" altLang="en-US" sz="2000">
                <a:ea typeface="ＭＳ Ｐゴシック" panose="020B0600070205080204" pitchFamily="34" charset="-128"/>
              </a:rPr>
              <a:t> are represented by rectangles. </a:t>
            </a:r>
            <a:r>
              <a:rPr lang="en-US" altLang="en-US" sz="2000" b="1" i="1">
                <a:ea typeface="ＭＳ Ｐゴシック" panose="020B0600070205080204" pitchFamily="34" charset="-128"/>
              </a:rPr>
              <a:t>Actors</a:t>
            </a:r>
            <a:r>
              <a:rPr lang="en-US" altLang="en-US" sz="2000">
                <a:ea typeface="ＭＳ Ｐゴシック" panose="020B0600070205080204" pitchFamily="34" charset="-128"/>
              </a:rPr>
              <a:t> by sticky figures</a:t>
            </a:r>
          </a:p>
          <a:p>
            <a:r>
              <a:rPr lang="en-US" altLang="en-US" sz="2000" b="1" i="1">
                <a:ea typeface="ＭＳ Ｐゴシック" panose="020B0600070205080204" pitchFamily="34" charset="-128"/>
              </a:rPr>
              <a:t>Lifelines</a:t>
            </a:r>
            <a:r>
              <a:rPr lang="en-US" altLang="en-US" sz="2000">
                <a:ea typeface="ＭＳ Ｐゴシック" panose="020B0600070205080204" pitchFamily="34" charset="-128"/>
              </a:rPr>
              <a:t> are represented by dashed lines</a:t>
            </a:r>
          </a:p>
          <a:p>
            <a:r>
              <a:rPr lang="en-US" altLang="en-US" sz="2000" b="1" i="1">
                <a:ea typeface="ＭＳ Ｐゴシック" panose="020B0600070205080204" pitchFamily="34" charset="-128"/>
              </a:rPr>
              <a:t>Messages</a:t>
            </a:r>
            <a:r>
              <a:rPr lang="en-US" altLang="en-US" sz="2000">
                <a:ea typeface="ＭＳ Ｐゴシック" panose="020B0600070205080204" pitchFamily="34" charset="-128"/>
              </a:rPr>
              <a:t> are represented by arrows</a:t>
            </a:r>
            <a:r>
              <a:rPr lang="en-US" altLang="en-US" sz="2000" b="1" i="1"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sz="2000" b="1" i="1">
                <a:ea typeface="ＭＳ Ｐゴシック" panose="020B0600070205080204" pitchFamily="34" charset="-128"/>
              </a:rPr>
              <a:t>Activations</a:t>
            </a:r>
            <a:r>
              <a:rPr lang="en-US" altLang="en-US" sz="2000">
                <a:ea typeface="ＭＳ Ｐゴシック" panose="020B0600070205080204" pitchFamily="34" charset="-128"/>
              </a:rPr>
              <a:t> are represented by narrow rectangles.</a:t>
            </a:r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7744D415-B495-D485-C88D-C93BB217A83E}"/>
              </a:ext>
            </a:extLst>
          </p:cNvPr>
          <p:cNvGrpSpPr>
            <a:grpSpLocks/>
          </p:cNvGrpSpPr>
          <p:nvPr/>
        </p:nvGrpSpPr>
        <p:grpSpPr bwMode="auto">
          <a:xfrm>
            <a:off x="2693989" y="2363788"/>
            <a:ext cx="1900237" cy="3421062"/>
            <a:chOff x="737" y="1489"/>
            <a:chExt cx="1197" cy="2155"/>
          </a:xfrm>
        </p:grpSpPr>
        <p:grpSp>
          <p:nvGrpSpPr>
            <p:cNvPr id="75808" name="Group 60">
              <a:extLst>
                <a:ext uri="{FF2B5EF4-FFF2-40B4-BE49-F238E27FC236}">
                  <a16:creationId xmlns:a16="http://schemas.microsoft.com/office/drawing/2014/main" id="{C37623BD-C655-0ADD-F79F-096CEF5261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" y="1489"/>
              <a:ext cx="1173" cy="134"/>
              <a:chOff x="971" y="1489"/>
              <a:chExt cx="1173" cy="134"/>
            </a:xfrm>
          </p:grpSpPr>
          <p:sp>
            <p:nvSpPr>
              <p:cNvPr id="75818" name="Line 32">
                <a:extLst>
                  <a:ext uri="{FF2B5EF4-FFF2-40B4-BE49-F238E27FC236}">
                    <a16:creationId xmlns:a16="http://schemas.microsoft.com/office/drawing/2014/main" id="{BB20264A-3368-3E2E-3504-2E8DF4950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1" y="1602"/>
                <a:ext cx="1173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5819" name="Rectangle 33">
                <a:extLst>
                  <a:ext uri="{FF2B5EF4-FFF2-40B4-BE49-F238E27FC236}">
                    <a16:creationId xmlns:a16="http://schemas.microsoft.com/office/drawing/2014/main" id="{E96E00C5-7BE2-EF71-53AD-23C2CF98F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1489"/>
                <a:ext cx="80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selectZone()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5809" name="Group 62">
              <a:extLst>
                <a:ext uri="{FF2B5EF4-FFF2-40B4-BE49-F238E27FC236}">
                  <a16:creationId xmlns:a16="http://schemas.microsoft.com/office/drawing/2014/main" id="{133A49CC-86A9-A6B4-6CFC-BC3F3C8AB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" y="2845"/>
              <a:ext cx="1187" cy="134"/>
              <a:chOff x="981" y="2037"/>
              <a:chExt cx="1187" cy="134"/>
            </a:xfrm>
          </p:grpSpPr>
          <p:sp>
            <p:nvSpPr>
              <p:cNvPr id="75816" name="Line 39">
                <a:extLst>
                  <a:ext uri="{FF2B5EF4-FFF2-40B4-BE49-F238E27FC236}">
                    <a16:creationId xmlns:a16="http://schemas.microsoft.com/office/drawing/2014/main" id="{CC70BE5B-8B1C-9A89-2268-E0F96F4162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" y="2151"/>
                <a:ext cx="1187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5817" name="Rectangle 40">
                <a:extLst>
                  <a:ext uri="{FF2B5EF4-FFF2-40B4-BE49-F238E27FC236}">
                    <a16:creationId xmlns:a16="http://schemas.microsoft.com/office/drawing/2014/main" id="{6672704E-FABC-6693-07BE-F7B8BCB5F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037"/>
                <a:ext cx="94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pickupChange()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5810" name="Group 63">
              <a:extLst>
                <a:ext uri="{FF2B5EF4-FFF2-40B4-BE49-F238E27FC236}">
                  <a16:creationId xmlns:a16="http://schemas.microsoft.com/office/drawing/2014/main" id="{DEF99959-5D75-CF73-A148-2DA89625E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" y="3508"/>
              <a:ext cx="1189" cy="136"/>
              <a:chOff x="971" y="2468"/>
              <a:chExt cx="1189" cy="136"/>
            </a:xfrm>
          </p:grpSpPr>
          <p:sp>
            <p:nvSpPr>
              <p:cNvPr id="75814" name="Line 44">
                <a:extLst>
                  <a:ext uri="{FF2B5EF4-FFF2-40B4-BE49-F238E27FC236}">
                    <a16:creationId xmlns:a16="http://schemas.microsoft.com/office/drawing/2014/main" id="{05BD58F9-DDA2-BD12-1005-15C11EF65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1" y="2603"/>
                <a:ext cx="118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5815" name="Rectangle 45">
                <a:extLst>
                  <a:ext uri="{FF2B5EF4-FFF2-40B4-BE49-F238E27FC236}">
                    <a16:creationId xmlns:a16="http://schemas.microsoft.com/office/drawing/2014/main" id="{21F47325-6815-3B6C-F06A-B030C2921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468"/>
                <a:ext cx="94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pickUpTicket()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5811" name="Group 61">
              <a:extLst>
                <a:ext uri="{FF2B5EF4-FFF2-40B4-BE49-F238E27FC236}">
                  <a16:creationId xmlns:a16="http://schemas.microsoft.com/office/drawing/2014/main" id="{5ABB213D-6359-9F2A-023E-7D87A4C8A0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" y="2160"/>
              <a:ext cx="1166" cy="134"/>
              <a:chOff x="981" y="1736"/>
              <a:chExt cx="1166" cy="134"/>
            </a:xfrm>
          </p:grpSpPr>
          <p:sp>
            <p:nvSpPr>
              <p:cNvPr id="75812" name="Line 47">
                <a:extLst>
                  <a:ext uri="{FF2B5EF4-FFF2-40B4-BE49-F238E27FC236}">
                    <a16:creationId xmlns:a16="http://schemas.microsoft.com/office/drawing/2014/main" id="{D1FD7C1F-622A-C5F3-FC1C-737D7E726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" y="1850"/>
                <a:ext cx="1166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5813" name="Rectangle 48">
                <a:extLst>
                  <a:ext uri="{FF2B5EF4-FFF2-40B4-BE49-F238E27FC236}">
                    <a16:creationId xmlns:a16="http://schemas.microsoft.com/office/drawing/2014/main" id="{A38DB6AD-CD1B-CC28-F966-D6532E064F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1736"/>
                <a:ext cx="87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insertCoins()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" name="Group 72">
            <a:extLst>
              <a:ext uri="{FF2B5EF4-FFF2-40B4-BE49-F238E27FC236}">
                <a16:creationId xmlns:a16="http://schemas.microsoft.com/office/drawing/2014/main" id="{BF6436BE-EAF8-3A11-1B76-8A3BBF2CB297}"/>
              </a:ext>
            </a:extLst>
          </p:cNvPr>
          <p:cNvGrpSpPr>
            <a:grpSpLocks/>
          </p:cNvGrpSpPr>
          <p:nvPr/>
        </p:nvGrpSpPr>
        <p:grpSpPr bwMode="auto">
          <a:xfrm>
            <a:off x="3883026" y="1706564"/>
            <a:ext cx="1604963" cy="4821237"/>
            <a:chOff x="1486" y="1075"/>
            <a:chExt cx="1011" cy="3037"/>
          </a:xfrm>
        </p:grpSpPr>
        <p:sp>
          <p:nvSpPr>
            <p:cNvPr id="75805" name="Rectangle 9">
              <a:extLst>
                <a:ext uri="{FF2B5EF4-FFF2-40B4-BE49-F238E27FC236}">
                  <a16:creationId xmlns:a16="http://schemas.microsoft.com/office/drawing/2014/main" id="{3BA3C733-4847-38CC-E07D-E600C462A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" y="1155"/>
              <a:ext cx="87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TicketMachine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5806" name="Rectangle 8">
              <a:extLst>
                <a:ext uri="{FF2B5EF4-FFF2-40B4-BE49-F238E27FC236}">
                  <a16:creationId xmlns:a16="http://schemas.microsoft.com/office/drawing/2014/main" id="{85FD8F38-1D67-6290-F24F-E01597612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6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807" name="Line 55">
              <a:extLst>
                <a:ext uri="{FF2B5EF4-FFF2-40B4-BE49-F238E27FC236}">
                  <a16:creationId xmlns:a16="http://schemas.microsoft.com/office/drawing/2014/main" id="{15BD247A-C909-3DDD-3504-B34E9877A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" y="1320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8" name="Group 71">
            <a:extLst>
              <a:ext uri="{FF2B5EF4-FFF2-40B4-BE49-F238E27FC236}">
                <a16:creationId xmlns:a16="http://schemas.microsoft.com/office/drawing/2014/main" id="{6F51EC8C-1F52-F378-4B37-81ACEC0B390B}"/>
              </a:ext>
            </a:extLst>
          </p:cNvPr>
          <p:cNvGrpSpPr>
            <a:grpSpLocks/>
          </p:cNvGrpSpPr>
          <p:nvPr/>
        </p:nvGrpSpPr>
        <p:grpSpPr bwMode="auto">
          <a:xfrm>
            <a:off x="2105025" y="1143001"/>
            <a:ext cx="960438" cy="5268913"/>
            <a:chOff x="366" y="720"/>
            <a:chExt cx="605" cy="3319"/>
          </a:xfrm>
        </p:grpSpPr>
        <p:sp>
          <p:nvSpPr>
            <p:cNvPr id="75798" name="Rectangle 6">
              <a:extLst>
                <a:ext uri="{FF2B5EF4-FFF2-40B4-BE49-F238E27FC236}">
                  <a16:creationId xmlns:a16="http://schemas.microsoft.com/office/drawing/2014/main" id="{BF89C89D-DE51-D9EE-CCCC-37FE06224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1484"/>
              <a:ext cx="119" cy="16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799" name="Freeform 49">
              <a:extLst>
                <a:ext uri="{FF2B5EF4-FFF2-40B4-BE49-F238E27FC236}">
                  <a16:creationId xmlns:a16="http://schemas.microsoft.com/office/drawing/2014/main" id="{9AD65C80-FEC2-677E-3485-956867819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" y="817"/>
              <a:ext cx="129" cy="376"/>
            </a:xfrm>
            <a:custGeom>
              <a:avLst/>
              <a:gdLst>
                <a:gd name="T0" fmla="*/ 129 w 129"/>
                <a:gd name="T1" fmla="*/ 0 h 376"/>
                <a:gd name="T2" fmla="*/ 129 w 129"/>
                <a:gd name="T3" fmla="*/ 237 h 376"/>
                <a:gd name="T4" fmla="*/ 0 w 129"/>
                <a:gd name="T5" fmla="*/ 376 h 376"/>
                <a:gd name="T6" fmla="*/ 0 60000 65536"/>
                <a:gd name="T7" fmla="*/ 0 60000 65536"/>
                <a:gd name="T8" fmla="*/ 0 60000 65536"/>
                <a:gd name="T9" fmla="*/ 0 w 129"/>
                <a:gd name="T10" fmla="*/ 0 h 376"/>
                <a:gd name="T11" fmla="*/ 129 w 129"/>
                <a:gd name="T12" fmla="*/ 376 h 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" h="376">
                  <a:moveTo>
                    <a:pt x="129" y="0"/>
                  </a:moveTo>
                  <a:lnTo>
                    <a:pt x="129" y="237"/>
                  </a:lnTo>
                  <a:lnTo>
                    <a:pt x="0" y="37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5800" name="Line 50">
              <a:extLst>
                <a:ext uri="{FF2B5EF4-FFF2-40B4-BE49-F238E27FC236}">
                  <a16:creationId xmlns:a16="http://schemas.microsoft.com/office/drawing/2014/main" id="{86EAC773-EFD9-7131-5A4C-26ED76342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1054"/>
              <a:ext cx="140" cy="139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5801" name="Line 51">
              <a:extLst>
                <a:ext uri="{FF2B5EF4-FFF2-40B4-BE49-F238E27FC236}">
                  <a16:creationId xmlns:a16="http://schemas.microsoft.com/office/drawing/2014/main" id="{8DD26006-09B5-8EA5-A490-6DA11216D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" y="924"/>
              <a:ext cx="269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5802" name="Oval 52">
              <a:extLst>
                <a:ext uri="{FF2B5EF4-FFF2-40B4-BE49-F238E27FC236}">
                  <a16:creationId xmlns:a16="http://schemas.microsoft.com/office/drawing/2014/main" id="{BE1A1F93-58A9-48B1-166C-794EBC110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720"/>
              <a:ext cx="140" cy="140"/>
            </a:xfrm>
            <a:prstGeom prst="ellipse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803" name="Rectangle 53">
              <a:extLst>
                <a:ext uri="{FF2B5EF4-FFF2-40B4-BE49-F238E27FC236}">
                  <a16:creationId xmlns:a16="http://schemas.microsoft.com/office/drawing/2014/main" id="{B7ABA8D0-A910-E0CA-F718-0138EAA6C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5804" name="Line 70">
              <a:extLst>
                <a:ext uri="{FF2B5EF4-FFF2-40B4-BE49-F238E27FC236}">
                  <a16:creationId xmlns:a16="http://schemas.microsoft.com/office/drawing/2014/main" id="{C5168FA3-987F-53C5-2BE2-CC6DA9BF6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" y="1391"/>
              <a:ext cx="0" cy="2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9" name="Group 75">
            <a:extLst>
              <a:ext uri="{FF2B5EF4-FFF2-40B4-BE49-F238E27FC236}">
                <a16:creationId xmlns:a16="http://schemas.microsoft.com/office/drawing/2014/main" id="{50E2B724-0219-EA92-B833-F4383051B6C0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2335214"/>
            <a:ext cx="2316162" cy="4010025"/>
            <a:chOff x="605" y="1471"/>
            <a:chExt cx="1459" cy="2526"/>
          </a:xfrm>
        </p:grpSpPr>
        <p:sp>
          <p:nvSpPr>
            <p:cNvPr id="75793" name="Rectangle 56">
              <a:extLst>
                <a:ext uri="{FF2B5EF4-FFF2-40B4-BE49-F238E27FC236}">
                  <a16:creationId xmlns:a16="http://schemas.microsoft.com/office/drawing/2014/main" id="{1FB465C6-06F9-2863-C3F2-DEDC1643E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158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794" name="Rectangle 57">
              <a:extLst>
                <a:ext uri="{FF2B5EF4-FFF2-40B4-BE49-F238E27FC236}">
                  <a16:creationId xmlns:a16="http://schemas.microsoft.com/office/drawing/2014/main" id="{6FF00677-16E0-CF24-C862-F1076C909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26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795" name="Rectangle 58">
              <a:extLst>
                <a:ext uri="{FF2B5EF4-FFF2-40B4-BE49-F238E27FC236}">
                  <a16:creationId xmlns:a16="http://schemas.microsoft.com/office/drawing/2014/main" id="{D5DDA436-F91B-CB8E-0F34-0D2D25081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94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796" name="Rectangle 59">
              <a:extLst>
                <a:ext uri="{FF2B5EF4-FFF2-40B4-BE49-F238E27FC236}">
                  <a16:creationId xmlns:a16="http://schemas.microsoft.com/office/drawing/2014/main" id="{5378418B-0A7B-23B9-820A-0860D6652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362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797" name="Rectangle 7">
              <a:extLst>
                <a:ext uri="{FF2B5EF4-FFF2-40B4-BE49-F238E27FC236}">
                  <a16:creationId xmlns:a16="http://schemas.microsoft.com/office/drawing/2014/main" id="{198A0FE6-02DE-98BC-081C-5C168EC2D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" y="1471"/>
              <a:ext cx="129" cy="25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102476" name="AutoShape 76">
            <a:extLst>
              <a:ext uri="{FF2B5EF4-FFF2-40B4-BE49-F238E27FC236}">
                <a16:creationId xmlns:a16="http://schemas.microsoft.com/office/drawing/2014/main" id="{5C8F1BCF-8B3C-0DE7-BCB0-FD05C33D0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192088"/>
            <a:ext cx="3181350" cy="1149350"/>
          </a:xfrm>
          <a:prstGeom prst="wedgeRoundRectCallout">
            <a:avLst>
              <a:gd name="adj1" fmla="val -109931"/>
              <a:gd name="adj2" fmla="val 139917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/>
              <a:t>Focus on </a:t>
            </a:r>
          </a:p>
          <a:p>
            <a:r>
              <a:rPr lang="en-US" altLang="en-US" sz="2400"/>
              <a:t>Controlflow</a:t>
            </a:r>
          </a:p>
        </p:txBody>
      </p:sp>
      <p:sp>
        <p:nvSpPr>
          <p:cNvPr id="102487" name="AutoShape 87">
            <a:extLst>
              <a:ext uri="{FF2B5EF4-FFF2-40B4-BE49-F238E27FC236}">
                <a16:creationId xmlns:a16="http://schemas.microsoft.com/office/drawing/2014/main" id="{3D5E2553-762E-7C41-2826-92070313F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2874" y="3328194"/>
            <a:ext cx="2279650" cy="1154112"/>
          </a:xfrm>
          <a:prstGeom prst="wedgeRoundRectCallout">
            <a:avLst>
              <a:gd name="adj1" fmla="val -98190"/>
              <a:gd name="adj2" fmla="val -94565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Messages -&gt;</a:t>
            </a:r>
          </a:p>
          <a:p>
            <a:r>
              <a:rPr lang="en-US" altLang="en-US" sz="1800" b="0"/>
              <a:t>Operations on</a:t>
            </a:r>
          </a:p>
          <a:p>
            <a:r>
              <a:rPr lang="en-US" altLang="en-US" sz="1800" b="0"/>
              <a:t> participating Object</a:t>
            </a:r>
          </a:p>
        </p:txBody>
      </p:sp>
      <p:grpSp>
        <p:nvGrpSpPr>
          <p:cNvPr id="10" name="Group 88">
            <a:extLst>
              <a:ext uri="{FF2B5EF4-FFF2-40B4-BE49-F238E27FC236}">
                <a16:creationId xmlns:a16="http://schemas.microsoft.com/office/drawing/2014/main" id="{CEFF545F-FF34-A945-9E49-1280683A231B}"/>
              </a:ext>
            </a:extLst>
          </p:cNvPr>
          <p:cNvGrpSpPr>
            <a:grpSpLocks/>
          </p:cNvGrpSpPr>
          <p:nvPr/>
        </p:nvGrpSpPr>
        <p:grpSpPr bwMode="auto">
          <a:xfrm>
            <a:off x="3890963" y="2963864"/>
            <a:ext cx="2220912" cy="1960563"/>
            <a:chOff x="2249" y="1894"/>
            <a:chExt cx="1399" cy="1235"/>
          </a:xfrm>
        </p:grpSpPr>
        <p:sp>
          <p:nvSpPr>
            <p:cNvPr id="75788" name="Rectangle 84">
              <a:extLst>
                <a:ext uri="{FF2B5EF4-FFF2-40B4-BE49-F238E27FC236}">
                  <a16:creationId xmlns:a16="http://schemas.microsoft.com/office/drawing/2014/main" id="{78488330-12D4-57A2-5A9C-21D03D873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347"/>
              <a:ext cx="1393" cy="782"/>
            </a:xfrm>
            <a:prstGeom prst="rect">
              <a:avLst/>
            </a:prstGeom>
            <a:solidFill>
              <a:schemeClr val="accent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789" name="Text Box 79">
              <a:extLst>
                <a:ext uri="{FF2B5EF4-FFF2-40B4-BE49-F238E27FC236}">
                  <a16:creationId xmlns:a16="http://schemas.microsoft.com/office/drawing/2014/main" id="{0606FB9E-D050-3B58-CAC0-4482D78BD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0" y="2144"/>
              <a:ext cx="1329" cy="9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zone2price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selectZone()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insertCoins()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pickupChange()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pickUpTicket()</a:t>
              </a:r>
            </a:p>
          </p:txBody>
        </p:sp>
        <p:sp>
          <p:nvSpPr>
            <p:cNvPr id="75790" name="Rectangle 81">
              <a:extLst>
                <a:ext uri="{FF2B5EF4-FFF2-40B4-BE49-F238E27FC236}">
                  <a16:creationId xmlns:a16="http://schemas.microsoft.com/office/drawing/2014/main" id="{55B71968-6B82-3195-A808-75A5515C2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" y="1894"/>
              <a:ext cx="1390" cy="282"/>
            </a:xfrm>
            <a:prstGeom prst="rect">
              <a:avLst/>
            </a:prstGeom>
            <a:solidFill>
              <a:schemeClr val="accent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5791" name="Rectangle 82">
              <a:extLst>
                <a:ext uri="{FF2B5EF4-FFF2-40B4-BE49-F238E27FC236}">
                  <a16:creationId xmlns:a16="http://schemas.microsoft.com/office/drawing/2014/main" id="{3AD564E9-70D1-55CC-D0EC-CC9A0CF58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" y="1988"/>
              <a:ext cx="1123" cy="17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TicketMachine</a:t>
              </a:r>
            </a:p>
          </p:txBody>
        </p:sp>
        <p:sp>
          <p:nvSpPr>
            <p:cNvPr id="75792" name="Rectangle 83">
              <a:extLst>
                <a:ext uri="{FF2B5EF4-FFF2-40B4-BE49-F238E27FC236}">
                  <a16:creationId xmlns:a16="http://schemas.microsoft.com/office/drawing/2014/main" id="{872CEDD7-8516-F582-1048-77DD2FBB2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2179"/>
              <a:ext cx="1394" cy="162"/>
            </a:xfrm>
            <a:prstGeom prst="rect">
              <a:avLst/>
            </a:prstGeom>
            <a:solidFill>
              <a:schemeClr val="accent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102490" name="AutoShape 90">
            <a:extLst>
              <a:ext uri="{FF2B5EF4-FFF2-40B4-BE49-F238E27FC236}">
                <a16:creationId xmlns:a16="http://schemas.microsoft.com/office/drawing/2014/main" id="{A0898496-E450-CC9E-5297-5FBC328CF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1" y="4016375"/>
            <a:ext cx="722313" cy="330200"/>
          </a:xfrm>
          <a:prstGeom prst="rightArrow">
            <a:avLst>
              <a:gd name="adj1" fmla="val 50000"/>
              <a:gd name="adj2" fmla="val 54688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71071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 autoUpdateAnimBg="0"/>
      <p:bldP spid="102476" grpId="0" animBg="1" autoUpdateAnimBg="0"/>
      <p:bldP spid="102487" grpId="0" animBg="1" autoUpdateAnimBg="0"/>
      <p:bldP spid="10249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Line 72">
            <a:extLst>
              <a:ext uri="{FF2B5EF4-FFF2-40B4-BE49-F238E27FC236}">
                <a16:creationId xmlns:a16="http://schemas.microsoft.com/office/drawing/2014/main" id="{C280A9DF-5E8E-2974-7BE0-DE4B28117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2159000"/>
            <a:ext cx="0" cy="1993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F924E35-8003-E740-BB7E-A6C673DF7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Sequence Diagrams can also model the Flow of Data 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1CEAF8F0-53C1-4D42-BAD4-FE2FF128944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57400" y="4410076"/>
            <a:ext cx="8001000" cy="1685925"/>
          </a:xfrm>
        </p:spPr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The source of an arrow indicates the activation which sent the message</a:t>
            </a:r>
          </a:p>
          <a:p>
            <a:r>
              <a:rPr lang="en-US" altLang="en-US" sz="2000">
                <a:solidFill>
                  <a:srgbClr val="FF3300"/>
                </a:solidFill>
                <a:ea typeface="ＭＳ Ｐゴシック" panose="020B0600070205080204" pitchFamily="34" charset="-128"/>
              </a:rPr>
              <a:t>Horizontal dashed arrows indicate data flow</a:t>
            </a:r>
            <a:r>
              <a:rPr lang="en-US" altLang="en-US" sz="2000">
                <a:ea typeface="ＭＳ Ｐゴシック" panose="020B0600070205080204" pitchFamily="34" charset="-128"/>
              </a:rPr>
              <a:t>, for example return results from a message</a:t>
            </a:r>
          </a:p>
        </p:txBody>
      </p:sp>
      <p:grpSp>
        <p:nvGrpSpPr>
          <p:cNvPr id="77829" name="Group 35">
            <a:extLst>
              <a:ext uri="{FF2B5EF4-FFF2-40B4-BE49-F238E27FC236}">
                <a16:creationId xmlns:a16="http://schemas.microsoft.com/office/drawing/2014/main" id="{DA7D3F4C-C3C4-D0CA-3841-3457DB14D469}"/>
              </a:ext>
            </a:extLst>
          </p:cNvPr>
          <p:cNvGrpSpPr>
            <a:grpSpLocks/>
          </p:cNvGrpSpPr>
          <p:nvPr/>
        </p:nvGrpSpPr>
        <p:grpSpPr bwMode="auto">
          <a:xfrm>
            <a:off x="2476500" y="1143001"/>
            <a:ext cx="960438" cy="1006475"/>
            <a:chOff x="600" y="720"/>
            <a:chExt cx="605" cy="634"/>
          </a:xfrm>
        </p:grpSpPr>
        <p:grpSp>
          <p:nvGrpSpPr>
            <p:cNvPr id="77856" name="Group 34">
              <a:extLst>
                <a:ext uri="{FF2B5EF4-FFF2-40B4-BE49-F238E27FC236}">
                  <a16:creationId xmlns:a16="http://schemas.microsoft.com/office/drawing/2014/main" id="{2130B5A0-CF67-BE74-97A7-3BF1B1B90F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8" y="720"/>
              <a:ext cx="269" cy="473"/>
              <a:chOff x="788" y="720"/>
              <a:chExt cx="269" cy="473"/>
            </a:xfrm>
          </p:grpSpPr>
          <p:sp>
            <p:nvSpPr>
              <p:cNvPr id="77858" name="Freeform 20">
                <a:extLst>
                  <a:ext uri="{FF2B5EF4-FFF2-40B4-BE49-F238E27FC236}">
                    <a16:creationId xmlns:a16="http://schemas.microsoft.com/office/drawing/2014/main" id="{309278F9-64B7-DF10-1AE5-273A4A6DD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817"/>
                <a:ext cx="129" cy="376"/>
              </a:xfrm>
              <a:custGeom>
                <a:avLst/>
                <a:gdLst>
                  <a:gd name="T0" fmla="*/ 129 w 129"/>
                  <a:gd name="T1" fmla="*/ 0 h 376"/>
                  <a:gd name="T2" fmla="*/ 129 w 129"/>
                  <a:gd name="T3" fmla="*/ 237 h 376"/>
                  <a:gd name="T4" fmla="*/ 0 w 129"/>
                  <a:gd name="T5" fmla="*/ 376 h 376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376"/>
                  <a:gd name="T11" fmla="*/ 129 w 129"/>
                  <a:gd name="T12" fmla="*/ 376 h 3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376">
                    <a:moveTo>
                      <a:pt x="129" y="0"/>
                    </a:moveTo>
                    <a:lnTo>
                      <a:pt x="129" y="237"/>
                    </a:lnTo>
                    <a:lnTo>
                      <a:pt x="0" y="37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7859" name="Line 21">
                <a:extLst>
                  <a:ext uri="{FF2B5EF4-FFF2-40B4-BE49-F238E27FC236}">
                    <a16:creationId xmlns:a16="http://schemas.microsoft.com/office/drawing/2014/main" id="{E29A8857-7F56-EDF0-2AF1-A82045C21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1054"/>
                <a:ext cx="140" cy="13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7860" name="Line 22">
                <a:extLst>
                  <a:ext uri="{FF2B5EF4-FFF2-40B4-BE49-F238E27FC236}">
                    <a16:creationId xmlns:a16="http://schemas.microsoft.com/office/drawing/2014/main" id="{A1FCAB05-C22D-3F47-05B4-80E45C7C0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" y="924"/>
                <a:ext cx="2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7861" name="Oval 23">
                <a:extLst>
                  <a:ext uri="{FF2B5EF4-FFF2-40B4-BE49-F238E27FC236}">
                    <a16:creationId xmlns:a16="http://schemas.microsoft.com/office/drawing/2014/main" id="{6766FAC5-FC09-AC3C-C343-9B4FAE209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" y="720"/>
                <a:ext cx="140" cy="140"/>
              </a:xfrm>
              <a:prstGeom prst="ellipse">
                <a:avLst/>
              </a:pr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77857" name="Rectangle 24">
              <a:extLst>
                <a:ext uri="{FF2B5EF4-FFF2-40B4-BE49-F238E27FC236}">
                  <a16:creationId xmlns:a16="http://schemas.microsoft.com/office/drawing/2014/main" id="{A0A1FCB7-C33F-142C-261F-2311A8E14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77830" name="Rectangle 25">
            <a:extLst>
              <a:ext uri="{FF2B5EF4-FFF2-40B4-BE49-F238E27FC236}">
                <a16:creationId xmlns:a16="http://schemas.microsoft.com/office/drawing/2014/main" id="{370AA803-660C-CD9A-ED31-8D961586A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2355851"/>
            <a:ext cx="204788" cy="15716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4" name="Group 87">
            <a:extLst>
              <a:ext uri="{FF2B5EF4-FFF2-40B4-BE49-F238E27FC236}">
                <a16:creationId xmlns:a16="http://schemas.microsoft.com/office/drawing/2014/main" id="{ABFE0213-0457-1B48-F299-E3FDB6CF6FBF}"/>
              </a:ext>
            </a:extLst>
          </p:cNvPr>
          <p:cNvGrpSpPr>
            <a:grpSpLocks/>
          </p:cNvGrpSpPr>
          <p:nvPr/>
        </p:nvGrpSpPr>
        <p:grpSpPr bwMode="auto">
          <a:xfrm>
            <a:off x="3065463" y="1706564"/>
            <a:ext cx="7023100" cy="2039937"/>
            <a:chOff x="971" y="1075"/>
            <a:chExt cx="4424" cy="1285"/>
          </a:xfrm>
        </p:grpSpPr>
        <p:sp>
          <p:nvSpPr>
            <p:cNvPr id="77837" name="Line 9">
              <a:extLst>
                <a:ext uri="{FF2B5EF4-FFF2-40B4-BE49-F238E27FC236}">
                  <a16:creationId xmlns:a16="http://schemas.microsoft.com/office/drawing/2014/main" id="{E056791A-6070-65E4-A26D-AF681A2BD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1" y="1602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7838" name="Rectangle 10">
              <a:extLst>
                <a:ext uri="{FF2B5EF4-FFF2-40B4-BE49-F238E27FC236}">
                  <a16:creationId xmlns:a16="http://schemas.microsoft.com/office/drawing/2014/main" id="{B91DFD93-0965-5E2F-0F59-194EA1016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" y="1461"/>
              <a:ext cx="80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selectZone()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7839" name="Rectangle 27">
              <a:extLst>
                <a:ext uri="{FF2B5EF4-FFF2-40B4-BE49-F238E27FC236}">
                  <a16:creationId xmlns:a16="http://schemas.microsoft.com/office/drawing/2014/main" id="{648FE182-C103-2226-5F3B-0CF83A851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0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7840" name="Rectangle 28">
              <a:extLst>
                <a:ext uri="{FF2B5EF4-FFF2-40B4-BE49-F238E27FC236}">
                  <a16:creationId xmlns:a16="http://schemas.microsoft.com/office/drawing/2014/main" id="{14496320-558E-F9D1-2701-8DDAD784A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" y="1155"/>
              <a:ext cx="67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ZoneButton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7841" name="Line 29">
              <a:extLst>
                <a:ext uri="{FF2B5EF4-FFF2-40B4-BE49-F238E27FC236}">
                  <a16:creationId xmlns:a16="http://schemas.microsoft.com/office/drawing/2014/main" id="{D3027D98-4525-2BB2-F3CE-F639525E7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6" y="132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7842" name="Rectangle 30">
              <a:extLst>
                <a:ext uri="{FF2B5EF4-FFF2-40B4-BE49-F238E27FC236}">
                  <a16:creationId xmlns:a16="http://schemas.microsoft.com/office/drawing/2014/main" id="{49CD1346-3569-419A-D710-2B8856201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1596"/>
              <a:ext cx="129" cy="734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7843" name="Rectangle 38">
              <a:extLst>
                <a:ext uri="{FF2B5EF4-FFF2-40B4-BE49-F238E27FC236}">
                  <a16:creationId xmlns:a16="http://schemas.microsoft.com/office/drawing/2014/main" id="{F06D570F-207D-EDD4-89B4-803BDE8AF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" y="1155"/>
              <a:ext cx="87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TarifSchedule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77844" name="Group 81">
              <a:extLst>
                <a:ext uri="{FF2B5EF4-FFF2-40B4-BE49-F238E27FC236}">
                  <a16:creationId xmlns:a16="http://schemas.microsoft.com/office/drawing/2014/main" id="{43241AC5-1ACB-2587-6482-633680E73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1075"/>
              <a:ext cx="1011" cy="1285"/>
              <a:chOff x="3016" y="1075"/>
              <a:chExt cx="1011" cy="1285"/>
            </a:xfrm>
          </p:grpSpPr>
          <p:sp>
            <p:nvSpPr>
              <p:cNvPr id="77854" name="Rectangle 37">
                <a:extLst>
                  <a:ext uri="{FF2B5EF4-FFF2-40B4-BE49-F238E27FC236}">
                    <a16:creationId xmlns:a16="http://schemas.microsoft.com/office/drawing/2014/main" id="{F6714987-7ED4-8AB0-014A-8EEC564ED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" y="1075"/>
                <a:ext cx="1011" cy="247"/>
              </a:xfrm>
              <a:prstGeom prst="rect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77855" name="Line 39">
                <a:extLst>
                  <a:ext uri="{FF2B5EF4-FFF2-40B4-BE49-F238E27FC236}">
                    <a16:creationId xmlns:a16="http://schemas.microsoft.com/office/drawing/2014/main" id="{1B45E653-143F-8A06-51D6-854EA7A1F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2" y="1320"/>
                <a:ext cx="0" cy="10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77845" name="Rectangle 40">
              <a:extLst>
                <a:ext uri="{FF2B5EF4-FFF2-40B4-BE49-F238E27FC236}">
                  <a16:creationId xmlns:a16="http://schemas.microsoft.com/office/drawing/2014/main" id="{FC3432FF-B17A-6961-44FC-430762D80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" y="1692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7846" name="Rectangle 45">
              <a:extLst>
                <a:ext uri="{FF2B5EF4-FFF2-40B4-BE49-F238E27FC236}">
                  <a16:creationId xmlns:a16="http://schemas.microsoft.com/office/drawing/2014/main" id="{B88C2165-8115-529E-54E6-0DC2853FE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7847" name="Rectangle 46">
              <a:extLst>
                <a:ext uri="{FF2B5EF4-FFF2-40B4-BE49-F238E27FC236}">
                  <a16:creationId xmlns:a16="http://schemas.microsoft.com/office/drawing/2014/main" id="{8799FC7B-E5D9-715F-1DD8-DE3C21F46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1155"/>
              <a:ext cx="47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Display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7848" name="Line 47">
              <a:extLst>
                <a:ext uri="{FF2B5EF4-FFF2-40B4-BE49-F238E27FC236}">
                  <a16:creationId xmlns:a16="http://schemas.microsoft.com/office/drawing/2014/main" id="{B1F48215-CF6C-456D-4521-6AE8C8CA5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0" y="1320"/>
              <a:ext cx="0" cy="9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7849" name="Rectangle 48">
              <a:extLst>
                <a:ext uri="{FF2B5EF4-FFF2-40B4-BE49-F238E27FC236}">
                  <a16:creationId xmlns:a16="http://schemas.microsoft.com/office/drawing/2014/main" id="{BCAD9698-6E22-BA38-BCFF-9E2E571DB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5" y="2212"/>
              <a:ext cx="121" cy="14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7850" name="Line 56">
              <a:extLst>
                <a:ext uri="{FF2B5EF4-FFF2-40B4-BE49-F238E27FC236}">
                  <a16:creationId xmlns:a16="http://schemas.microsoft.com/office/drawing/2014/main" id="{1992366D-34BA-E882-D32D-5833BFB40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" y="1690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7851" name="Rectangle 57">
              <a:extLst>
                <a:ext uri="{FF2B5EF4-FFF2-40B4-BE49-F238E27FC236}">
                  <a16:creationId xmlns:a16="http://schemas.microsoft.com/office/drawing/2014/main" id="{FC486178-0284-F3D8-2941-88777B645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" y="1556"/>
              <a:ext cx="147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lookupPrice(selection)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7852" name="Line 59">
              <a:extLst>
                <a:ext uri="{FF2B5EF4-FFF2-40B4-BE49-F238E27FC236}">
                  <a16:creationId xmlns:a16="http://schemas.microsoft.com/office/drawing/2014/main" id="{3583FBF0-E125-8D04-83C6-72EDA623E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2217"/>
              <a:ext cx="250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7853" name="Rectangle 60">
              <a:extLst>
                <a:ext uri="{FF2B5EF4-FFF2-40B4-BE49-F238E27FC236}">
                  <a16:creationId xmlns:a16="http://schemas.microsoft.com/office/drawing/2014/main" id="{A43E5BEC-FE6C-1BF6-3A9A-C2779D6DB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2076"/>
              <a:ext cx="127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displayPrice(price)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79">
            <a:extLst>
              <a:ext uri="{FF2B5EF4-FFF2-40B4-BE49-F238E27FC236}">
                <a16:creationId xmlns:a16="http://schemas.microsoft.com/office/drawing/2014/main" id="{DB5D55F2-0014-A75D-7233-DAF95E465FA5}"/>
              </a:ext>
            </a:extLst>
          </p:cNvPr>
          <p:cNvGrpSpPr>
            <a:grpSpLocks/>
          </p:cNvGrpSpPr>
          <p:nvPr/>
        </p:nvGrpSpPr>
        <p:grpSpPr bwMode="auto">
          <a:xfrm>
            <a:off x="5160964" y="2967039"/>
            <a:ext cx="1862137" cy="225425"/>
            <a:chOff x="2291" y="1869"/>
            <a:chExt cx="1173" cy="142"/>
          </a:xfrm>
        </p:grpSpPr>
        <p:sp>
          <p:nvSpPr>
            <p:cNvPr id="77835" name="Line 77">
              <a:extLst>
                <a:ext uri="{FF2B5EF4-FFF2-40B4-BE49-F238E27FC236}">
                  <a16:creationId xmlns:a16="http://schemas.microsoft.com/office/drawing/2014/main" id="{4ABAAEDB-75EA-4381-1751-4111C6020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2010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7836" name="Rectangle 78">
              <a:extLst>
                <a:ext uri="{FF2B5EF4-FFF2-40B4-BE49-F238E27FC236}">
                  <a16:creationId xmlns:a16="http://schemas.microsoft.com/office/drawing/2014/main" id="{71926EEB-CBD9-6658-B1AE-4CCB31648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1869"/>
              <a:ext cx="33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FF3300"/>
                  </a:solidFill>
                  <a:latin typeface="Courier" charset="0"/>
                </a:rPr>
                <a:t>price</a:t>
              </a:r>
              <a:endParaRPr lang="en-US" altLang="en-US" sz="2400" b="0">
                <a:solidFill>
                  <a:srgbClr val="FF3300"/>
                </a:solidFill>
              </a:endParaRPr>
            </a:p>
          </p:txBody>
        </p:sp>
      </p:grpSp>
      <p:sp>
        <p:nvSpPr>
          <p:cNvPr id="105552" name="AutoShape 80">
            <a:extLst>
              <a:ext uri="{FF2B5EF4-FFF2-40B4-BE49-F238E27FC236}">
                <a16:creationId xmlns:a16="http://schemas.microsoft.com/office/drawing/2014/main" id="{4D16806A-623C-02CE-C071-82F24B362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3302000"/>
            <a:ext cx="1358900" cy="546100"/>
          </a:xfrm>
          <a:prstGeom prst="wedgeRoundRectCallout">
            <a:avLst>
              <a:gd name="adj1" fmla="val 100935"/>
              <a:gd name="adj2" fmla="val -5552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Dataflow</a:t>
            </a:r>
          </a:p>
        </p:txBody>
      </p:sp>
      <p:sp>
        <p:nvSpPr>
          <p:cNvPr id="105556" name="Text Box 84">
            <a:extLst>
              <a:ext uri="{FF2B5EF4-FFF2-40B4-BE49-F238E27FC236}">
                <a16:creationId xmlns:a16="http://schemas.microsoft.com/office/drawing/2014/main" id="{3B9BBEBD-6EBB-C132-2DA1-45ED789CD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88" y="3930651"/>
            <a:ext cx="5683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>
                <a:solidFill>
                  <a:schemeClr val="tx1"/>
                </a:solidFill>
                <a:latin typeface="Verdana" panose="020B0604030504040204" pitchFamily="34" charset="0"/>
              </a:rPr>
              <a:t>…continued on next slide...</a:t>
            </a:r>
            <a:endParaRPr lang="en-US" altLang="en-US" sz="2400" b="0"/>
          </a:p>
        </p:txBody>
      </p:sp>
    </p:spTree>
    <p:extLst>
      <p:ext uri="{BB962C8B-B14F-4D97-AF65-F5344CB8AC3E}">
        <p14:creationId xmlns:p14="http://schemas.microsoft.com/office/powerpoint/2010/main" val="2557201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autoUpdateAnimBg="0"/>
      <p:bldP spid="105552" grpId="0" animBg="1" autoUpdateAnimBg="0"/>
      <p:bldP spid="105556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F3E3562-4156-0825-A6BE-883ED69F6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Sequence Diagrams: Iteration &amp; Condition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BA7BB4B7-1B60-3083-FE03-A9588FED7B1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222500" y="5080000"/>
            <a:ext cx="7772400" cy="1295400"/>
          </a:xfrm>
        </p:spPr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Iteration is denoted by a * preceding the message name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Condition is denoted by boolean expression in [ ] before the message name</a:t>
            </a:r>
          </a:p>
        </p:txBody>
      </p:sp>
      <p:sp>
        <p:nvSpPr>
          <p:cNvPr id="79876" name="Line 6">
            <a:extLst>
              <a:ext uri="{FF2B5EF4-FFF2-40B4-BE49-F238E27FC236}">
                <a16:creationId xmlns:a16="http://schemas.microsoft.com/office/drawing/2014/main" id="{27DFA459-3342-E121-7BA3-1FFCC43C8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075" y="2159000"/>
            <a:ext cx="0" cy="1993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79877" name="Group 10">
            <a:extLst>
              <a:ext uri="{FF2B5EF4-FFF2-40B4-BE49-F238E27FC236}">
                <a16:creationId xmlns:a16="http://schemas.microsoft.com/office/drawing/2014/main" id="{93F943BD-D659-C8F1-E067-4B1A6250F3B2}"/>
              </a:ext>
            </a:extLst>
          </p:cNvPr>
          <p:cNvGrpSpPr>
            <a:grpSpLocks/>
          </p:cNvGrpSpPr>
          <p:nvPr/>
        </p:nvGrpSpPr>
        <p:grpSpPr bwMode="auto">
          <a:xfrm>
            <a:off x="1739900" y="1143001"/>
            <a:ext cx="960438" cy="1006475"/>
            <a:chOff x="600" y="720"/>
            <a:chExt cx="605" cy="634"/>
          </a:xfrm>
        </p:grpSpPr>
        <p:grpSp>
          <p:nvGrpSpPr>
            <p:cNvPr id="79919" name="Group 11">
              <a:extLst>
                <a:ext uri="{FF2B5EF4-FFF2-40B4-BE49-F238E27FC236}">
                  <a16:creationId xmlns:a16="http://schemas.microsoft.com/office/drawing/2014/main" id="{0ADC9E17-7ACD-7723-86F3-3FDDBBB94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8" y="720"/>
              <a:ext cx="269" cy="473"/>
              <a:chOff x="788" y="720"/>
              <a:chExt cx="269" cy="473"/>
            </a:xfrm>
          </p:grpSpPr>
          <p:sp>
            <p:nvSpPr>
              <p:cNvPr id="79921" name="Freeform 12">
                <a:extLst>
                  <a:ext uri="{FF2B5EF4-FFF2-40B4-BE49-F238E27FC236}">
                    <a16:creationId xmlns:a16="http://schemas.microsoft.com/office/drawing/2014/main" id="{B4698D41-6F8B-DD9C-7F0D-6A0CE4044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817"/>
                <a:ext cx="129" cy="376"/>
              </a:xfrm>
              <a:custGeom>
                <a:avLst/>
                <a:gdLst>
                  <a:gd name="T0" fmla="*/ 129 w 129"/>
                  <a:gd name="T1" fmla="*/ 0 h 376"/>
                  <a:gd name="T2" fmla="*/ 129 w 129"/>
                  <a:gd name="T3" fmla="*/ 237 h 376"/>
                  <a:gd name="T4" fmla="*/ 0 w 129"/>
                  <a:gd name="T5" fmla="*/ 376 h 376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376"/>
                  <a:gd name="T11" fmla="*/ 129 w 129"/>
                  <a:gd name="T12" fmla="*/ 376 h 3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376">
                    <a:moveTo>
                      <a:pt x="129" y="0"/>
                    </a:moveTo>
                    <a:lnTo>
                      <a:pt x="129" y="237"/>
                    </a:lnTo>
                    <a:lnTo>
                      <a:pt x="0" y="37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9922" name="Line 13">
                <a:extLst>
                  <a:ext uri="{FF2B5EF4-FFF2-40B4-BE49-F238E27FC236}">
                    <a16:creationId xmlns:a16="http://schemas.microsoft.com/office/drawing/2014/main" id="{DB08013A-FD94-5562-DE88-BC0F86442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1054"/>
                <a:ext cx="140" cy="13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9923" name="Line 14">
                <a:extLst>
                  <a:ext uri="{FF2B5EF4-FFF2-40B4-BE49-F238E27FC236}">
                    <a16:creationId xmlns:a16="http://schemas.microsoft.com/office/drawing/2014/main" id="{4CA976D2-B91A-236D-C7CD-BAB46C4C3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" y="924"/>
                <a:ext cx="2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9924" name="Oval 15">
                <a:extLst>
                  <a:ext uri="{FF2B5EF4-FFF2-40B4-BE49-F238E27FC236}">
                    <a16:creationId xmlns:a16="http://schemas.microsoft.com/office/drawing/2014/main" id="{8AF62DAE-BE77-DC3B-FBB6-BEABAC656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" y="720"/>
                <a:ext cx="140" cy="140"/>
              </a:xfrm>
              <a:prstGeom prst="ellipse">
                <a:avLst/>
              </a:pr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79920" name="Rectangle 16">
              <a:extLst>
                <a:ext uri="{FF2B5EF4-FFF2-40B4-BE49-F238E27FC236}">
                  <a16:creationId xmlns:a16="http://schemas.microsoft.com/office/drawing/2014/main" id="{22AA584B-B6D3-E08F-2468-B655F5716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79878" name="Rectangle 17">
            <a:extLst>
              <a:ext uri="{FF2B5EF4-FFF2-40B4-BE49-F238E27FC236}">
                <a16:creationId xmlns:a16="http://schemas.microsoft.com/office/drawing/2014/main" id="{C36D912E-0D31-3683-74A6-438D8E04B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2355851"/>
            <a:ext cx="204788" cy="15716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79879" name="Rectangle 18">
            <a:extLst>
              <a:ext uri="{FF2B5EF4-FFF2-40B4-BE49-F238E27FC236}">
                <a16:creationId xmlns:a16="http://schemas.microsoft.com/office/drawing/2014/main" id="{47598C31-0F06-90EC-BC25-25819F2BF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1" y="1706563"/>
            <a:ext cx="1706563" cy="392112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79880" name="Rectangle 19">
            <a:extLst>
              <a:ext uri="{FF2B5EF4-FFF2-40B4-BE49-F238E27FC236}">
                <a16:creationId xmlns:a16="http://schemas.microsoft.com/office/drawing/2014/main" id="{BBAA57C2-5F04-0856-8E3C-99AF27CC4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1833564"/>
            <a:ext cx="16002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Courier" charset="0"/>
              </a:rPr>
              <a:t>ChangeProcessor</a:t>
            </a:r>
            <a:endParaRPr lang="en-US" altLang="en-US" sz="2400" b="0">
              <a:solidFill>
                <a:schemeClr val="tx1"/>
              </a:solidFill>
            </a:endParaRPr>
          </a:p>
        </p:txBody>
      </p:sp>
      <p:sp>
        <p:nvSpPr>
          <p:cNvPr id="79881" name="Line 20">
            <a:extLst>
              <a:ext uri="{FF2B5EF4-FFF2-40B4-BE49-F238E27FC236}">
                <a16:creationId xmlns:a16="http://schemas.microsoft.com/office/drawing/2014/main" id="{A81C143B-18AF-474D-C47D-169276636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1175" y="2095500"/>
            <a:ext cx="0" cy="248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4" name="Group 63">
            <a:extLst>
              <a:ext uri="{FF2B5EF4-FFF2-40B4-BE49-F238E27FC236}">
                <a16:creationId xmlns:a16="http://schemas.microsoft.com/office/drawing/2014/main" id="{C0111276-D14B-FE23-DAFA-CE25CA53FC16}"/>
              </a:ext>
            </a:extLst>
          </p:cNvPr>
          <p:cNvGrpSpPr>
            <a:grpSpLocks/>
          </p:cNvGrpSpPr>
          <p:nvPr/>
        </p:nvGrpSpPr>
        <p:grpSpPr bwMode="auto">
          <a:xfrm>
            <a:off x="2328863" y="2262189"/>
            <a:ext cx="2100262" cy="2185987"/>
            <a:chOff x="507" y="1425"/>
            <a:chExt cx="1323" cy="1377"/>
          </a:xfrm>
        </p:grpSpPr>
        <p:sp>
          <p:nvSpPr>
            <p:cNvPr id="79916" name="Line 8">
              <a:extLst>
                <a:ext uri="{FF2B5EF4-FFF2-40B4-BE49-F238E27FC236}">
                  <a16:creationId xmlns:a16="http://schemas.microsoft.com/office/drawing/2014/main" id="{48B661FB-C5C0-E829-4CFB-E5B34F46D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" y="1602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9917" name="Rectangle 9">
              <a:extLst>
                <a:ext uri="{FF2B5EF4-FFF2-40B4-BE49-F238E27FC236}">
                  <a16:creationId xmlns:a16="http://schemas.microsoft.com/office/drawing/2014/main" id="{D5003195-3E1B-1BD8-FAFE-DF9CABB71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1425"/>
              <a:ext cx="121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insertChange(coin)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9918" name="Rectangle 21">
              <a:extLst>
                <a:ext uri="{FF2B5EF4-FFF2-40B4-BE49-F238E27FC236}">
                  <a16:creationId xmlns:a16="http://schemas.microsoft.com/office/drawing/2014/main" id="{14CDFD50-DB92-4B5B-D870-FE358F3E7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" y="1596"/>
              <a:ext cx="129" cy="120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grpSp>
        <p:nvGrpSpPr>
          <p:cNvPr id="79883" name="Group 59">
            <a:extLst>
              <a:ext uri="{FF2B5EF4-FFF2-40B4-BE49-F238E27FC236}">
                <a16:creationId xmlns:a16="http://schemas.microsoft.com/office/drawing/2014/main" id="{4102FF67-3B49-156D-8413-B0A030AC4C68}"/>
              </a:ext>
            </a:extLst>
          </p:cNvPr>
          <p:cNvGrpSpPr>
            <a:grpSpLocks/>
          </p:cNvGrpSpPr>
          <p:nvPr/>
        </p:nvGrpSpPr>
        <p:grpSpPr bwMode="auto">
          <a:xfrm>
            <a:off x="5270501" y="1706564"/>
            <a:ext cx="1604963" cy="2890837"/>
            <a:chOff x="2360" y="1075"/>
            <a:chExt cx="1011" cy="1821"/>
          </a:xfrm>
        </p:grpSpPr>
        <p:sp>
          <p:nvSpPr>
            <p:cNvPr id="79913" name="Rectangle 23">
              <a:extLst>
                <a:ext uri="{FF2B5EF4-FFF2-40B4-BE49-F238E27FC236}">
                  <a16:creationId xmlns:a16="http://schemas.microsoft.com/office/drawing/2014/main" id="{D56BED57-1EF6-EEDD-F9DB-823C7C00A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155"/>
              <a:ext cx="94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CoinIdentifier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9914" name="Rectangle 25">
              <a:extLst>
                <a:ext uri="{FF2B5EF4-FFF2-40B4-BE49-F238E27FC236}">
                  <a16:creationId xmlns:a16="http://schemas.microsoft.com/office/drawing/2014/main" id="{F5D7EABF-CEC0-C65F-D20E-D81E06D98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9915" name="Line 26">
              <a:extLst>
                <a:ext uri="{FF2B5EF4-FFF2-40B4-BE49-F238E27FC236}">
                  <a16:creationId xmlns:a16="http://schemas.microsoft.com/office/drawing/2014/main" id="{B52C360E-58D4-EA87-EE0E-B873C7F3C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6" y="1320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79884" name="Group 57">
            <a:extLst>
              <a:ext uri="{FF2B5EF4-FFF2-40B4-BE49-F238E27FC236}">
                <a16:creationId xmlns:a16="http://schemas.microsoft.com/office/drawing/2014/main" id="{52117258-2BE7-8DD9-6BC9-92E16107712C}"/>
              </a:ext>
            </a:extLst>
          </p:cNvPr>
          <p:cNvGrpSpPr>
            <a:grpSpLocks/>
          </p:cNvGrpSpPr>
          <p:nvPr/>
        </p:nvGrpSpPr>
        <p:grpSpPr bwMode="auto">
          <a:xfrm>
            <a:off x="7035801" y="1706564"/>
            <a:ext cx="1604963" cy="2890837"/>
            <a:chOff x="3472" y="1075"/>
            <a:chExt cx="1011" cy="1821"/>
          </a:xfrm>
        </p:grpSpPr>
        <p:sp>
          <p:nvSpPr>
            <p:cNvPr id="79910" name="Rectangle 29">
              <a:extLst>
                <a:ext uri="{FF2B5EF4-FFF2-40B4-BE49-F238E27FC236}">
                  <a16:creationId xmlns:a16="http://schemas.microsoft.com/office/drawing/2014/main" id="{0FF97532-69C1-CE68-CD18-15F01B468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9911" name="Rectangle 30">
              <a:extLst>
                <a:ext uri="{FF2B5EF4-FFF2-40B4-BE49-F238E27FC236}">
                  <a16:creationId xmlns:a16="http://schemas.microsoft.com/office/drawing/2014/main" id="{D8B57E55-5367-0D1A-0209-BD9953266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1155"/>
              <a:ext cx="47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Display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9912" name="Line 31">
              <a:extLst>
                <a:ext uri="{FF2B5EF4-FFF2-40B4-BE49-F238E27FC236}">
                  <a16:creationId xmlns:a16="http://schemas.microsoft.com/office/drawing/2014/main" id="{D4012E28-93AA-A52F-6850-066D9BA22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" y="1320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79885" name="Group 58">
            <a:extLst>
              <a:ext uri="{FF2B5EF4-FFF2-40B4-BE49-F238E27FC236}">
                <a16:creationId xmlns:a16="http://schemas.microsoft.com/office/drawing/2014/main" id="{9C15C70D-4F9E-0832-198D-010B9A500530}"/>
              </a:ext>
            </a:extLst>
          </p:cNvPr>
          <p:cNvGrpSpPr>
            <a:grpSpLocks/>
          </p:cNvGrpSpPr>
          <p:nvPr/>
        </p:nvGrpSpPr>
        <p:grpSpPr bwMode="auto">
          <a:xfrm>
            <a:off x="8750301" y="1706564"/>
            <a:ext cx="1604963" cy="2903537"/>
            <a:chOff x="4552" y="1075"/>
            <a:chExt cx="1011" cy="1829"/>
          </a:xfrm>
        </p:grpSpPr>
        <p:sp>
          <p:nvSpPr>
            <p:cNvPr id="79907" name="Rectangle 47">
              <a:extLst>
                <a:ext uri="{FF2B5EF4-FFF2-40B4-BE49-F238E27FC236}">
                  <a16:creationId xmlns:a16="http://schemas.microsoft.com/office/drawing/2014/main" id="{C72C1060-B8AF-C69A-0200-EA8AA2872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9908" name="Rectangle 48">
              <a:extLst>
                <a:ext uri="{FF2B5EF4-FFF2-40B4-BE49-F238E27FC236}">
                  <a16:creationId xmlns:a16="http://schemas.microsoft.com/office/drawing/2014/main" id="{8F854EB8-7396-E931-4804-CEC21FCA0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1155"/>
              <a:ext cx="53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CoinDrop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79909" name="Line 49">
              <a:extLst>
                <a:ext uri="{FF2B5EF4-FFF2-40B4-BE49-F238E27FC236}">
                  <a16:creationId xmlns:a16="http://schemas.microsoft.com/office/drawing/2014/main" id="{029E007E-20DF-A7F5-1B5D-1F81FF771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8" y="132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grpSp>
        <p:nvGrpSpPr>
          <p:cNvPr id="8" name="Group 64">
            <a:extLst>
              <a:ext uri="{FF2B5EF4-FFF2-40B4-BE49-F238E27FC236}">
                <a16:creationId xmlns:a16="http://schemas.microsoft.com/office/drawing/2014/main" id="{EA9EFC86-01D8-426C-16F3-4A74B83A654E}"/>
              </a:ext>
            </a:extLst>
          </p:cNvPr>
          <p:cNvGrpSpPr>
            <a:grpSpLocks/>
          </p:cNvGrpSpPr>
          <p:nvPr/>
        </p:nvGrpSpPr>
        <p:grpSpPr bwMode="auto">
          <a:xfrm>
            <a:off x="4462463" y="3100389"/>
            <a:ext cx="3465512" cy="465137"/>
            <a:chOff x="1851" y="1953"/>
            <a:chExt cx="2183" cy="293"/>
          </a:xfrm>
        </p:grpSpPr>
        <p:sp>
          <p:nvSpPr>
            <p:cNvPr id="79903" name="Rectangle 32">
              <a:extLst>
                <a:ext uri="{FF2B5EF4-FFF2-40B4-BE49-F238E27FC236}">
                  <a16:creationId xmlns:a16="http://schemas.microsoft.com/office/drawing/2014/main" id="{F2F8667C-4F00-AE3C-E97F-A923221F8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" y="2100"/>
              <a:ext cx="121" cy="14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79904" name="Group 51">
              <a:extLst>
                <a:ext uri="{FF2B5EF4-FFF2-40B4-BE49-F238E27FC236}">
                  <a16:creationId xmlns:a16="http://schemas.microsoft.com/office/drawing/2014/main" id="{7360E975-BB3F-BD01-051A-6BC648A4B8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1953"/>
              <a:ext cx="2069" cy="145"/>
              <a:chOff x="1851" y="1953"/>
              <a:chExt cx="2069" cy="145"/>
            </a:xfrm>
          </p:grpSpPr>
          <p:sp>
            <p:nvSpPr>
              <p:cNvPr id="79905" name="Line 37">
                <a:extLst>
                  <a:ext uri="{FF2B5EF4-FFF2-40B4-BE49-F238E27FC236}">
                    <a16:creationId xmlns:a16="http://schemas.microsoft.com/office/drawing/2014/main" id="{D2E7A77E-29F1-99F4-F3DD-72905EC6A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1" y="2097"/>
                <a:ext cx="20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9906" name="Rectangle 38">
                <a:extLst>
                  <a:ext uri="{FF2B5EF4-FFF2-40B4-BE49-F238E27FC236}">
                    <a16:creationId xmlns:a16="http://schemas.microsoft.com/office/drawing/2014/main" id="{AB4864C1-A158-EAC0-0520-827D4DCAC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1953"/>
                <a:ext cx="161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displayPrice(owedAmount)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" name="Group 60">
            <a:extLst>
              <a:ext uri="{FF2B5EF4-FFF2-40B4-BE49-F238E27FC236}">
                <a16:creationId xmlns:a16="http://schemas.microsoft.com/office/drawing/2014/main" id="{70E050DF-4111-5957-0BB8-591EEF2BE0C4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2401889"/>
            <a:ext cx="1911350" cy="661987"/>
            <a:chOff x="1827" y="1513"/>
            <a:chExt cx="1204" cy="417"/>
          </a:xfrm>
        </p:grpSpPr>
        <p:sp>
          <p:nvSpPr>
            <p:cNvPr id="79897" name="Rectangle 27">
              <a:extLst>
                <a:ext uri="{FF2B5EF4-FFF2-40B4-BE49-F238E27FC236}">
                  <a16:creationId xmlns:a16="http://schemas.microsoft.com/office/drawing/2014/main" id="{31435CBB-FFA7-541B-7BAF-D1363F10B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" y="1692"/>
              <a:ext cx="129" cy="238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9898" name="Line 34">
              <a:extLst>
                <a:ext uri="{FF2B5EF4-FFF2-40B4-BE49-F238E27FC236}">
                  <a16:creationId xmlns:a16="http://schemas.microsoft.com/office/drawing/2014/main" id="{E6859899-CCD5-D563-3A53-3DF6D4125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5" y="1690"/>
              <a:ext cx="949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9899" name="Rectangle 35">
              <a:extLst>
                <a:ext uri="{FF2B5EF4-FFF2-40B4-BE49-F238E27FC236}">
                  <a16:creationId xmlns:a16="http://schemas.microsoft.com/office/drawing/2014/main" id="{D1B30841-B0CD-927E-4F6A-C8000F5B2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1513"/>
              <a:ext cx="107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lookupCoin(coin)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79900" name="Group 39">
              <a:extLst>
                <a:ext uri="{FF2B5EF4-FFF2-40B4-BE49-F238E27FC236}">
                  <a16:creationId xmlns:a16="http://schemas.microsoft.com/office/drawing/2014/main" id="{E90EDA97-ED91-BE27-F52D-EDAA4EA1DA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7" y="1756"/>
              <a:ext cx="949" cy="135"/>
              <a:chOff x="2291" y="1876"/>
              <a:chExt cx="1173" cy="135"/>
            </a:xfrm>
          </p:grpSpPr>
          <p:sp>
            <p:nvSpPr>
              <p:cNvPr id="79901" name="Line 40">
                <a:extLst>
                  <a:ext uri="{FF2B5EF4-FFF2-40B4-BE49-F238E27FC236}">
                    <a16:creationId xmlns:a16="http://schemas.microsoft.com/office/drawing/2014/main" id="{C29C31A1-DB31-7D73-8EA6-BC4B5F3B8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2010"/>
                <a:ext cx="1173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prstDash val="dash"/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9902" name="Rectangle 41">
                <a:extLst>
                  <a:ext uri="{FF2B5EF4-FFF2-40B4-BE49-F238E27FC236}">
                    <a16:creationId xmlns:a16="http://schemas.microsoft.com/office/drawing/2014/main" id="{93EB8750-DC3E-4FB9-82C5-98597088A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" y="1876"/>
                <a:ext cx="41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price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" name="Group 65">
            <a:extLst>
              <a:ext uri="{FF2B5EF4-FFF2-40B4-BE49-F238E27FC236}">
                <a16:creationId xmlns:a16="http://schemas.microsoft.com/office/drawing/2014/main" id="{78B19BE3-A6BB-4501-25F2-147631C8472D}"/>
              </a:ext>
            </a:extLst>
          </p:cNvPr>
          <p:cNvGrpSpPr>
            <a:grpSpLocks/>
          </p:cNvGrpSpPr>
          <p:nvPr/>
        </p:nvGrpSpPr>
        <p:grpSpPr bwMode="auto">
          <a:xfrm>
            <a:off x="4437063" y="3811589"/>
            <a:ext cx="5205412" cy="427037"/>
            <a:chOff x="1835" y="2401"/>
            <a:chExt cx="3279" cy="269"/>
          </a:xfrm>
        </p:grpSpPr>
        <p:sp>
          <p:nvSpPr>
            <p:cNvPr id="79894" name="Rectangle 50">
              <a:extLst>
                <a:ext uri="{FF2B5EF4-FFF2-40B4-BE49-F238E27FC236}">
                  <a16:creationId xmlns:a16="http://schemas.microsoft.com/office/drawing/2014/main" id="{E57781D6-BB68-EB85-DB8D-10201A5B0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3" y="2524"/>
              <a:ext cx="121" cy="14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79895" name="Line 53">
              <a:extLst>
                <a:ext uri="{FF2B5EF4-FFF2-40B4-BE49-F238E27FC236}">
                  <a16:creationId xmlns:a16="http://schemas.microsoft.com/office/drawing/2014/main" id="{EFA52A1D-979A-98D3-E8BF-2119BB413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5" y="2545"/>
              <a:ext cx="3141" cy="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9896" name="Rectangle 54">
              <a:extLst>
                <a:ext uri="{FF2B5EF4-FFF2-40B4-BE49-F238E27FC236}">
                  <a16:creationId xmlns:a16="http://schemas.microsoft.com/office/drawing/2014/main" id="{4DB583BB-0192-4126-39AC-0533583DE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401"/>
              <a:ext cx="268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latin typeface="Courier" charset="0"/>
                </a:rPr>
                <a:t>[owedAmount&lt;0]</a:t>
              </a:r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 returnChange(-owedAmount)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106551" name="AutoShape 55">
            <a:extLst>
              <a:ext uri="{FF2B5EF4-FFF2-40B4-BE49-F238E27FC236}">
                <a16:creationId xmlns:a16="http://schemas.microsoft.com/office/drawing/2014/main" id="{4EDD55CF-4051-E247-A8F1-CB7E9D097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00" y="2755900"/>
            <a:ext cx="1244600" cy="609600"/>
          </a:xfrm>
          <a:prstGeom prst="wedgeRoundRectCallout">
            <a:avLst>
              <a:gd name="adj1" fmla="val -59694"/>
              <a:gd name="adj2" fmla="val -11953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Iteration</a:t>
            </a:r>
          </a:p>
        </p:txBody>
      </p:sp>
      <p:sp>
        <p:nvSpPr>
          <p:cNvPr id="106552" name="AutoShape 56">
            <a:extLst>
              <a:ext uri="{FF2B5EF4-FFF2-40B4-BE49-F238E27FC236}">
                <a16:creationId xmlns:a16="http://schemas.microsoft.com/office/drawing/2014/main" id="{B87668E8-1D60-4AF2-B816-E4B0786F8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3822700"/>
            <a:ext cx="1422400" cy="609600"/>
          </a:xfrm>
          <a:prstGeom prst="wedgeRoundRectCallout">
            <a:avLst>
              <a:gd name="adj1" fmla="val 93306"/>
              <a:gd name="adj2" fmla="val -3203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Condition</a:t>
            </a:r>
          </a:p>
        </p:txBody>
      </p:sp>
      <p:sp>
        <p:nvSpPr>
          <p:cNvPr id="106562" name="Text Box 66">
            <a:extLst>
              <a:ext uri="{FF2B5EF4-FFF2-40B4-BE49-F238E27FC236}">
                <a16:creationId xmlns:a16="http://schemas.microsoft.com/office/drawing/2014/main" id="{7921B606-E448-5C7F-6077-222A4BBEC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288" y="4198939"/>
            <a:ext cx="5683250" cy="701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b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…continued on next slide...</a:t>
            </a:r>
            <a:endParaRPr lang="en-US" altLang="en-US" sz="2000" b="0">
              <a:latin typeface="Verdana" panose="020B0604030504040204" pitchFamily="34" charset="0"/>
            </a:endParaRPr>
          </a:p>
        </p:txBody>
      </p:sp>
      <p:sp>
        <p:nvSpPr>
          <p:cNvPr id="79892" name="Text Box 68">
            <a:extLst>
              <a:ext uri="{FF2B5EF4-FFF2-40B4-BE49-F238E27FC236}">
                <a16:creationId xmlns:a16="http://schemas.microsoft.com/office/drawing/2014/main" id="{CD677943-4AA5-CF0D-1889-38AB262C1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7288" y="1123951"/>
            <a:ext cx="5683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>
                <a:solidFill>
                  <a:schemeClr val="tx1"/>
                </a:solidFill>
              </a:rPr>
              <a:t>…continued from previous slide...</a:t>
            </a:r>
            <a:endParaRPr lang="en-US" altLang="en-US" sz="2400" b="0"/>
          </a:p>
        </p:txBody>
      </p:sp>
      <p:sp>
        <p:nvSpPr>
          <p:cNvPr id="106565" name="Text Box 69">
            <a:extLst>
              <a:ext uri="{FF2B5EF4-FFF2-40B4-BE49-F238E27FC236}">
                <a16:creationId xmlns:a16="http://schemas.microsoft.com/office/drawing/2014/main" id="{06167D33-298D-C286-8797-CE2005012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688" y="21717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029736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  <p:bldP spid="106551" grpId="0" animBg="1" autoUpdateAnimBg="0"/>
      <p:bldP spid="106552" grpId="0" animBg="1" autoUpdateAnimBg="0"/>
      <p:bldP spid="106562" grpId="0" animBg="1" autoUpdateAnimBg="0"/>
      <p:bldP spid="10656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06D5486-5F47-2E9E-6A4E-D086B9B68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4200" y="304800"/>
            <a:ext cx="8445500" cy="762000"/>
          </a:xfrm>
        </p:spPr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Creation and destruction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3EB0F99A-7C23-A8F7-6C6C-8858CC5023E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885950" y="4760913"/>
            <a:ext cx="8597900" cy="1377950"/>
          </a:xfrm>
        </p:spPr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Creation is denoted by a message arrow pointing to the object</a:t>
            </a:r>
          </a:p>
          <a:p>
            <a:r>
              <a:rPr lang="en-US" altLang="en-US" sz="2000">
                <a:ea typeface="ＭＳ Ｐゴシック" panose="020B0600070205080204" pitchFamily="34" charset="-128"/>
              </a:rPr>
              <a:t>Destruction is denoted by an X mark at the end of the destruction activation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In garbage collection environments, destruction can be used to denote the end of the useful life of an object.</a:t>
            </a:r>
          </a:p>
        </p:txBody>
      </p:sp>
      <p:sp>
        <p:nvSpPr>
          <p:cNvPr id="81924" name="Line 7">
            <a:extLst>
              <a:ext uri="{FF2B5EF4-FFF2-40B4-BE49-F238E27FC236}">
                <a16:creationId xmlns:a16="http://schemas.microsoft.com/office/drawing/2014/main" id="{42FC26D6-DBE0-7226-B1D6-F2D79DB0D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075" y="2159000"/>
            <a:ext cx="0" cy="1993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81925" name="Group 8">
            <a:extLst>
              <a:ext uri="{FF2B5EF4-FFF2-40B4-BE49-F238E27FC236}">
                <a16:creationId xmlns:a16="http://schemas.microsoft.com/office/drawing/2014/main" id="{E4778070-DA9E-B2D2-F7D8-BDAB1998F02E}"/>
              </a:ext>
            </a:extLst>
          </p:cNvPr>
          <p:cNvGrpSpPr>
            <a:grpSpLocks/>
          </p:cNvGrpSpPr>
          <p:nvPr/>
        </p:nvGrpSpPr>
        <p:grpSpPr bwMode="auto">
          <a:xfrm>
            <a:off x="1739900" y="1143001"/>
            <a:ext cx="960438" cy="1006475"/>
            <a:chOff x="600" y="720"/>
            <a:chExt cx="605" cy="634"/>
          </a:xfrm>
        </p:grpSpPr>
        <p:grpSp>
          <p:nvGrpSpPr>
            <p:cNvPr id="81954" name="Group 9">
              <a:extLst>
                <a:ext uri="{FF2B5EF4-FFF2-40B4-BE49-F238E27FC236}">
                  <a16:creationId xmlns:a16="http://schemas.microsoft.com/office/drawing/2014/main" id="{62975417-D877-DD0B-60AF-D1D2E8F77C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8" y="720"/>
              <a:ext cx="269" cy="473"/>
              <a:chOff x="788" y="720"/>
              <a:chExt cx="269" cy="473"/>
            </a:xfrm>
          </p:grpSpPr>
          <p:sp>
            <p:nvSpPr>
              <p:cNvPr id="81956" name="Freeform 10">
                <a:extLst>
                  <a:ext uri="{FF2B5EF4-FFF2-40B4-BE49-F238E27FC236}">
                    <a16:creationId xmlns:a16="http://schemas.microsoft.com/office/drawing/2014/main" id="{56EA41BB-DA6B-5BBF-99E0-64B794CB93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817"/>
                <a:ext cx="129" cy="376"/>
              </a:xfrm>
              <a:custGeom>
                <a:avLst/>
                <a:gdLst>
                  <a:gd name="T0" fmla="*/ 129 w 129"/>
                  <a:gd name="T1" fmla="*/ 0 h 376"/>
                  <a:gd name="T2" fmla="*/ 129 w 129"/>
                  <a:gd name="T3" fmla="*/ 237 h 376"/>
                  <a:gd name="T4" fmla="*/ 0 w 129"/>
                  <a:gd name="T5" fmla="*/ 376 h 376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376"/>
                  <a:gd name="T11" fmla="*/ 129 w 129"/>
                  <a:gd name="T12" fmla="*/ 376 h 3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376">
                    <a:moveTo>
                      <a:pt x="129" y="0"/>
                    </a:moveTo>
                    <a:lnTo>
                      <a:pt x="129" y="237"/>
                    </a:lnTo>
                    <a:lnTo>
                      <a:pt x="0" y="37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81957" name="Line 11">
                <a:extLst>
                  <a:ext uri="{FF2B5EF4-FFF2-40B4-BE49-F238E27FC236}">
                    <a16:creationId xmlns:a16="http://schemas.microsoft.com/office/drawing/2014/main" id="{CFB3926E-F517-35DC-32AC-369BB688B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1054"/>
                <a:ext cx="140" cy="13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81958" name="Line 12">
                <a:extLst>
                  <a:ext uri="{FF2B5EF4-FFF2-40B4-BE49-F238E27FC236}">
                    <a16:creationId xmlns:a16="http://schemas.microsoft.com/office/drawing/2014/main" id="{84E32907-A60C-5FB0-ADE5-A17CA51524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" y="924"/>
                <a:ext cx="2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81959" name="Oval 13">
                <a:extLst>
                  <a:ext uri="{FF2B5EF4-FFF2-40B4-BE49-F238E27FC236}">
                    <a16:creationId xmlns:a16="http://schemas.microsoft.com/office/drawing/2014/main" id="{20ABCFB3-F2E3-9EBE-9886-8AA20A31C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" y="720"/>
                <a:ext cx="140" cy="140"/>
              </a:xfrm>
              <a:prstGeom prst="ellipse">
                <a:avLst/>
              </a:pr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81955" name="Rectangle 14">
              <a:extLst>
                <a:ext uri="{FF2B5EF4-FFF2-40B4-BE49-F238E27FC236}">
                  <a16:creationId xmlns:a16="http://schemas.microsoft.com/office/drawing/2014/main" id="{2D0F8229-8D9D-8A14-EC9F-FA1FB5151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81926" name="Rectangle 15">
            <a:extLst>
              <a:ext uri="{FF2B5EF4-FFF2-40B4-BE49-F238E27FC236}">
                <a16:creationId xmlns:a16="http://schemas.microsoft.com/office/drawing/2014/main" id="{8E5B1164-43FF-6CC8-E298-92BC50AB5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2355851"/>
            <a:ext cx="204788" cy="15716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81927" name="Rectangle 16">
            <a:extLst>
              <a:ext uri="{FF2B5EF4-FFF2-40B4-BE49-F238E27FC236}">
                <a16:creationId xmlns:a16="http://schemas.microsoft.com/office/drawing/2014/main" id="{6B2DFBA7-23AF-27BE-C094-7FDB83CE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1" y="1706563"/>
            <a:ext cx="1706563" cy="392112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81928" name="Rectangle 17">
            <a:extLst>
              <a:ext uri="{FF2B5EF4-FFF2-40B4-BE49-F238E27FC236}">
                <a16:creationId xmlns:a16="http://schemas.microsoft.com/office/drawing/2014/main" id="{1AD453E6-2A53-4F73-3D9E-77FA77BB0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1833564"/>
            <a:ext cx="16002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Courier" charset="0"/>
              </a:rPr>
              <a:t>ChangeProcessor</a:t>
            </a:r>
            <a:endParaRPr lang="en-US" altLang="en-US" sz="2400" b="0">
              <a:solidFill>
                <a:schemeClr val="tx1"/>
              </a:solidFill>
            </a:endParaRPr>
          </a:p>
        </p:txBody>
      </p:sp>
      <p:sp>
        <p:nvSpPr>
          <p:cNvPr id="81929" name="Line 18">
            <a:extLst>
              <a:ext uri="{FF2B5EF4-FFF2-40B4-BE49-F238E27FC236}">
                <a16:creationId xmlns:a16="http://schemas.microsoft.com/office/drawing/2014/main" id="{E1B1CD3D-9350-0B7F-401E-B652D553F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1175" y="2095500"/>
            <a:ext cx="0" cy="248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81930" name="Text Box 53">
            <a:extLst>
              <a:ext uri="{FF2B5EF4-FFF2-40B4-BE49-F238E27FC236}">
                <a16:creationId xmlns:a16="http://schemas.microsoft.com/office/drawing/2014/main" id="{CF26EC58-D265-8ACA-4674-64D167883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7288" y="1123951"/>
            <a:ext cx="5683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>
                <a:solidFill>
                  <a:schemeClr val="tx1"/>
                </a:solidFill>
              </a:rPr>
              <a:t>…continued from previous slide...</a:t>
            </a:r>
            <a:endParaRPr lang="en-US" altLang="en-US" sz="2400" b="0"/>
          </a:p>
        </p:txBody>
      </p:sp>
      <p:sp>
        <p:nvSpPr>
          <p:cNvPr id="81931" name="Rectangle 22">
            <a:extLst>
              <a:ext uri="{FF2B5EF4-FFF2-40B4-BE49-F238E27FC236}">
                <a16:creationId xmlns:a16="http://schemas.microsoft.com/office/drawing/2014/main" id="{046539A0-D61A-7AA4-BB15-CB69C7B6A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9" y="2266951"/>
            <a:ext cx="204787" cy="19145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4" name="Group 72">
            <a:extLst>
              <a:ext uri="{FF2B5EF4-FFF2-40B4-BE49-F238E27FC236}">
                <a16:creationId xmlns:a16="http://schemas.microsoft.com/office/drawing/2014/main" id="{F0451EE3-5986-5864-825B-506D35EE7459}"/>
              </a:ext>
            </a:extLst>
          </p:cNvPr>
          <p:cNvGrpSpPr>
            <a:grpSpLocks/>
          </p:cNvGrpSpPr>
          <p:nvPr/>
        </p:nvGrpSpPr>
        <p:grpSpPr bwMode="auto">
          <a:xfrm>
            <a:off x="4449763" y="2546350"/>
            <a:ext cx="2495550" cy="1822450"/>
            <a:chOff x="1843" y="1604"/>
            <a:chExt cx="1572" cy="1148"/>
          </a:xfrm>
        </p:grpSpPr>
        <p:sp>
          <p:nvSpPr>
            <p:cNvPr id="81948" name="Rectangle 24">
              <a:extLst>
                <a:ext uri="{FF2B5EF4-FFF2-40B4-BE49-F238E27FC236}">
                  <a16:creationId xmlns:a16="http://schemas.microsoft.com/office/drawing/2014/main" id="{ECE04BE4-48D5-CA17-B13C-8F4906F46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" y="1851"/>
              <a:ext cx="40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Ticket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81949" name="Group 69">
              <a:extLst>
                <a:ext uri="{FF2B5EF4-FFF2-40B4-BE49-F238E27FC236}">
                  <a16:creationId xmlns:a16="http://schemas.microsoft.com/office/drawing/2014/main" id="{8F193BD8-FF08-1A4F-FECD-02DBC7AAA8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" y="1604"/>
              <a:ext cx="1572" cy="1148"/>
              <a:chOff x="1843" y="1604"/>
              <a:chExt cx="1572" cy="1148"/>
            </a:xfrm>
          </p:grpSpPr>
          <p:sp>
            <p:nvSpPr>
              <p:cNvPr id="81950" name="Rectangle 25">
                <a:extLst>
                  <a:ext uri="{FF2B5EF4-FFF2-40B4-BE49-F238E27FC236}">
                    <a16:creationId xmlns:a16="http://schemas.microsoft.com/office/drawing/2014/main" id="{E5CC948C-D3FF-BA32-621A-9A49DA0A8B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771"/>
                <a:ext cx="1011" cy="247"/>
              </a:xfrm>
              <a:prstGeom prst="rect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81951" name="Line 26">
                <a:extLst>
                  <a:ext uri="{FF2B5EF4-FFF2-40B4-BE49-F238E27FC236}">
                    <a16:creationId xmlns:a16="http://schemas.microsoft.com/office/drawing/2014/main" id="{163FDE74-12AA-E139-C100-638DD11CC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6" y="2016"/>
                <a:ext cx="0" cy="7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81952" name="Line 49">
                <a:extLst>
                  <a:ext uri="{FF2B5EF4-FFF2-40B4-BE49-F238E27FC236}">
                    <a16:creationId xmlns:a16="http://schemas.microsoft.com/office/drawing/2014/main" id="{8CD3F189-4D84-FB13-8DCF-9C436B814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3" y="1785"/>
                <a:ext cx="50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81953" name="Rectangle 50">
                <a:extLst>
                  <a:ext uri="{FF2B5EF4-FFF2-40B4-BE49-F238E27FC236}">
                    <a16:creationId xmlns:a16="http://schemas.microsoft.com/office/drawing/2014/main" id="{67104799-3BDA-61BF-18EE-78E351F62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9" y="1604"/>
                <a:ext cx="154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chemeClr val="tx1"/>
                    </a:solidFill>
                    <a:latin typeface="Courier" charset="0"/>
                  </a:rPr>
                  <a:t>createTicket</a:t>
                </a:r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(selection)</a:t>
                </a:r>
                <a:endParaRPr lang="en-US" altLang="en-US" sz="2400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D73A4345-CF69-5161-EF8C-9C1BE7E8ABD9}"/>
              </a:ext>
            </a:extLst>
          </p:cNvPr>
          <p:cNvGrpSpPr>
            <a:grpSpLocks/>
          </p:cNvGrpSpPr>
          <p:nvPr/>
        </p:nvGrpSpPr>
        <p:grpSpPr bwMode="auto">
          <a:xfrm>
            <a:off x="4437063" y="3709989"/>
            <a:ext cx="1738312" cy="649287"/>
            <a:chOff x="1835" y="2337"/>
            <a:chExt cx="1095" cy="409"/>
          </a:xfrm>
        </p:grpSpPr>
        <p:grpSp>
          <p:nvGrpSpPr>
            <p:cNvPr id="81944" name="Group 62">
              <a:extLst>
                <a:ext uri="{FF2B5EF4-FFF2-40B4-BE49-F238E27FC236}">
                  <a16:creationId xmlns:a16="http://schemas.microsoft.com/office/drawing/2014/main" id="{2B1C78E6-752C-D9BE-03BA-AED4E0E1A1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5" y="2506"/>
              <a:ext cx="1095" cy="240"/>
              <a:chOff x="1835" y="2314"/>
              <a:chExt cx="1095" cy="240"/>
            </a:xfrm>
          </p:grpSpPr>
          <p:sp>
            <p:nvSpPr>
              <p:cNvPr id="81946" name="Rectangle 63">
                <a:extLst>
                  <a:ext uri="{FF2B5EF4-FFF2-40B4-BE49-F238E27FC236}">
                    <a16:creationId xmlns:a16="http://schemas.microsoft.com/office/drawing/2014/main" id="{F20E135E-C0F1-A3C5-8EC9-586F38DB4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2316"/>
                <a:ext cx="129" cy="238"/>
              </a:xfrm>
              <a:prstGeom prst="rect">
                <a:avLst/>
              </a:prstGeom>
              <a:solidFill>
                <a:schemeClr val="bg1"/>
              </a:solidFill>
              <a:ln w="174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81947" name="Line 64">
                <a:extLst>
                  <a:ext uri="{FF2B5EF4-FFF2-40B4-BE49-F238E27FC236}">
                    <a16:creationId xmlns:a16="http://schemas.microsoft.com/office/drawing/2014/main" id="{2A52ABD3-6A29-2BFD-CBDB-2F1724096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5" y="2314"/>
                <a:ext cx="94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81945" name="Rectangle 66">
              <a:extLst>
                <a:ext uri="{FF2B5EF4-FFF2-40B4-BE49-F238E27FC236}">
                  <a16:creationId xmlns:a16="http://schemas.microsoft.com/office/drawing/2014/main" id="{4DC5248E-07D7-319A-3DD1-9032147A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2337"/>
              <a:ext cx="40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free()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107587" name="AutoShape 67">
            <a:extLst>
              <a:ext uri="{FF2B5EF4-FFF2-40B4-BE49-F238E27FC236}">
                <a16:creationId xmlns:a16="http://schemas.microsoft.com/office/drawing/2014/main" id="{0F9D1913-19A5-8003-A62D-D2630B6F6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1" y="1719264"/>
            <a:ext cx="2600325" cy="719137"/>
          </a:xfrm>
          <a:prstGeom prst="wedgeRoundRectCallout">
            <a:avLst>
              <a:gd name="adj1" fmla="val -93282"/>
              <a:gd name="adj2" fmla="val 9701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Creation of Ticket</a:t>
            </a:r>
          </a:p>
        </p:txBody>
      </p:sp>
      <p:sp>
        <p:nvSpPr>
          <p:cNvPr id="107588" name="AutoShape 68">
            <a:extLst>
              <a:ext uri="{FF2B5EF4-FFF2-40B4-BE49-F238E27FC236}">
                <a16:creationId xmlns:a16="http://schemas.microsoft.com/office/drawing/2014/main" id="{CBA40D28-90DD-78AF-2D6B-4CA2230C0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900" y="3592514"/>
            <a:ext cx="2901950" cy="598487"/>
          </a:xfrm>
          <a:prstGeom prst="wedgeRoundRectCallout">
            <a:avLst>
              <a:gd name="adj1" fmla="val -69477"/>
              <a:gd name="adj2" fmla="val 8315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Destruction of Ticket</a:t>
            </a:r>
          </a:p>
        </p:txBody>
      </p:sp>
      <p:grpSp>
        <p:nvGrpSpPr>
          <p:cNvPr id="8" name="Group 70">
            <a:extLst>
              <a:ext uri="{FF2B5EF4-FFF2-40B4-BE49-F238E27FC236}">
                <a16:creationId xmlns:a16="http://schemas.microsoft.com/office/drawing/2014/main" id="{28597861-FCF1-B2F3-B47C-1565E51AB447}"/>
              </a:ext>
            </a:extLst>
          </p:cNvPr>
          <p:cNvGrpSpPr>
            <a:grpSpLocks/>
          </p:cNvGrpSpPr>
          <p:nvPr/>
        </p:nvGrpSpPr>
        <p:grpSpPr bwMode="auto">
          <a:xfrm>
            <a:off x="4437063" y="3176589"/>
            <a:ext cx="1738312" cy="611187"/>
            <a:chOff x="1835" y="2001"/>
            <a:chExt cx="1095" cy="385"/>
          </a:xfrm>
        </p:grpSpPr>
        <p:grpSp>
          <p:nvGrpSpPr>
            <p:cNvPr id="81940" name="Group 61">
              <a:extLst>
                <a:ext uri="{FF2B5EF4-FFF2-40B4-BE49-F238E27FC236}">
                  <a16:creationId xmlns:a16="http://schemas.microsoft.com/office/drawing/2014/main" id="{8F7C2017-6FDE-C8CE-DFDF-F8A19AEF53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5" y="2146"/>
              <a:ext cx="1095" cy="240"/>
              <a:chOff x="1835" y="2314"/>
              <a:chExt cx="1095" cy="240"/>
            </a:xfrm>
          </p:grpSpPr>
          <p:sp>
            <p:nvSpPr>
              <p:cNvPr id="81942" name="Rectangle 41">
                <a:extLst>
                  <a:ext uri="{FF2B5EF4-FFF2-40B4-BE49-F238E27FC236}">
                    <a16:creationId xmlns:a16="http://schemas.microsoft.com/office/drawing/2014/main" id="{21BC6666-5DEA-7094-9FFE-0F9A73E44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2316"/>
                <a:ext cx="129" cy="238"/>
              </a:xfrm>
              <a:prstGeom prst="rect">
                <a:avLst/>
              </a:prstGeom>
              <a:solidFill>
                <a:schemeClr val="bg1"/>
              </a:solidFill>
              <a:ln w="174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81943" name="Line 42">
                <a:extLst>
                  <a:ext uri="{FF2B5EF4-FFF2-40B4-BE49-F238E27FC236}">
                    <a16:creationId xmlns:a16="http://schemas.microsoft.com/office/drawing/2014/main" id="{F5C484BD-C283-0FC9-0782-1EC3710BF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5" y="2314"/>
                <a:ext cx="94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81941" name="Rectangle 43">
              <a:extLst>
                <a:ext uri="{FF2B5EF4-FFF2-40B4-BE49-F238E27FC236}">
                  <a16:creationId xmlns:a16="http://schemas.microsoft.com/office/drawing/2014/main" id="{6A669681-C3AD-E686-2CF1-DD6373D2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2001"/>
              <a:ext cx="47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print()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59">
            <a:extLst>
              <a:ext uri="{FF2B5EF4-FFF2-40B4-BE49-F238E27FC236}">
                <a16:creationId xmlns:a16="http://schemas.microsoft.com/office/drawing/2014/main" id="{76194AF1-9942-A15D-C904-8EEFF63DB90D}"/>
              </a:ext>
            </a:extLst>
          </p:cNvPr>
          <p:cNvGrpSpPr>
            <a:grpSpLocks/>
          </p:cNvGrpSpPr>
          <p:nvPr/>
        </p:nvGrpSpPr>
        <p:grpSpPr bwMode="auto">
          <a:xfrm>
            <a:off x="5930900" y="4241800"/>
            <a:ext cx="292100" cy="292100"/>
            <a:chOff x="2832" y="2744"/>
            <a:chExt cx="184" cy="184"/>
          </a:xfrm>
        </p:grpSpPr>
        <p:sp>
          <p:nvSpPr>
            <p:cNvPr id="81938" name="Line 57">
              <a:extLst>
                <a:ext uri="{FF2B5EF4-FFF2-40B4-BE49-F238E27FC236}">
                  <a16:creationId xmlns:a16="http://schemas.microsoft.com/office/drawing/2014/main" id="{702C2628-5EF6-E1E6-C248-D0EED455C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2744"/>
              <a:ext cx="184" cy="1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81939" name="Line 58">
              <a:extLst>
                <a:ext uri="{FF2B5EF4-FFF2-40B4-BE49-F238E27FC236}">
                  <a16:creationId xmlns:a16="http://schemas.microsoft.com/office/drawing/2014/main" id="{8186B4A8-9776-5FE2-0353-B6CD7FD74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32" y="2744"/>
              <a:ext cx="184" cy="1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0614846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  <p:bldP spid="107587" grpId="0" animBg="1" autoUpdateAnimBg="0"/>
      <p:bldP spid="107588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6378FC7-CDE1-1521-987B-FF7814E77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Sequence Diagram Properties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8A07E7BD-688E-44C2-FCD1-C537ABEA1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UML sequence diagram represent </a:t>
            </a:r>
            <a:r>
              <a:rPr lang="en-US" altLang="en-US" i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behavior in terms of interactions</a:t>
            </a:r>
            <a:r>
              <a:rPr lang="en-US" altLang="en-US" dirty="0">
                <a:ea typeface="ＭＳ Ｐゴシック" panose="020B0600070205080204" pitchFamily="34" charset="-128"/>
              </a:rPr>
              <a:t>.</a:t>
            </a:r>
            <a:endParaRPr lang="en-US" altLang="en-US" i="1" dirty="0">
              <a:solidFill>
                <a:srgbClr val="FF3300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Useful to identify or find missing objects.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Time consuming to build, but worth the investment.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Complement the class diagrams (which represent structure).</a:t>
            </a:r>
          </a:p>
        </p:txBody>
      </p:sp>
    </p:spTree>
    <p:extLst>
      <p:ext uri="{BB962C8B-B14F-4D97-AF65-F5344CB8AC3E}">
        <p14:creationId xmlns:p14="http://schemas.microsoft.com/office/powerpoint/2010/main" val="33944442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9">
            <a:extLst>
              <a:ext uri="{FF2B5EF4-FFF2-40B4-BE49-F238E27FC236}">
                <a16:creationId xmlns:a16="http://schemas.microsoft.com/office/drawing/2014/main" id="{81DCB37C-EA71-22C6-7837-BB65FEE19C5F}"/>
              </a:ext>
            </a:extLst>
          </p:cNvPr>
          <p:cNvGrpSpPr>
            <a:grpSpLocks/>
          </p:cNvGrpSpPr>
          <p:nvPr/>
        </p:nvGrpSpPr>
        <p:grpSpPr bwMode="auto">
          <a:xfrm>
            <a:off x="2835276" y="1906588"/>
            <a:ext cx="2316163" cy="4049712"/>
            <a:chOff x="826" y="1201"/>
            <a:chExt cx="1459" cy="2551"/>
          </a:xfrm>
        </p:grpSpPr>
        <p:grpSp>
          <p:nvGrpSpPr>
            <p:cNvPr id="121993" name="Group 159">
              <a:extLst>
                <a:ext uri="{FF2B5EF4-FFF2-40B4-BE49-F238E27FC236}">
                  <a16:creationId xmlns:a16="http://schemas.microsoft.com/office/drawing/2014/main" id="{1BD7B0F0-4846-85BF-6262-1BD576B8B8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4" y="1245"/>
              <a:ext cx="1" cy="2507"/>
              <a:chOff x="4650" y="1322"/>
              <a:chExt cx="1" cy="2507"/>
            </a:xfrm>
          </p:grpSpPr>
          <p:sp>
            <p:nvSpPr>
              <p:cNvPr id="122013" name="Line 56">
                <a:extLst>
                  <a:ext uri="{FF2B5EF4-FFF2-40B4-BE49-F238E27FC236}">
                    <a16:creationId xmlns:a16="http://schemas.microsoft.com/office/drawing/2014/main" id="{4ACD52CB-38A9-F339-D1A1-3EE69A965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322"/>
                <a:ext cx="1" cy="4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4" name="Line 57">
                <a:extLst>
                  <a:ext uri="{FF2B5EF4-FFF2-40B4-BE49-F238E27FC236}">
                    <a16:creationId xmlns:a16="http://schemas.microsoft.com/office/drawing/2014/main" id="{21FB87E5-84B8-48D4-B964-1E3AFC345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430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5" name="Line 58">
                <a:extLst>
                  <a:ext uri="{FF2B5EF4-FFF2-40B4-BE49-F238E27FC236}">
                    <a16:creationId xmlns:a16="http://schemas.microsoft.com/office/drawing/2014/main" id="{8DF3E35C-3352-803E-AE1F-415A3CAB1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581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6" name="Line 59">
                <a:extLst>
                  <a:ext uri="{FF2B5EF4-FFF2-40B4-BE49-F238E27FC236}">
                    <a16:creationId xmlns:a16="http://schemas.microsoft.com/office/drawing/2014/main" id="{484B9BE0-F20A-A0C9-D768-7AF2C5E06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721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7" name="Line 60">
                <a:extLst>
                  <a:ext uri="{FF2B5EF4-FFF2-40B4-BE49-F238E27FC236}">
                    <a16:creationId xmlns:a16="http://schemas.microsoft.com/office/drawing/2014/main" id="{3E5D4C6F-4BD6-031F-CC10-4DB086634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871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8" name="Line 61">
                <a:extLst>
                  <a:ext uri="{FF2B5EF4-FFF2-40B4-BE49-F238E27FC236}">
                    <a16:creationId xmlns:a16="http://schemas.microsoft.com/office/drawing/2014/main" id="{9F4F1D71-00AF-33E2-8560-DC884A9B0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022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9" name="Line 62">
                <a:extLst>
                  <a:ext uri="{FF2B5EF4-FFF2-40B4-BE49-F238E27FC236}">
                    <a16:creationId xmlns:a16="http://schemas.microsoft.com/office/drawing/2014/main" id="{7BD557BF-7A56-A4E7-D0F6-5AD49CE08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172"/>
                <a:ext cx="1" cy="7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0" name="Line 63">
                <a:extLst>
                  <a:ext uri="{FF2B5EF4-FFF2-40B4-BE49-F238E27FC236}">
                    <a16:creationId xmlns:a16="http://schemas.microsoft.com/office/drawing/2014/main" id="{67BF2852-BE49-B422-001E-6FF786065C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312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1" name="Line 64">
                <a:extLst>
                  <a:ext uri="{FF2B5EF4-FFF2-40B4-BE49-F238E27FC236}">
                    <a16:creationId xmlns:a16="http://schemas.microsoft.com/office/drawing/2014/main" id="{DFCD7C3E-2467-436D-373E-14B0A0981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463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2" name="Line 65">
                <a:extLst>
                  <a:ext uri="{FF2B5EF4-FFF2-40B4-BE49-F238E27FC236}">
                    <a16:creationId xmlns:a16="http://schemas.microsoft.com/office/drawing/2014/main" id="{C854637F-36CE-E93A-8DCA-75B2B292C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614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3" name="Line 66">
                <a:extLst>
                  <a:ext uri="{FF2B5EF4-FFF2-40B4-BE49-F238E27FC236}">
                    <a16:creationId xmlns:a16="http://schemas.microsoft.com/office/drawing/2014/main" id="{7771F41A-EB33-B7DA-8195-6EBC16883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785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4" name="Line 67">
                <a:extLst>
                  <a:ext uri="{FF2B5EF4-FFF2-40B4-BE49-F238E27FC236}">
                    <a16:creationId xmlns:a16="http://schemas.microsoft.com/office/drawing/2014/main" id="{68B58E26-E7CD-B5C2-00F1-8307CC876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904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5" name="Line 68">
                <a:extLst>
                  <a:ext uri="{FF2B5EF4-FFF2-40B4-BE49-F238E27FC236}">
                    <a16:creationId xmlns:a16="http://schemas.microsoft.com/office/drawing/2014/main" id="{31472ED1-2849-3554-523A-BA30C1DB6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055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6" name="Line 69">
                <a:extLst>
                  <a:ext uri="{FF2B5EF4-FFF2-40B4-BE49-F238E27FC236}">
                    <a16:creationId xmlns:a16="http://schemas.microsoft.com/office/drawing/2014/main" id="{E61E7446-2409-45CC-555A-87F9A1C76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194"/>
                <a:ext cx="1" cy="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7" name="Line 70">
                <a:extLst>
                  <a:ext uri="{FF2B5EF4-FFF2-40B4-BE49-F238E27FC236}">
                    <a16:creationId xmlns:a16="http://schemas.microsoft.com/office/drawing/2014/main" id="{F0EBDC4B-FEA4-0ACE-93FC-ED8F21BB8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345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8" name="Line 71">
                <a:extLst>
                  <a:ext uri="{FF2B5EF4-FFF2-40B4-BE49-F238E27FC236}">
                    <a16:creationId xmlns:a16="http://schemas.microsoft.com/office/drawing/2014/main" id="{5530DABE-5617-1080-F300-F0A0FA2AD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496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29" name="Line 72">
                <a:extLst>
                  <a:ext uri="{FF2B5EF4-FFF2-40B4-BE49-F238E27FC236}">
                    <a16:creationId xmlns:a16="http://schemas.microsoft.com/office/drawing/2014/main" id="{842895E6-DCD4-B095-690F-C29865C69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636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30" name="Line 73">
                <a:extLst>
                  <a:ext uri="{FF2B5EF4-FFF2-40B4-BE49-F238E27FC236}">
                    <a16:creationId xmlns:a16="http://schemas.microsoft.com/office/drawing/2014/main" id="{2EB6C1F0-1999-89C3-114D-3AE0C8CEC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786"/>
                <a:ext cx="1" cy="4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21994" name="Group 270">
              <a:extLst>
                <a:ext uri="{FF2B5EF4-FFF2-40B4-BE49-F238E27FC236}">
                  <a16:creationId xmlns:a16="http://schemas.microsoft.com/office/drawing/2014/main" id="{D2C33E60-7185-B862-A67A-4DE6D223B7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6" y="1201"/>
              <a:ext cx="1" cy="2507"/>
              <a:chOff x="4650" y="1322"/>
              <a:chExt cx="1" cy="2507"/>
            </a:xfrm>
          </p:grpSpPr>
          <p:sp>
            <p:nvSpPr>
              <p:cNvPr id="121995" name="Line 271">
                <a:extLst>
                  <a:ext uri="{FF2B5EF4-FFF2-40B4-BE49-F238E27FC236}">
                    <a16:creationId xmlns:a16="http://schemas.microsoft.com/office/drawing/2014/main" id="{989D7A2F-23A3-E6AA-A0F1-0C1B586A8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322"/>
                <a:ext cx="1" cy="4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1996" name="Line 272">
                <a:extLst>
                  <a:ext uri="{FF2B5EF4-FFF2-40B4-BE49-F238E27FC236}">
                    <a16:creationId xmlns:a16="http://schemas.microsoft.com/office/drawing/2014/main" id="{10462893-D441-58FF-B2CE-35BDE7844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430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1997" name="Line 273">
                <a:extLst>
                  <a:ext uri="{FF2B5EF4-FFF2-40B4-BE49-F238E27FC236}">
                    <a16:creationId xmlns:a16="http://schemas.microsoft.com/office/drawing/2014/main" id="{44861BEB-A457-4D7A-2B58-2CB896FB24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581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1998" name="Line 274">
                <a:extLst>
                  <a:ext uri="{FF2B5EF4-FFF2-40B4-BE49-F238E27FC236}">
                    <a16:creationId xmlns:a16="http://schemas.microsoft.com/office/drawing/2014/main" id="{79F4C533-2CC5-9B3D-F1F7-D072AC63C4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721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1999" name="Line 275">
                <a:extLst>
                  <a:ext uri="{FF2B5EF4-FFF2-40B4-BE49-F238E27FC236}">
                    <a16:creationId xmlns:a16="http://schemas.microsoft.com/office/drawing/2014/main" id="{A83BAD99-8CA0-488D-7B5C-4C643FD3C6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1871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0" name="Line 276">
                <a:extLst>
                  <a:ext uri="{FF2B5EF4-FFF2-40B4-BE49-F238E27FC236}">
                    <a16:creationId xmlns:a16="http://schemas.microsoft.com/office/drawing/2014/main" id="{A1827A4A-D2F7-1BF8-5026-89B1130D5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022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1" name="Line 277">
                <a:extLst>
                  <a:ext uri="{FF2B5EF4-FFF2-40B4-BE49-F238E27FC236}">
                    <a16:creationId xmlns:a16="http://schemas.microsoft.com/office/drawing/2014/main" id="{8712C1F4-C21D-F37F-17DC-23D1C5C60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172"/>
                <a:ext cx="1" cy="7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2" name="Line 278">
                <a:extLst>
                  <a:ext uri="{FF2B5EF4-FFF2-40B4-BE49-F238E27FC236}">
                    <a16:creationId xmlns:a16="http://schemas.microsoft.com/office/drawing/2014/main" id="{08D02987-7440-6BDA-10C7-AECAF56D1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312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3" name="Line 279">
                <a:extLst>
                  <a:ext uri="{FF2B5EF4-FFF2-40B4-BE49-F238E27FC236}">
                    <a16:creationId xmlns:a16="http://schemas.microsoft.com/office/drawing/2014/main" id="{C499E41D-8F1A-BCB0-14BF-47AC5F931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463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4" name="Line 280">
                <a:extLst>
                  <a:ext uri="{FF2B5EF4-FFF2-40B4-BE49-F238E27FC236}">
                    <a16:creationId xmlns:a16="http://schemas.microsoft.com/office/drawing/2014/main" id="{65C7C5E5-4605-7D5A-0028-93A0F745C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614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5" name="Line 281">
                <a:extLst>
                  <a:ext uri="{FF2B5EF4-FFF2-40B4-BE49-F238E27FC236}">
                    <a16:creationId xmlns:a16="http://schemas.microsoft.com/office/drawing/2014/main" id="{8ED4A8C3-28A9-6100-8A8E-A721525F7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785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6" name="Line 282">
                <a:extLst>
                  <a:ext uri="{FF2B5EF4-FFF2-40B4-BE49-F238E27FC236}">
                    <a16:creationId xmlns:a16="http://schemas.microsoft.com/office/drawing/2014/main" id="{3DAAA295-B084-EA34-AA73-7168F37C5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2904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7" name="Line 283">
                <a:extLst>
                  <a:ext uri="{FF2B5EF4-FFF2-40B4-BE49-F238E27FC236}">
                    <a16:creationId xmlns:a16="http://schemas.microsoft.com/office/drawing/2014/main" id="{7878CEFD-A952-8C99-2B78-C64709F67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055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8" name="Line 284">
                <a:extLst>
                  <a:ext uri="{FF2B5EF4-FFF2-40B4-BE49-F238E27FC236}">
                    <a16:creationId xmlns:a16="http://schemas.microsoft.com/office/drawing/2014/main" id="{A6F92FBA-ECF0-E2DA-4408-C881A739B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194"/>
                <a:ext cx="1" cy="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09" name="Line 285">
                <a:extLst>
                  <a:ext uri="{FF2B5EF4-FFF2-40B4-BE49-F238E27FC236}">
                    <a16:creationId xmlns:a16="http://schemas.microsoft.com/office/drawing/2014/main" id="{6BCB1DD9-3C20-76FE-895D-11B3AC11C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345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0" name="Line 286">
                <a:extLst>
                  <a:ext uri="{FF2B5EF4-FFF2-40B4-BE49-F238E27FC236}">
                    <a16:creationId xmlns:a16="http://schemas.microsoft.com/office/drawing/2014/main" id="{7F68340C-B5F0-32A2-E28D-6EA495112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496"/>
                <a:ext cx="1" cy="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1" name="Line 287">
                <a:extLst>
                  <a:ext uri="{FF2B5EF4-FFF2-40B4-BE49-F238E27FC236}">
                    <a16:creationId xmlns:a16="http://schemas.microsoft.com/office/drawing/2014/main" id="{78D507BB-7CB1-0D47-F3C0-4DF4E17A9A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636"/>
                <a:ext cx="1" cy="86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2012" name="Line 288">
                <a:extLst>
                  <a:ext uri="{FF2B5EF4-FFF2-40B4-BE49-F238E27FC236}">
                    <a16:creationId xmlns:a16="http://schemas.microsoft.com/office/drawing/2014/main" id="{C6BD2FAD-A0C9-D2EC-1079-E758452E2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0" y="3786"/>
                <a:ext cx="1" cy="4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</p:grpSp>
      <p:sp>
        <p:nvSpPr>
          <p:cNvPr id="89094" name="AutoShape 6">
            <a:extLst>
              <a:ext uri="{FF2B5EF4-FFF2-40B4-BE49-F238E27FC236}">
                <a16:creationId xmlns:a16="http://schemas.microsoft.com/office/drawing/2014/main" id="{BD13DC4D-052B-6A39-FBD6-82C55DCAB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176" y="1081089"/>
            <a:ext cx="1243013" cy="396875"/>
          </a:xfrm>
          <a:prstGeom prst="wedgeRoundRectCallout">
            <a:avLst>
              <a:gd name="adj1" fmla="val -6194"/>
              <a:gd name="adj2" fmla="val 24639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Message</a:t>
            </a:r>
          </a:p>
        </p:txBody>
      </p:sp>
      <p:sp>
        <p:nvSpPr>
          <p:cNvPr id="89289" name="Line 201">
            <a:extLst>
              <a:ext uri="{FF2B5EF4-FFF2-40B4-BE49-F238E27FC236}">
                <a16:creationId xmlns:a16="http://schemas.microsoft.com/office/drawing/2014/main" id="{CFA9BA63-59E6-B5CE-6DA5-5175D249B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439" y="5702301"/>
            <a:ext cx="1587" cy="13652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89290" name="Line 202">
            <a:extLst>
              <a:ext uri="{FF2B5EF4-FFF2-40B4-BE49-F238E27FC236}">
                <a16:creationId xmlns:a16="http://schemas.microsoft.com/office/drawing/2014/main" id="{51A69226-033E-44F8-78EE-33AE16DA7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439" y="5940426"/>
            <a:ext cx="1587" cy="68263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121863" name="Rectangle 82">
            <a:extLst>
              <a:ext uri="{FF2B5EF4-FFF2-40B4-BE49-F238E27FC236}">
                <a16:creationId xmlns:a16="http://schemas.microsoft.com/office/drawing/2014/main" id="{09C02D4B-52DF-66AE-A37C-6C92C0B4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1" y="2538413"/>
            <a:ext cx="188913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5" name="Group 261">
            <a:extLst>
              <a:ext uri="{FF2B5EF4-FFF2-40B4-BE49-F238E27FC236}">
                <a16:creationId xmlns:a16="http://schemas.microsoft.com/office/drawing/2014/main" id="{99276E43-9E14-0797-3B23-54510843CC68}"/>
              </a:ext>
            </a:extLst>
          </p:cNvPr>
          <p:cNvGrpSpPr>
            <a:grpSpLocks/>
          </p:cNvGrpSpPr>
          <p:nvPr/>
        </p:nvGrpSpPr>
        <p:grpSpPr bwMode="auto">
          <a:xfrm>
            <a:off x="9009063" y="1651000"/>
            <a:ext cx="982662" cy="4165600"/>
            <a:chOff x="4715" y="1040"/>
            <a:chExt cx="619" cy="2624"/>
          </a:xfrm>
        </p:grpSpPr>
        <p:grpSp>
          <p:nvGrpSpPr>
            <p:cNvPr id="121969" name="Group 154">
              <a:extLst>
                <a:ext uri="{FF2B5EF4-FFF2-40B4-BE49-F238E27FC236}">
                  <a16:creationId xmlns:a16="http://schemas.microsoft.com/office/drawing/2014/main" id="{83136E34-37F2-2FF4-4154-904EC4B9A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7" y="1168"/>
              <a:ext cx="111" cy="2496"/>
              <a:chOff x="2079" y="1322"/>
              <a:chExt cx="118" cy="2496"/>
            </a:xfrm>
          </p:grpSpPr>
          <p:sp>
            <p:nvSpPr>
              <p:cNvPr id="121971" name="Line 20">
                <a:extLst>
                  <a:ext uri="{FF2B5EF4-FFF2-40B4-BE49-F238E27FC236}">
                    <a16:creationId xmlns:a16="http://schemas.microsoft.com/office/drawing/2014/main" id="{D5E78277-C34B-8064-FFB5-73EC2DBC4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1322"/>
                <a:ext cx="1" cy="4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grpSp>
            <p:nvGrpSpPr>
              <p:cNvPr id="121972" name="Group 153">
                <a:extLst>
                  <a:ext uri="{FF2B5EF4-FFF2-40B4-BE49-F238E27FC236}">
                    <a16:creationId xmlns:a16="http://schemas.microsoft.com/office/drawing/2014/main" id="{57D292A3-2391-A289-0A64-2EAF8F741B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9" y="1430"/>
                <a:ext cx="118" cy="2388"/>
                <a:chOff x="2079" y="1430"/>
                <a:chExt cx="118" cy="2388"/>
              </a:xfrm>
            </p:grpSpPr>
            <p:sp>
              <p:nvSpPr>
                <p:cNvPr id="121973" name="Line 21">
                  <a:extLst>
                    <a:ext uri="{FF2B5EF4-FFF2-40B4-BE49-F238E27FC236}">
                      <a16:creationId xmlns:a16="http://schemas.microsoft.com/office/drawing/2014/main" id="{1CAA7941-5D8D-F752-3BC7-4237D24844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1430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74" name="Line 22">
                  <a:extLst>
                    <a:ext uri="{FF2B5EF4-FFF2-40B4-BE49-F238E27FC236}">
                      <a16:creationId xmlns:a16="http://schemas.microsoft.com/office/drawing/2014/main" id="{8DDF884F-4DA0-C160-AD3A-605466CC79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1581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75" name="Line 23">
                  <a:extLst>
                    <a:ext uri="{FF2B5EF4-FFF2-40B4-BE49-F238E27FC236}">
                      <a16:creationId xmlns:a16="http://schemas.microsoft.com/office/drawing/2014/main" id="{540E361B-568D-C7D4-05F0-A8F8D4A369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1721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76" name="Line 24">
                  <a:extLst>
                    <a:ext uri="{FF2B5EF4-FFF2-40B4-BE49-F238E27FC236}">
                      <a16:creationId xmlns:a16="http://schemas.microsoft.com/office/drawing/2014/main" id="{BB8E3BF9-BC7E-C45F-7635-02C85A7564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1871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77" name="Line 25">
                  <a:extLst>
                    <a:ext uri="{FF2B5EF4-FFF2-40B4-BE49-F238E27FC236}">
                      <a16:creationId xmlns:a16="http://schemas.microsoft.com/office/drawing/2014/main" id="{3C6944B5-8477-1A4A-A32A-B2A3F472F7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022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78" name="Line 26">
                  <a:extLst>
                    <a:ext uri="{FF2B5EF4-FFF2-40B4-BE49-F238E27FC236}">
                      <a16:creationId xmlns:a16="http://schemas.microsoft.com/office/drawing/2014/main" id="{43CB3754-BE7C-5687-15D0-4BC1A4DE4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162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79" name="Line 27">
                  <a:extLst>
                    <a:ext uri="{FF2B5EF4-FFF2-40B4-BE49-F238E27FC236}">
                      <a16:creationId xmlns:a16="http://schemas.microsoft.com/office/drawing/2014/main" id="{DC4BE06E-192A-21FE-680D-5D525D5987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312"/>
                  <a:ext cx="1" cy="7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0" name="Line 28">
                  <a:extLst>
                    <a:ext uri="{FF2B5EF4-FFF2-40B4-BE49-F238E27FC236}">
                      <a16:creationId xmlns:a16="http://schemas.microsoft.com/office/drawing/2014/main" id="{B6B1348A-3E6A-FC64-4563-60F1711909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452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1" name="Line 29">
                  <a:extLst>
                    <a:ext uri="{FF2B5EF4-FFF2-40B4-BE49-F238E27FC236}">
                      <a16:creationId xmlns:a16="http://schemas.microsoft.com/office/drawing/2014/main" id="{FC38D549-77FF-7242-28C9-749AA35546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603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2" name="Line 30">
                  <a:extLst>
                    <a:ext uri="{FF2B5EF4-FFF2-40B4-BE49-F238E27FC236}">
                      <a16:creationId xmlns:a16="http://schemas.microsoft.com/office/drawing/2014/main" id="{5DAF4DD3-33FF-ED07-D59E-60BBEAB2C9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753"/>
                  <a:ext cx="1" cy="7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3" name="Line 31">
                  <a:extLst>
                    <a:ext uri="{FF2B5EF4-FFF2-40B4-BE49-F238E27FC236}">
                      <a16:creationId xmlns:a16="http://schemas.microsoft.com/office/drawing/2014/main" id="{22CBE4C0-9672-1367-1737-083BCB1A9B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2893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4" name="Line 32">
                  <a:extLst>
                    <a:ext uri="{FF2B5EF4-FFF2-40B4-BE49-F238E27FC236}">
                      <a16:creationId xmlns:a16="http://schemas.microsoft.com/office/drawing/2014/main" id="{B7F5FD08-124D-086C-3961-59A08920C3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3044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5" name="Line 33">
                  <a:extLst>
                    <a:ext uri="{FF2B5EF4-FFF2-40B4-BE49-F238E27FC236}">
                      <a16:creationId xmlns:a16="http://schemas.microsoft.com/office/drawing/2014/main" id="{C1E9D53F-8BFF-FCD3-4A9E-794352EAA5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3194"/>
                  <a:ext cx="1" cy="7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6" name="Line 34">
                  <a:extLst>
                    <a:ext uri="{FF2B5EF4-FFF2-40B4-BE49-F238E27FC236}">
                      <a16:creationId xmlns:a16="http://schemas.microsoft.com/office/drawing/2014/main" id="{F4BF5EA6-61A1-F3D0-5699-47931763B2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3334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7" name="Line 35">
                  <a:extLst>
                    <a:ext uri="{FF2B5EF4-FFF2-40B4-BE49-F238E27FC236}">
                      <a16:creationId xmlns:a16="http://schemas.microsoft.com/office/drawing/2014/main" id="{0272BC9F-82AF-295B-532C-0869301A99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3485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8" name="Line 36">
                  <a:extLst>
                    <a:ext uri="{FF2B5EF4-FFF2-40B4-BE49-F238E27FC236}">
                      <a16:creationId xmlns:a16="http://schemas.microsoft.com/office/drawing/2014/main" id="{6F4E9005-A0B8-C2E2-DCA2-F2E4480E0C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3636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89" name="Line 37">
                  <a:extLst>
                    <a:ext uri="{FF2B5EF4-FFF2-40B4-BE49-F238E27FC236}">
                      <a16:creationId xmlns:a16="http://schemas.microsoft.com/office/drawing/2014/main" id="{0A35A218-02AF-652F-E108-1499A95C32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3" y="3775"/>
                  <a:ext cx="1" cy="43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90" name="Rectangle 84">
                  <a:extLst>
                    <a:ext uri="{FF2B5EF4-FFF2-40B4-BE49-F238E27FC236}">
                      <a16:creationId xmlns:a16="http://schemas.microsoft.com/office/drawing/2014/main" id="{1CA43474-12D7-9951-D27F-1D57F95381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9" y="1839"/>
                  <a:ext cx="118" cy="1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121991" name="Rectangle 91">
                  <a:extLst>
                    <a:ext uri="{FF2B5EF4-FFF2-40B4-BE49-F238E27FC236}">
                      <a16:creationId xmlns:a16="http://schemas.microsoft.com/office/drawing/2014/main" id="{302DC3F2-A2BB-6664-C74B-FFD07E4A5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9" y="2151"/>
                  <a:ext cx="118" cy="1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  <p:sp>
              <p:nvSpPr>
                <p:cNvPr id="121992" name="Rectangle 106">
                  <a:extLst>
                    <a:ext uri="{FF2B5EF4-FFF2-40B4-BE49-F238E27FC236}">
                      <a16:creationId xmlns:a16="http://schemas.microsoft.com/office/drawing/2014/main" id="{37A7E254-C0FC-06D1-3DC9-BA5D9AE8F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9" y="2603"/>
                  <a:ext cx="118" cy="43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/>
                </a:p>
              </p:txBody>
            </p:sp>
          </p:grpSp>
        </p:grpSp>
        <p:sp>
          <p:nvSpPr>
            <p:cNvPr id="121970" name="Rectangle 14">
              <a:extLst>
                <a:ext uri="{FF2B5EF4-FFF2-40B4-BE49-F238E27FC236}">
                  <a16:creationId xmlns:a16="http://schemas.microsoft.com/office/drawing/2014/main" id="{AAE071BA-1A80-6F1A-0884-8537DB234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040"/>
              <a:ext cx="619" cy="247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89103" name="Rectangle 15">
            <a:extLst>
              <a:ext uri="{FF2B5EF4-FFF2-40B4-BE49-F238E27FC236}">
                <a16:creationId xmlns:a16="http://schemas.microsoft.com/office/drawing/2014/main" id="{044805FF-41D9-2542-D2D2-9FFE48407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7975" y="1722439"/>
            <a:ext cx="685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1800" u="sng">
                <a:solidFill>
                  <a:srgbClr val="000000"/>
                </a:solidFill>
                <a:latin typeface="Courier" charset="0"/>
              </a:rPr>
              <a:t>:Time</a:t>
            </a:r>
            <a:endParaRPr lang="en-US" altLang="en-US" sz="1800" b="0">
              <a:solidFill>
                <a:schemeClr val="tx1"/>
              </a:solidFill>
            </a:endParaRPr>
          </a:p>
        </p:txBody>
      </p:sp>
      <p:grpSp>
        <p:nvGrpSpPr>
          <p:cNvPr id="8" name="Group 268">
            <a:extLst>
              <a:ext uri="{FF2B5EF4-FFF2-40B4-BE49-F238E27FC236}">
                <a16:creationId xmlns:a16="http://schemas.microsoft.com/office/drawing/2014/main" id="{F64B2D7E-439B-9EAF-2EE6-A8C2DA0EEFC6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1020764"/>
            <a:ext cx="3524250" cy="1023937"/>
            <a:chOff x="397" y="643"/>
            <a:chExt cx="2220" cy="645"/>
          </a:xfrm>
        </p:grpSpPr>
        <p:sp>
          <p:nvSpPr>
            <p:cNvPr id="121959" name="Rectangle 11">
              <a:extLst>
                <a:ext uri="{FF2B5EF4-FFF2-40B4-BE49-F238E27FC236}">
                  <a16:creationId xmlns:a16="http://schemas.microsoft.com/office/drawing/2014/main" id="{5F39B182-4C76-57FB-BF9B-A8F829E4E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040"/>
              <a:ext cx="640" cy="247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21960" name="Group 267">
              <a:extLst>
                <a:ext uri="{FF2B5EF4-FFF2-40B4-BE49-F238E27FC236}">
                  <a16:creationId xmlns:a16="http://schemas.microsoft.com/office/drawing/2014/main" id="{9F486FAA-9E01-20B1-540C-61E9A3434E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" y="643"/>
              <a:ext cx="2156" cy="645"/>
              <a:chOff x="397" y="643"/>
              <a:chExt cx="2156" cy="645"/>
            </a:xfrm>
          </p:grpSpPr>
          <p:grpSp>
            <p:nvGrpSpPr>
              <p:cNvPr id="121961" name="Group 266">
                <a:extLst>
                  <a:ext uri="{FF2B5EF4-FFF2-40B4-BE49-F238E27FC236}">
                    <a16:creationId xmlns:a16="http://schemas.microsoft.com/office/drawing/2014/main" id="{A805DC76-98E7-A74C-1A63-CF42FF6507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7" y="643"/>
                <a:ext cx="1856" cy="622"/>
                <a:chOff x="697" y="643"/>
                <a:chExt cx="1856" cy="622"/>
              </a:xfrm>
            </p:grpSpPr>
            <p:sp>
              <p:nvSpPr>
                <p:cNvPr id="121963" name="Rectangle 12">
                  <a:extLst>
                    <a:ext uri="{FF2B5EF4-FFF2-40B4-BE49-F238E27FC236}">
                      <a16:creationId xmlns:a16="http://schemas.microsoft.com/office/drawing/2014/main" id="{9524C867-69B3-6A14-CA4B-6996798717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8" y="1092"/>
                  <a:ext cx="60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 </a:t>
                  </a:r>
                  <a:r>
                    <a:rPr lang="en-US" altLang="en-US" sz="1800" u="sng">
                      <a:solidFill>
                        <a:srgbClr val="000000"/>
                      </a:solidFill>
                      <a:latin typeface="Courier" charset="0"/>
                    </a:rPr>
                    <a:t>:Watch</a:t>
                  </a:r>
                  <a:endParaRPr lang="en-US" altLang="en-US" sz="1800" b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1964" name="Group 265">
                  <a:extLst>
                    <a:ext uri="{FF2B5EF4-FFF2-40B4-BE49-F238E27FC236}">
                      <a16:creationId xmlns:a16="http://schemas.microsoft.com/office/drawing/2014/main" id="{069A90A1-DBFA-7249-34EA-D29A933969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97" y="643"/>
                  <a:ext cx="269" cy="473"/>
                  <a:chOff x="697" y="643"/>
                  <a:chExt cx="269" cy="473"/>
                </a:xfrm>
              </p:grpSpPr>
              <p:sp>
                <p:nvSpPr>
                  <p:cNvPr id="121965" name="Freeform 124">
                    <a:extLst>
                      <a:ext uri="{FF2B5EF4-FFF2-40B4-BE49-F238E27FC236}">
                        <a16:creationId xmlns:a16="http://schemas.microsoft.com/office/drawing/2014/main" id="{A90DC565-8C6A-F28D-9862-EA94AA1FB0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7" y="740"/>
                    <a:ext cx="129" cy="376"/>
                  </a:xfrm>
                  <a:custGeom>
                    <a:avLst/>
                    <a:gdLst>
                      <a:gd name="T0" fmla="*/ 129 w 129"/>
                      <a:gd name="T1" fmla="*/ 0 h 376"/>
                      <a:gd name="T2" fmla="*/ 129 w 129"/>
                      <a:gd name="T3" fmla="*/ 237 h 376"/>
                      <a:gd name="T4" fmla="*/ 0 w 129"/>
                      <a:gd name="T5" fmla="*/ 376 h 376"/>
                      <a:gd name="T6" fmla="*/ 0 60000 65536"/>
                      <a:gd name="T7" fmla="*/ 0 60000 65536"/>
                      <a:gd name="T8" fmla="*/ 0 60000 65536"/>
                      <a:gd name="T9" fmla="*/ 0 w 129"/>
                      <a:gd name="T10" fmla="*/ 0 h 376"/>
                      <a:gd name="T11" fmla="*/ 129 w 129"/>
                      <a:gd name="T12" fmla="*/ 376 h 37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29" h="376">
                        <a:moveTo>
                          <a:pt x="129" y="0"/>
                        </a:moveTo>
                        <a:lnTo>
                          <a:pt x="129" y="237"/>
                        </a:lnTo>
                        <a:lnTo>
                          <a:pt x="0" y="376"/>
                        </a:lnTo>
                      </a:path>
                    </a:pathLst>
                  </a:custGeom>
                  <a:noFill/>
                  <a:ln w="174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2400"/>
                  </a:p>
                </p:txBody>
              </p:sp>
              <p:sp>
                <p:nvSpPr>
                  <p:cNvPr id="121966" name="Line 125">
                    <a:extLst>
                      <a:ext uri="{FF2B5EF4-FFF2-40B4-BE49-F238E27FC236}">
                        <a16:creationId xmlns:a16="http://schemas.microsoft.com/office/drawing/2014/main" id="{AF490E3C-2D36-338A-C1DC-9689AE22B6B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26" y="977"/>
                    <a:ext cx="140" cy="139"/>
                  </a:xfrm>
                  <a:prstGeom prst="line">
                    <a:avLst/>
                  </a:prstGeom>
                  <a:noFill/>
                  <a:ln w="174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  <p:sp>
                <p:nvSpPr>
                  <p:cNvPr id="121967" name="Line 126">
                    <a:extLst>
                      <a:ext uri="{FF2B5EF4-FFF2-40B4-BE49-F238E27FC236}">
                        <a16:creationId xmlns:a16="http://schemas.microsoft.com/office/drawing/2014/main" id="{7ED0E0D6-1182-0369-1AC8-B6E9AEF194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97" y="847"/>
                    <a:ext cx="269" cy="1"/>
                  </a:xfrm>
                  <a:prstGeom prst="line">
                    <a:avLst/>
                  </a:prstGeom>
                  <a:noFill/>
                  <a:ln w="1746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  <p:sp>
                <p:nvSpPr>
                  <p:cNvPr id="121968" name="Oval 127">
                    <a:extLst>
                      <a:ext uri="{FF2B5EF4-FFF2-40B4-BE49-F238E27FC236}">
                        <a16:creationId xmlns:a16="http://schemas.microsoft.com/office/drawing/2014/main" id="{A58B2949-C271-E70F-A6AE-2B09AC9D77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643"/>
                    <a:ext cx="140" cy="14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746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2400"/>
                  </a:p>
                </p:txBody>
              </p:sp>
            </p:grpSp>
          </p:grpSp>
          <p:sp>
            <p:nvSpPr>
              <p:cNvPr id="121962" name="Rectangle 128">
                <a:extLst>
                  <a:ext uri="{FF2B5EF4-FFF2-40B4-BE49-F238E27FC236}">
                    <a16:creationId xmlns:a16="http://schemas.microsoft.com/office/drawing/2014/main" id="{D070C8FF-D157-E6D7-5227-DF8F7B401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" y="1115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 u="sng">
                    <a:solidFill>
                      <a:srgbClr val="000000"/>
                    </a:solidFill>
                    <a:latin typeface="Courier" charset="0"/>
                  </a:rPr>
                  <a:t>:WatchUser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89093" name="AutoShape 5">
            <a:extLst>
              <a:ext uri="{FF2B5EF4-FFF2-40B4-BE49-F238E27FC236}">
                <a16:creationId xmlns:a16="http://schemas.microsoft.com/office/drawing/2014/main" id="{0C49C2E0-EA71-CE80-39D8-8C7AD8F9F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851" y="1103313"/>
            <a:ext cx="1050925" cy="374650"/>
          </a:xfrm>
          <a:prstGeom prst="wedgeRoundRectCallout">
            <a:avLst>
              <a:gd name="adj1" fmla="val -45620"/>
              <a:gd name="adj2" fmla="val 8559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Object</a:t>
            </a:r>
            <a:endParaRPr lang="en-US" altLang="en-US" sz="2400" b="0">
              <a:solidFill>
                <a:schemeClr val="tx1"/>
              </a:solidFill>
            </a:endParaRPr>
          </a:p>
        </p:txBody>
      </p:sp>
      <p:sp>
        <p:nvSpPr>
          <p:cNvPr id="89095" name="AutoShape 7">
            <a:extLst>
              <a:ext uri="{FF2B5EF4-FFF2-40B4-BE49-F238E27FC236}">
                <a16:creationId xmlns:a16="http://schemas.microsoft.com/office/drawing/2014/main" id="{DE415EE1-E27C-BE60-2A72-02D3A1051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913314"/>
            <a:ext cx="1376362" cy="396875"/>
          </a:xfrm>
          <a:prstGeom prst="wedgeRoundRectCallout">
            <a:avLst>
              <a:gd name="adj1" fmla="val -82065"/>
              <a:gd name="adj2" fmla="val -15039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Activation</a:t>
            </a:r>
          </a:p>
        </p:txBody>
      </p:sp>
      <p:sp>
        <p:nvSpPr>
          <p:cNvPr id="121869" name="Text Box 8">
            <a:extLst>
              <a:ext uri="{FF2B5EF4-FFF2-40B4-BE49-F238E27FC236}">
                <a16:creationId xmlns:a16="http://schemas.microsoft.com/office/drawing/2014/main" id="{10464B36-765D-66C9-6A55-C77D94483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5835651"/>
            <a:ext cx="7932738" cy="830997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lang="en-US" altLang="en-US" sz="2400" b="0">
                <a:solidFill>
                  <a:schemeClr val="bg1"/>
                </a:solidFill>
              </a:rPr>
              <a:t>Sequence diagrams represent the behavior of a system </a:t>
            </a:r>
          </a:p>
          <a:p>
            <a:pPr algn="l"/>
            <a:r>
              <a:rPr lang="en-US" altLang="en-US" sz="2400" b="0">
                <a:solidFill>
                  <a:schemeClr val="bg1"/>
                </a:solidFill>
              </a:rPr>
              <a:t>as messages (“interactions”) between</a:t>
            </a:r>
            <a:r>
              <a:rPr lang="en-US" altLang="en-US" sz="2400" b="0" i="1">
                <a:solidFill>
                  <a:schemeClr val="bg1"/>
                </a:solidFill>
              </a:rPr>
              <a:t> different objects</a:t>
            </a:r>
            <a:endParaRPr lang="en-US" altLang="en-US" sz="2400" b="0">
              <a:solidFill>
                <a:schemeClr val="bg1"/>
              </a:solidFill>
            </a:endParaRPr>
          </a:p>
        </p:txBody>
      </p:sp>
      <p:sp>
        <p:nvSpPr>
          <p:cNvPr id="89221" name="AutoShape 133">
            <a:extLst>
              <a:ext uri="{FF2B5EF4-FFF2-40B4-BE49-F238E27FC236}">
                <a16:creationId xmlns:a16="http://schemas.microsoft.com/office/drawing/2014/main" id="{5CC00FEA-AC87-F890-0E6D-48DC98BC5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1" y="1081089"/>
            <a:ext cx="828675" cy="396875"/>
          </a:xfrm>
          <a:prstGeom prst="wedgeRoundRectCallout">
            <a:avLst>
              <a:gd name="adj1" fmla="val 46361"/>
              <a:gd name="adj2" fmla="val 12400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Actor</a:t>
            </a:r>
            <a:endParaRPr lang="en-US" altLang="en-US" sz="2400" b="0">
              <a:solidFill>
                <a:schemeClr val="tx1"/>
              </a:solidFill>
            </a:endParaRPr>
          </a:p>
        </p:txBody>
      </p:sp>
      <p:sp>
        <p:nvSpPr>
          <p:cNvPr id="121871" name="Rectangle 74">
            <a:extLst>
              <a:ext uri="{FF2B5EF4-FFF2-40B4-BE49-F238E27FC236}">
                <a16:creationId xmlns:a16="http://schemas.microsoft.com/office/drawing/2014/main" id="{194E1A20-B878-5C9A-DB7B-BAB17C523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4" y="2487613"/>
            <a:ext cx="187325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12" name="Group 260">
            <a:extLst>
              <a:ext uri="{FF2B5EF4-FFF2-40B4-BE49-F238E27FC236}">
                <a16:creationId xmlns:a16="http://schemas.microsoft.com/office/drawing/2014/main" id="{2A8E426F-31C5-D31C-E9FF-1A4D93537469}"/>
              </a:ext>
            </a:extLst>
          </p:cNvPr>
          <p:cNvGrpSpPr>
            <a:grpSpLocks/>
          </p:cNvGrpSpPr>
          <p:nvPr/>
        </p:nvGrpSpPr>
        <p:grpSpPr bwMode="auto">
          <a:xfrm>
            <a:off x="2911475" y="2163764"/>
            <a:ext cx="2146300" cy="301625"/>
            <a:chOff x="874" y="1363"/>
            <a:chExt cx="1352" cy="190"/>
          </a:xfrm>
        </p:grpSpPr>
        <p:sp>
          <p:nvSpPr>
            <p:cNvPr id="121957" name="Line 77">
              <a:extLst>
                <a:ext uri="{FF2B5EF4-FFF2-40B4-BE49-F238E27FC236}">
                  <a16:creationId xmlns:a16="http://schemas.microsoft.com/office/drawing/2014/main" id="{3D1B77C8-9CDC-AFC1-B29C-618BAC2C92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4" y="1547"/>
              <a:ext cx="1352" cy="6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58" name="Rectangle 78">
              <a:extLst>
                <a:ext uri="{FF2B5EF4-FFF2-40B4-BE49-F238E27FC236}">
                  <a16:creationId xmlns:a16="http://schemas.microsoft.com/office/drawing/2014/main" id="{C8662BBC-12D0-29BF-6EB2-34087BFD5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" y="1363"/>
              <a:ext cx="121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pressButton1()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sp>
        <p:nvSpPr>
          <p:cNvPr id="89249" name="AutoShape 161">
            <a:extLst>
              <a:ext uri="{FF2B5EF4-FFF2-40B4-BE49-F238E27FC236}">
                <a16:creationId xmlns:a16="http://schemas.microsoft.com/office/drawing/2014/main" id="{4A3ADDEA-B04C-61B7-0E0A-6A394641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6213" y="1098551"/>
            <a:ext cx="1376362" cy="352425"/>
          </a:xfrm>
          <a:prstGeom prst="wedgeRoundRectCallout">
            <a:avLst>
              <a:gd name="adj1" fmla="val -148731"/>
              <a:gd name="adj2" fmla="val 28963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Lifeline</a:t>
            </a:r>
          </a:p>
        </p:txBody>
      </p:sp>
      <p:grpSp>
        <p:nvGrpSpPr>
          <p:cNvPr id="13" name="Group 243">
            <a:extLst>
              <a:ext uri="{FF2B5EF4-FFF2-40B4-BE49-F238E27FC236}">
                <a16:creationId xmlns:a16="http://schemas.microsoft.com/office/drawing/2014/main" id="{47356207-5FB8-D4FD-CF34-465C7E5355AF}"/>
              </a:ext>
            </a:extLst>
          </p:cNvPr>
          <p:cNvGrpSpPr>
            <a:grpSpLocks/>
          </p:cNvGrpSpPr>
          <p:nvPr/>
        </p:nvGrpSpPr>
        <p:grpSpPr bwMode="auto">
          <a:xfrm>
            <a:off x="5246689" y="2254250"/>
            <a:ext cx="2192337" cy="274638"/>
            <a:chOff x="2345" y="1420"/>
            <a:chExt cx="1381" cy="173"/>
          </a:xfrm>
        </p:grpSpPr>
        <p:sp>
          <p:nvSpPr>
            <p:cNvPr id="121955" name="Rectangle 81">
              <a:extLst>
                <a:ext uri="{FF2B5EF4-FFF2-40B4-BE49-F238E27FC236}">
                  <a16:creationId xmlns:a16="http://schemas.microsoft.com/office/drawing/2014/main" id="{B1CD8A06-7A28-12D1-3C2A-8917C8BB6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1420"/>
              <a:ext cx="10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blinkHours()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21956" name="Line 164">
              <a:extLst>
                <a:ext uri="{FF2B5EF4-FFF2-40B4-BE49-F238E27FC236}">
                  <a16:creationId xmlns:a16="http://schemas.microsoft.com/office/drawing/2014/main" id="{FFE603BB-2ED8-4E8A-451F-3AB9D8109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1586"/>
              <a:ext cx="1381" cy="1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89163" name="Rectangle 75">
            <a:extLst>
              <a:ext uri="{FF2B5EF4-FFF2-40B4-BE49-F238E27FC236}">
                <a16:creationId xmlns:a16="http://schemas.microsoft.com/office/drawing/2014/main" id="{CC845F88-5E6C-829A-1A85-B60E3DD30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2420938"/>
            <a:ext cx="204788" cy="239712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14" name="Group 253">
            <a:extLst>
              <a:ext uri="{FF2B5EF4-FFF2-40B4-BE49-F238E27FC236}">
                <a16:creationId xmlns:a16="http://schemas.microsoft.com/office/drawing/2014/main" id="{B6587E1C-B3EA-F429-0D33-F83A2ECA8C1B}"/>
              </a:ext>
            </a:extLst>
          </p:cNvPr>
          <p:cNvGrpSpPr>
            <a:grpSpLocks/>
          </p:cNvGrpSpPr>
          <p:nvPr/>
        </p:nvGrpSpPr>
        <p:grpSpPr bwMode="auto">
          <a:xfrm>
            <a:off x="2755900" y="3179763"/>
            <a:ext cx="6851650" cy="1090612"/>
            <a:chOff x="776" y="2003"/>
            <a:chExt cx="4316" cy="687"/>
          </a:xfrm>
        </p:grpSpPr>
        <p:sp>
          <p:nvSpPr>
            <p:cNvPr id="121948" name="Line 191">
              <a:extLst>
                <a:ext uri="{FF2B5EF4-FFF2-40B4-BE49-F238E27FC236}">
                  <a16:creationId xmlns:a16="http://schemas.microsoft.com/office/drawing/2014/main" id="{CC1DF98E-295C-133A-6325-DD15FABA1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5" y="2128"/>
              <a:ext cx="1" cy="7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9180" name="Rectangle 92">
              <a:extLst>
                <a:ext uri="{FF2B5EF4-FFF2-40B4-BE49-F238E27FC236}">
                  <a16:creationId xmlns:a16="http://schemas.microsoft.com/office/drawing/2014/main" id="{86CA5E51-E44F-76C1-C16F-34524C1DD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2151"/>
              <a:ext cx="129" cy="151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89190" name="Rectangle 102">
              <a:extLst>
                <a:ext uri="{FF2B5EF4-FFF2-40B4-BE49-F238E27FC236}">
                  <a16:creationId xmlns:a16="http://schemas.microsoft.com/office/drawing/2014/main" id="{F16FBC89-DE33-C01D-26E4-BD235DA34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2281"/>
              <a:ext cx="129" cy="409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1951" name="Rectangle 167">
              <a:extLst>
                <a:ext uri="{FF2B5EF4-FFF2-40B4-BE49-F238E27FC236}">
                  <a16:creationId xmlns:a16="http://schemas.microsoft.com/office/drawing/2014/main" id="{2195EAFE-2220-3F61-BFCA-AB4C5100B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2003"/>
              <a:ext cx="121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pressButton2()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21952" name="Line 168">
              <a:extLst>
                <a:ext uri="{FF2B5EF4-FFF2-40B4-BE49-F238E27FC236}">
                  <a16:creationId xmlns:a16="http://schemas.microsoft.com/office/drawing/2014/main" id="{823BB50B-1592-67A8-9678-A21C35385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2179"/>
              <a:ext cx="1437" cy="15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53" name="Line 179">
              <a:extLst>
                <a:ext uri="{FF2B5EF4-FFF2-40B4-BE49-F238E27FC236}">
                  <a16:creationId xmlns:a16="http://schemas.microsoft.com/office/drawing/2014/main" id="{3E059DC7-9C44-AFB7-E5BD-BDF9FE453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2282"/>
              <a:ext cx="2595" cy="22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54" name="Rectangle 98">
              <a:extLst>
                <a:ext uri="{FF2B5EF4-FFF2-40B4-BE49-F238E27FC236}">
                  <a16:creationId xmlns:a16="http://schemas.microsoft.com/office/drawing/2014/main" id="{C8AA0D8E-23C5-79C9-13CD-AF1C2C5FA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" y="2101"/>
              <a:ext cx="1555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incrementMinutes()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203">
            <a:extLst>
              <a:ext uri="{FF2B5EF4-FFF2-40B4-BE49-F238E27FC236}">
                <a16:creationId xmlns:a16="http://schemas.microsoft.com/office/drawing/2014/main" id="{2DD23E15-1FBF-9818-632C-3257723ABF5E}"/>
              </a:ext>
            </a:extLst>
          </p:cNvPr>
          <p:cNvGrpSpPr>
            <a:grpSpLocks/>
          </p:cNvGrpSpPr>
          <p:nvPr/>
        </p:nvGrpSpPr>
        <p:grpSpPr bwMode="auto">
          <a:xfrm>
            <a:off x="2827339" y="1971676"/>
            <a:ext cx="1587" cy="3979863"/>
            <a:chOff x="4650" y="1322"/>
            <a:chExt cx="1" cy="2507"/>
          </a:xfrm>
        </p:grpSpPr>
        <p:sp>
          <p:nvSpPr>
            <p:cNvPr id="121930" name="Line 204">
              <a:extLst>
                <a:ext uri="{FF2B5EF4-FFF2-40B4-BE49-F238E27FC236}">
                  <a16:creationId xmlns:a16="http://schemas.microsoft.com/office/drawing/2014/main" id="{C26E032A-473E-27BE-1C85-2724AF9E6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1322"/>
              <a:ext cx="1" cy="4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1" name="Line 205">
              <a:extLst>
                <a:ext uri="{FF2B5EF4-FFF2-40B4-BE49-F238E27FC236}">
                  <a16:creationId xmlns:a16="http://schemas.microsoft.com/office/drawing/2014/main" id="{B52A5566-0D33-8433-4B62-20D7E5CA9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1430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2" name="Line 206">
              <a:extLst>
                <a:ext uri="{FF2B5EF4-FFF2-40B4-BE49-F238E27FC236}">
                  <a16:creationId xmlns:a16="http://schemas.microsoft.com/office/drawing/2014/main" id="{2C9F42AF-118F-2A22-536D-E7EF8A20E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1581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3" name="Line 207">
              <a:extLst>
                <a:ext uri="{FF2B5EF4-FFF2-40B4-BE49-F238E27FC236}">
                  <a16:creationId xmlns:a16="http://schemas.microsoft.com/office/drawing/2014/main" id="{CAD67620-B3EC-DEBC-982B-C0301DBC6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1721"/>
              <a:ext cx="1" cy="8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4" name="Line 208">
              <a:extLst>
                <a:ext uri="{FF2B5EF4-FFF2-40B4-BE49-F238E27FC236}">
                  <a16:creationId xmlns:a16="http://schemas.microsoft.com/office/drawing/2014/main" id="{5C043095-06BA-7981-C26F-8BCDF5F51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1871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5" name="Line 209">
              <a:extLst>
                <a:ext uri="{FF2B5EF4-FFF2-40B4-BE49-F238E27FC236}">
                  <a16:creationId xmlns:a16="http://schemas.microsoft.com/office/drawing/2014/main" id="{22AE61A3-AB74-C72B-50C2-42F1FE2B9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2022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6" name="Line 210">
              <a:extLst>
                <a:ext uri="{FF2B5EF4-FFF2-40B4-BE49-F238E27FC236}">
                  <a16:creationId xmlns:a16="http://schemas.microsoft.com/office/drawing/2014/main" id="{91B26B90-FE48-2FB4-9D4E-8F0BEE7BC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2172"/>
              <a:ext cx="1" cy="7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7" name="Line 211">
              <a:extLst>
                <a:ext uri="{FF2B5EF4-FFF2-40B4-BE49-F238E27FC236}">
                  <a16:creationId xmlns:a16="http://schemas.microsoft.com/office/drawing/2014/main" id="{76802D1D-0C9F-2592-0F7D-0010BD69B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2312"/>
              <a:ext cx="1" cy="8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8" name="Line 212">
              <a:extLst>
                <a:ext uri="{FF2B5EF4-FFF2-40B4-BE49-F238E27FC236}">
                  <a16:creationId xmlns:a16="http://schemas.microsoft.com/office/drawing/2014/main" id="{DF5FD992-2BC5-52BC-2F33-D3442BA98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2463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39" name="Line 213">
              <a:extLst>
                <a:ext uri="{FF2B5EF4-FFF2-40B4-BE49-F238E27FC236}">
                  <a16:creationId xmlns:a16="http://schemas.microsoft.com/office/drawing/2014/main" id="{BC99025E-3C01-3708-4115-2446F7C02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2614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0" name="Line 214">
              <a:extLst>
                <a:ext uri="{FF2B5EF4-FFF2-40B4-BE49-F238E27FC236}">
                  <a16:creationId xmlns:a16="http://schemas.microsoft.com/office/drawing/2014/main" id="{87D70C97-2338-7FE4-CEB7-0BAD080FD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2785"/>
              <a:ext cx="1" cy="8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1" name="Line 215">
              <a:extLst>
                <a:ext uri="{FF2B5EF4-FFF2-40B4-BE49-F238E27FC236}">
                  <a16:creationId xmlns:a16="http://schemas.microsoft.com/office/drawing/2014/main" id="{1AE937B0-F0E6-437C-2800-F8CE84D88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2904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2" name="Line 216">
              <a:extLst>
                <a:ext uri="{FF2B5EF4-FFF2-40B4-BE49-F238E27FC236}">
                  <a16:creationId xmlns:a16="http://schemas.microsoft.com/office/drawing/2014/main" id="{9AAA1FFD-290F-4AF5-3483-1D9264FE6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055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3" name="Line 217">
              <a:extLst>
                <a:ext uri="{FF2B5EF4-FFF2-40B4-BE49-F238E27FC236}">
                  <a16:creationId xmlns:a16="http://schemas.microsoft.com/office/drawing/2014/main" id="{C34D60C6-42CE-F4D2-7966-73B2EC7BF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194"/>
              <a:ext cx="1" cy="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4" name="Line 218">
              <a:extLst>
                <a:ext uri="{FF2B5EF4-FFF2-40B4-BE49-F238E27FC236}">
                  <a16:creationId xmlns:a16="http://schemas.microsoft.com/office/drawing/2014/main" id="{7BC97DEB-47C1-976F-DE67-CEECA9760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345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5" name="Line 219">
              <a:extLst>
                <a:ext uri="{FF2B5EF4-FFF2-40B4-BE49-F238E27FC236}">
                  <a16:creationId xmlns:a16="http://schemas.microsoft.com/office/drawing/2014/main" id="{2FCEB1AC-2A03-783B-E060-C9E8C5216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496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6" name="Line 220">
              <a:extLst>
                <a:ext uri="{FF2B5EF4-FFF2-40B4-BE49-F238E27FC236}">
                  <a16:creationId xmlns:a16="http://schemas.microsoft.com/office/drawing/2014/main" id="{3B3C7B65-E2CB-73F9-B4D5-A4487EE6B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636"/>
              <a:ext cx="1" cy="8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47" name="Line 221">
              <a:extLst>
                <a:ext uri="{FF2B5EF4-FFF2-40B4-BE49-F238E27FC236}">
                  <a16:creationId xmlns:a16="http://schemas.microsoft.com/office/drawing/2014/main" id="{FBBFC475-214A-6359-FFB0-438CD0ECD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" y="3786"/>
              <a:ext cx="1" cy="4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16" name="Group 250">
            <a:extLst>
              <a:ext uri="{FF2B5EF4-FFF2-40B4-BE49-F238E27FC236}">
                <a16:creationId xmlns:a16="http://schemas.microsoft.com/office/drawing/2014/main" id="{2C20BAA0-AB8D-67A9-FDDE-5DA7D217286D}"/>
              </a:ext>
            </a:extLst>
          </p:cNvPr>
          <p:cNvGrpSpPr>
            <a:grpSpLocks/>
          </p:cNvGrpSpPr>
          <p:nvPr/>
        </p:nvGrpSpPr>
        <p:grpSpPr bwMode="auto">
          <a:xfrm>
            <a:off x="6653214" y="1651001"/>
            <a:ext cx="1671637" cy="4379913"/>
            <a:chOff x="3231" y="1040"/>
            <a:chExt cx="1053" cy="2759"/>
          </a:xfrm>
        </p:grpSpPr>
        <p:sp>
          <p:nvSpPr>
            <p:cNvPr id="121908" name="Rectangle 17">
              <a:extLst>
                <a:ext uri="{FF2B5EF4-FFF2-40B4-BE49-F238E27FC236}">
                  <a16:creationId xmlns:a16="http://schemas.microsoft.com/office/drawing/2014/main" id="{00BFF4B8-4866-5BB6-B5CF-6B3171C7D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040"/>
              <a:ext cx="1053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21909" name="Group 249">
              <a:extLst>
                <a:ext uri="{FF2B5EF4-FFF2-40B4-BE49-F238E27FC236}">
                  <a16:creationId xmlns:a16="http://schemas.microsoft.com/office/drawing/2014/main" id="{3D7F3B79-13A0-6181-85B6-F5E4FC959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5" y="1092"/>
              <a:ext cx="951" cy="2707"/>
              <a:chOff x="3275" y="1092"/>
              <a:chExt cx="951" cy="2707"/>
            </a:xfrm>
          </p:grpSpPr>
          <p:sp>
            <p:nvSpPr>
              <p:cNvPr id="121910" name="Rectangle 18">
                <a:extLst>
                  <a:ext uri="{FF2B5EF4-FFF2-40B4-BE49-F238E27FC236}">
                    <a16:creationId xmlns:a16="http://schemas.microsoft.com/office/drawing/2014/main" id="{57910708-1FE9-9454-1BCC-ED21F3C8D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5" y="1092"/>
                <a:ext cx="95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 u="sng">
                    <a:solidFill>
                      <a:srgbClr val="000000"/>
                    </a:solidFill>
                    <a:latin typeface="Courier" charset="0"/>
                  </a:rPr>
                  <a:t>:LCDDisplay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21911" name="Group 222">
                <a:extLst>
                  <a:ext uri="{FF2B5EF4-FFF2-40B4-BE49-F238E27FC236}">
                    <a16:creationId xmlns:a16="http://schemas.microsoft.com/office/drawing/2014/main" id="{F89520DC-BF2F-5ABE-B59E-4D0561BAAF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2" y="1292"/>
                <a:ext cx="1" cy="2507"/>
                <a:chOff x="4650" y="1322"/>
                <a:chExt cx="1" cy="2507"/>
              </a:xfrm>
            </p:grpSpPr>
            <p:sp>
              <p:nvSpPr>
                <p:cNvPr id="121912" name="Line 223">
                  <a:extLst>
                    <a:ext uri="{FF2B5EF4-FFF2-40B4-BE49-F238E27FC236}">
                      <a16:creationId xmlns:a16="http://schemas.microsoft.com/office/drawing/2014/main" id="{4995B389-FD7D-DBC4-8613-B80BE82216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1322"/>
                  <a:ext cx="1" cy="44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13" name="Line 224">
                  <a:extLst>
                    <a:ext uri="{FF2B5EF4-FFF2-40B4-BE49-F238E27FC236}">
                      <a16:creationId xmlns:a16="http://schemas.microsoft.com/office/drawing/2014/main" id="{246305F1-79CA-76E6-622D-97B3EE764F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1430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14" name="Line 225">
                  <a:extLst>
                    <a:ext uri="{FF2B5EF4-FFF2-40B4-BE49-F238E27FC236}">
                      <a16:creationId xmlns:a16="http://schemas.microsoft.com/office/drawing/2014/main" id="{292CE110-674E-0339-532A-F1122A3207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1581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15" name="Line 226">
                  <a:extLst>
                    <a:ext uri="{FF2B5EF4-FFF2-40B4-BE49-F238E27FC236}">
                      <a16:creationId xmlns:a16="http://schemas.microsoft.com/office/drawing/2014/main" id="{5953D660-7049-5D63-B45C-1E46F900B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1721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16" name="Line 227">
                  <a:extLst>
                    <a:ext uri="{FF2B5EF4-FFF2-40B4-BE49-F238E27FC236}">
                      <a16:creationId xmlns:a16="http://schemas.microsoft.com/office/drawing/2014/main" id="{02D5C973-F59C-A440-1C94-7B8F02EA7A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1871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17" name="Line 228">
                  <a:extLst>
                    <a:ext uri="{FF2B5EF4-FFF2-40B4-BE49-F238E27FC236}">
                      <a16:creationId xmlns:a16="http://schemas.microsoft.com/office/drawing/2014/main" id="{BDE31DC3-DE67-AA38-7168-5C1902E7F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2022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18" name="Line 229">
                  <a:extLst>
                    <a:ext uri="{FF2B5EF4-FFF2-40B4-BE49-F238E27FC236}">
                      <a16:creationId xmlns:a16="http://schemas.microsoft.com/office/drawing/2014/main" id="{AAA11FEF-C5FD-9BE8-7425-6251FD4B6B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2172"/>
                  <a:ext cx="1" cy="7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19" name="Line 230">
                  <a:extLst>
                    <a:ext uri="{FF2B5EF4-FFF2-40B4-BE49-F238E27FC236}">
                      <a16:creationId xmlns:a16="http://schemas.microsoft.com/office/drawing/2014/main" id="{4EF07C73-EA92-92CD-46CE-59381D5667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2312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0" name="Line 231">
                  <a:extLst>
                    <a:ext uri="{FF2B5EF4-FFF2-40B4-BE49-F238E27FC236}">
                      <a16:creationId xmlns:a16="http://schemas.microsoft.com/office/drawing/2014/main" id="{85210AAD-E137-4DE9-4A3B-26EA16D69D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2463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1" name="Line 232">
                  <a:extLst>
                    <a:ext uri="{FF2B5EF4-FFF2-40B4-BE49-F238E27FC236}">
                      <a16:creationId xmlns:a16="http://schemas.microsoft.com/office/drawing/2014/main" id="{786EDB28-B7C3-96B1-511D-94108307EA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2614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2" name="Line 233">
                  <a:extLst>
                    <a:ext uri="{FF2B5EF4-FFF2-40B4-BE49-F238E27FC236}">
                      <a16:creationId xmlns:a16="http://schemas.microsoft.com/office/drawing/2014/main" id="{1099E7AA-93C6-A25A-07CE-FE66D2B76A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2785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3" name="Line 234">
                  <a:extLst>
                    <a:ext uri="{FF2B5EF4-FFF2-40B4-BE49-F238E27FC236}">
                      <a16:creationId xmlns:a16="http://schemas.microsoft.com/office/drawing/2014/main" id="{273A052D-1FBB-7F93-A2C6-D243C3A9D9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2904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4" name="Line 235">
                  <a:extLst>
                    <a:ext uri="{FF2B5EF4-FFF2-40B4-BE49-F238E27FC236}">
                      <a16:creationId xmlns:a16="http://schemas.microsoft.com/office/drawing/2014/main" id="{4BAAB893-EA9C-2E92-C5F0-9DEA5AD38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3055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5" name="Line 236">
                  <a:extLst>
                    <a:ext uri="{FF2B5EF4-FFF2-40B4-BE49-F238E27FC236}">
                      <a16:creationId xmlns:a16="http://schemas.microsoft.com/office/drawing/2014/main" id="{1F246B4B-DA31-7E55-1AA0-9D9D2F7C27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3194"/>
                  <a:ext cx="1" cy="87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6" name="Line 237">
                  <a:extLst>
                    <a:ext uri="{FF2B5EF4-FFF2-40B4-BE49-F238E27FC236}">
                      <a16:creationId xmlns:a16="http://schemas.microsoft.com/office/drawing/2014/main" id="{9ABD04F1-044A-C6C8-A6F8-5E747AB8C6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3345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7" name="Line 238">
                  <a:extLst>
                    <a:ext uri="{FF2B5EF4-FFF2-40B4-BE49-F238E27FC236}">
                      <a16:creationId xmlns:a16="http://schemas.microsoft.com/office/drawing/2014/main" id="{710D309E-8F80-8551-92E9-65615E7A9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3496"/>
                  <a:ext cx="1" cy="75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8" name="Line 239">
                  <a:extLst>
                    <a:ext uri="{FF2B5EF4-FFF2-40B4-BE49-F238E27FC236}">
                      <a16:creationId xmlns:a16="http://schemas.microsoft.com/office/drawing/2014/main" id="{C8B77CE7-9390-EB79-E7BD-AE48ED5FE4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3636"/>
                  <a:ext cx="1" cy="86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121929" name="Line 240">
                  <a:extLst>
                    <a:ext uri="{FF2B5EF4-FFF2-40B4-BE49-F238E27FC236}">
                      <a16:creationId xmlns:a16="http://schemas.microsoft.com/office/drawing/2014/main" id="{5B3C64F6-E320-8316-0D7E-4909F86A69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0" y="3786"/>
                  <a:ext cx="1" cy="43"/>
                </a:xfrm>
                <a:prstGeom prst="line">
                  <a:avLst/>
                </a:prstGeom>
                <a:noFill/>
                <a:ln w="1746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/>
                </a:p>
              </p:txBody>
            </p:sp>
          </p:grpSp>
        </p:grpSp>
      </p:grpSp>
      <p:grpSp>
        <p:nvGrpSpPr>
          <p:cNvPr id="19" name="Group 263">
            <a:extLst>
              <a:ext uri="{FF2B5EF4-FFF2-40B4-BE49-F238E27FC236}">
                <a16:creationId xmlns:a16="http://schemas.microsoft.com/office/drawing/2014/main" id="{DD5822C0-1CE8-8CF8-6D96-AB5513FC1EB4}"/>
              </a:ext>
            </a:extLst>
          </p:cNvPr>
          <p:cNvGrpSpPr>
            <a:grpSpLocks/>
          </p:cNvGrpSpPr>
          <p:nvPr/>
        </p:nvGrpSpPr>
        <p:grpSpPr bwMode="auto">
          <a:xfrm>
            <a:off x="2678113" y="4021139"/>
            <a:ext cx="6940550" cy="1411287"/>
            <a:chOff x="727" y="2533"/>
            <a:chExt cx="4372" cy="889"/>
          </a:xfrm>
        </p:grpSpPr>
        <p:sp>
          <p:nvSpPr>
            <p:cNvPr id="121901" name="Rectangle 116">
              <a:extLst>
                <a:ext uri="{FF2B5EF4-FFF2-40B4-BE49-F238E27FC236}">
                  <a16:creationId xmlns:a16="http://schemas.microsoft.com/office/drawing/2014/main" id="{593A7141-AA6E-92FB-B34F-0FD4F865E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" y="2705"/>
              <a:ext cx="118" cy="1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89205" name="Rectangle 117">
              <a:extLst>
                <a:ext uri="{FF2B5EF4-FFF2-40B4-BE49-F238E27FC236}">
                  <a16:creationId xmlns:a16="http://schemas.microsoft.com/office/drawing/2014/main" id="{F52D7287-EE6B-829B-1C7B-2FDB896B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" y="2894"/>
              <a:ext cx="129" cy="151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1903" name="Rectangle 171">
              <a:extLst>
                <a:ext uri="{FF2B5EF4-FFF2-40B4-BE49-F238E27FC236}">
                  <a16:creationId xmlns:a16="http://schemas.microsoft.com/office/drawing/2014/main" id="{8D3C355C-78F8-87C0-C74A-B9B2E4D94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2533"/>
              <a:ext cx="1555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pressButton1and2()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21904" name="Line 172">
              <a:extLst>
                <a:ext uri="{FF2B5EF4-FFF2-40B4-BE49-F238E27FC236}">
                  <a16:creationId xmlns:a16="http://schemas.microsoft.com/office/drawing/2014/main" id="{51DE2D69-F20D-27CC-BE2B-036C5A963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" y="2723"/>
              <a:ext cx="1493" cy="1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05" name="Line 180">
              <a:extLst>
                <a:ext uri="{FF2B5EF4-FFF2-40B4-BE49-F238E27FC236}">
                  <a16:creationId xmlns:a16="http://schemas.microsoft.com/office/drawing/2014/main" id="{292110E9-1EBF-A244-CDF5-97A0BFF86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3" y="2903"/>
              <a:ext cx="2574" cy="22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06" name="Rectangle 181">
              <a:extLst>
                <a:ext uri="{FF2B5EF4-FFF2-40B4-BE49-F238E27FC236}">
                  <a16:creationId xmlns:a16="http://schemas.microsoft.com/office/drawing/2014/main" id="{AB9237C3-2D77-FBED-40B2-763AA0F99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2715"/>
              <a:ext cx="129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commitNewTime()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89195" name="Rectangle 107">
              <a:extLst>
                <a:ext uri="{FF2B5EF4-FFF2-40B4-BE49-F238E27FC236}">
                  <a16:creationId xmlns:a16="http://schemas.microsoft.com/office/drawing/2014/main" id="{AD05B212-DCE4-951A-44B8-6CC606217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2715"/>
              <a:ext cx="136" cy="707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grpSp>
        <p:nvGrpSpPr>
          <p:cNvPr id="20" name="Group 264">
            <a:extLst>
              <a:ext uri="{FF2B5EF4-FFF2-40B4-BE49-F238E27FC236}">
                <a16:creationId xmlns:a16="http://schemas.microsoft.com/office/drawing/2014/main" id="{97155FDB-179F-7655-1E79-0FB3EE4842DD}"/>
              </a:ext>
            </a:extLst>
          </p:cNvPr>
          <p:cNvGrpSpPr>
            <a:grpSpLocks/>
          </p:cNvGrpSpPr>
          <p:nvPr/>
        </p:nvGrpSpPr>
        <p:grpSpPr bwMode="auto">
          <a:xfrm>
            <a:off x="5270500" y="4765676"/>
            <a:ext cx="2400300" cy="512763"/>
            <a:chOff x="2360" y="3002"/>
            <a:chExt cx="1512" cy="323"/>
          </a:xfrm>
        </p:grpSpPr>
        <p:sp>
          <p:nvSpPr>
            <p:cNvPr id="121897" name="Line 197">
              <a:extLst>
                <a:ext uri="{FF2B5EF4-FFF2-40B4-BE49-F238E27FC236}">
                  <a16:creationId xmlns:a16="http://schemas.microsoft.com/office/drawing/2014/main" id="{AED9BFD3-F130-EDEF-3AB0-AE08C42B2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5" y="3172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898" name="Rectangle 120">
              <a:extLst>
                <a:ext uri="{FF2B5EF4-FFF2-40B4-BE49-F238E27FC236}">
                  <a16:creationId xmlns:a16="http://schemas.microsoft.com/office/drawing/2014/main" id="{A9EA812D-C757-C59F-458B-858AB28B8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5" y="3002"/>
              <a:ext cx="121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stopBlinking()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21899" name="Line 177">
              <a:extLst>
                <a:ext uri="{FF2B5EF4-FFF2-40B4-BE49-F238E27FC236}">
                  <a16:creationId xmlns:a16="http://schemas.microsoft.com/office/drawing/2014/main" id="{48732814-768D-A36F-878C-9779A2E4A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3197"/>
              <a:ext cx="1367" cy="1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900" name="Rectangle 115">
              <a:extLst>
                <a:ext uri="{FF2B5EF4-FFF2-40B4-BE49-F238E27FC236}">
                  <a16:creationId xmlns:a16="http://schemas.microsoft.com/office/drawing/2014/main" id="{AA7981A9-8397-180E-ABB5-885DFDA52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3174"/>
              <a:ext cx="129" cy="151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grpSp>
        <p:nvGrpSpPr>
          <p:cNvPr id="21" name="Group 255">
            <a:extLst>
              <a:ext uri="{FF2B5EF4-FFF2-40B4-BE49-F238E27FC236}">
                <a16:creationId xmlns:a16="http://schemas.microsoft.com/office/drawing/2014/main" id="{4235775B-100B-C687-4221-D4CDAF683A43}"/>
              </a:ext>
            </a:extLst>
          </p:cNvPr>
          <p:cNvGrpSpPr>
            <a:grpSpLocks/>
          </p:cNvGrpSpPr>
          <p:nvPr/>
        </p:nvGrpSpPr>
        <p:grpSpPr bwMode="auto">
          <a:xfrm>
            <a:off x="7454901" y="3692526"/>
            <a:ext cx="1939925" cy="512763"/>
            <a:chOff x="3736" y="2326"/>
            <a:chExt cx="1222" cy="323"/>
          </a:xfrm>
        </p:grpSpPr>
        <p:sp>
          <p:nvSpPr>
            <p:cNvPr id="121893" name="Line 194">
              <a:extLst>
                <a:ext uri="{FF2B5EF4-FFF2-40B4-BE49-F238E27FC236}">
                  <a16:creationId xmlns:a16="http://schemas.microsoft.com/office/drawing/2014/main" id="{29D7C0D1-BB41-5F37-435C-CB3B1EC09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5" y="2570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89188" name="Rectangle 100">
              <a:extLst>
                <a:ext uri="{FF2B5EF4-FFF2-40B4-BE49-F238E27FC236}">
                  <a16:creationId xmlns:a16="http://schemas.microsoft.com/office/drawing/2014/main" id="{1075A380-280F-DAED-6FCD-4DD305EA9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" y="2499"/>
              <a:ext cx="129" cy="150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1895" name="Rectangle 105">
              <a:extLst>
                <a:ext uri="{FF2B5EF4-FFF2-40B4-BE49-F238E27FC236}">
                  <a16:creationId xmlns:a16="http://schemas.microsoft.com/office/drawing/2014/main" id="{4EDCB578-1BAF-A193-660D-BFC5956A5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" y="2326"/>
              <a:ext cx="778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refresh()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21896" name="Line 183">
              <a:extLst>
                <a:ext uri="{FF2B5EF4-FFF2-40B4-BE49-F238E27FC236}">
                  <a16:creationId xmlns:a16="http://schemas.microsoft.com/office/drawing/2014/main" id="{C6AFB1D2-B989-E0E8-6E17-3ACD8534FC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1" y="2521"/>
              <a:ext cx="1087" cy="1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2" name="Group 259">
            <a:extLst>
              <a:ext uri="{FF2B5EF4-FFF2-40B4-BE49-F238E27FC236}">
                <a16:creationId xmlns:a16="http://schemas.microsoft.com/office/drawing/2014/main" id="{E926C97C-1771-8FC9-1F4F-A3EE061F2869}"/>
              </a:ext>
            </a:extLst>
          </p:cNvPr>
          <p:cNvGrpSpPr>
            <a:grpSpLocks/>
          </p:cNvGrpSpPr>
          <p:nvPr/>
        </p:nvGrpSpPr>
        <p:grpSpPr bwMode="auto">
          <a:xfrm>
            <a:off x="2887663" y="2627313"/>
            <a:ext cx="4794250" cy="660400"/>
            <a:chOff x="859" y="1655"/>
            <a:chExt cx="3020" cy="416"/>
          </a:xfrm>
        </p:grpSpPr>
        <p:sp>
          <p:nvSpPr>
            <p:cNvPr id="121885" name="Line 190">
              <a:extLst>
                <a:ext uri="{FF2B5EF4-FFF2-40B4-BE49-F238E27FC236}">
                  <a16:creationId xmlns:a16="http://schemas.microsoft.com/office/drawing/2014/main" id="{F0FBEFFD-3352-638B-364F-F72FF715F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1978"/>
              <a:ext cx="1" cy="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886" name="Rectangle 89">
              <a:extLst>
                <a:ext uri="{FF2B5EF4-FFF2-40B4-BE49-F238E27FC236}">
                  <a16:creationId xmlns:a16="http://schemas.microsoft.com/office/drawing/2014/main" id="{C587031D-D0D7-598E-5257-289536AA1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0" y="1920"/>
              <a:ext cx="119" cy="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89178" name="Rectangle 90">
              <a:extLst>
                <a:ext uri="{FF2B5EF4-FFF2-40B4-BE49-F238E27FC236}">
                  <a16:creationId xmlns:a16="http://schemas.microsoft.com/office/drawing/2014/main" id="{9373CFED-B23A-11A3-AC04-13D2214F6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0" y="1920"/>
              <a:ext cx="129" cy="151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89173" name="Rectangle 85">
              <a:extLst>
                <a:ext uri="{FF2B5EF4-FFF2-40B4-BE49-F238E27FC236}">
                  <a16:creationId xmlns:a16="http://schemas.microsoft.com/office/drawing/2014/main" id="{556A9DC8-6A7F-9882-6E71-935912051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6" y="1832"/>
              <a:ext cx="129" cy="151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1889" name="Line 165">
              <a:extLst>
                <a:ext uri="{FF2B5EF4-FFF2-40B4-BE49-F238E27FC236}">
                  <a16:creationId xmlns:a16="http://schemas.microsoft.com/office/drawing/2014/main" id="{28269AF0-B156-1881-8E02-9F94969C5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9" y="1852"/>
              <a:ext cx="1354" cy="8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890" name="Rectangle 166">
              <a:extLst>
                <a:ext uri="{FF2B5EF4-FFF2-40B4-BE49-F238E27FC236}">
                  <a16:creationId xmlns:a16="http://schemas.microsoft.com/office/drawing/2014/main" id="{1E17EC8D-D216-E6B1-39F3-2253D5D4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1655"/>
              <a:ext cx="121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pressButton1()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121891" name="Line 175">
              <a:extLst>
                <a:ext uri="{FF2B5EF4-FFF2-40B4-BE49-F238E27FC236}">
                  <a16:creationId xmlns:a16="http://schemas.microsoft.com/office/drawing/2014/main" id="{9BB937C5-7DFF-6579-DE68-6D55610325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4" y="1956"/>
              <a:ext cx="1382" cy="6"/>
            </a:xfrm>
            <a:prstGeom prst="line">
              <a:avLst/>
            </a:prstGeom>
            <a:noFill/>
            <a:ln w="17526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1892" name="Rectangle 174">
              <a:extLst>
                <a:ext uri="{FF2B5EF4-FFF2-40B4-BE49-F238E27FC236}">
                  <a16:creationId xmlns:a16="http://schemas.microsoft.com/office/drawing/2014/main" id="{F6FB7190-2B91-A15B-302E-0EA6E517D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1747"/>
              <a:ext cx="1210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blinkMinutes()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sp>
        <p:nvSpPr>
          <p:cNvPr id="89171" name="Rectangle 83">
            <a:extLst>
              <a:ext uri="{FF2B5EF4-FFF2-40B4-BE49-F238E27FC236}">
                <a16:creationId xmlns:a16="http://schemas.microsoft.com/office/drawing/2014/main" id="{E2927BAA-BF46-1D65-90A0-5F08C5C8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0" y="2482851"/>
            <a:ext cx="204788" cy="239713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89098" name="Rectangle 10">
            <a:extLst>
              <a:ext uri="{FF2B5EF4-FFF2-40B4-BE49-F238E27FC236}">
                <a16:creationId xmlns:a16="http://schemas.microsoft.com/office/drawing/2014/main" id="{91D8F95D-9DCD-C780-59EA-CA5AE3161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9" y="2020888"/>
            <a:ext cx="293687" cy="3554412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56C1DF-F201-6F58-2AD1-7D64E0DF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24592"/>
            <a:ext cx="10871200" cy="863600"/>
          </a:xfrm>
        </p:spPr>
        <p:txBody>
          <a:bodyPr/>
          <a:lstStyle/>
          <a:p>
            <a:pPr algn="ctr"/>
            <a:r>
              <a:rPr lang="en-US" sz="4400" b="1" dirty="0">
                <a:latin typeface="Calibri Light(Headings)"/>
              </a:rPr>
              <a:t>Sequence Diagrams</a:t>
            </a:r>
          </a:p>
        </p:txBody>
      </p:sp>
    </p:spTree>
    <p:extLst>
      <p:ext uri="{BB962C8B-B14F-4D97-AF65-F5344CB8AC3E}">
        <p14:creationId xmlns:p14="http://schemas.microsoft.com/office/powerpoint/2010/main" val="2620134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animBg="1" autoUpdateAnimBg="0"/>
      <p:bldP spid="89103" grpId="0" build="p" autoUpdateAnimBg="0" advAuto="0"/>
      <p:bldP spid="89093" grpId="0" animBg="1" autoUpdateAnimBg="0"/>
      <p:bldP spid="89095" grpId="0" animBg="1" autoUpdateAnimBg="0"/>
      <p:bldP spid="89221" grpId="0" animBg="1" autoUpdateAnimBg="0"/>
      <p:bldP spid="89249" grpId="0" animBg="1" autoUpdateAnimBg="0"/>
      <p:bldP spid="89163" grpId="0" animBg="1"/>
      <p:bldP spid="89171" grpId="0" animBg="1"/>
      <p:bldP spid="8909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0AE6-2513-1FE5-31E0-A5B8ABE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Calibri Light(Headings)"/>
              </a:rPr>
              <a:t>State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308A-EF6B-273D-A0E0-C28FCAFF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altLang="en-US" sz="2400" dirty="0">
              <a:latin typeface="Calibri Body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latin typeface="Calibri Body"/>
                <a:ea typeface="ＭＳ Ｐゴシック" panose="020B0600070205080204" pitchFamily="34" charset="-128"/>
              </a:rPr>
              <a:t>Describes the dynamic behavior of an individual object as a number of states and transitions between these states. </a:t>
            </a:r>
          </a:p>
          <a:p>
            <a:pPr lvl="1"/>
            <a:endParaRPr lang="en-US" altLang="en-US" sz="2400" dirty="0">
              <a:latin typeface="Calibri Body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latin typeface="Calibri Body"/>
                <a:ea typeface="ＭＳ Ｐゴシック" panose="020B0600070205080204" pitchFamily="34" charset="-128"/>
              </a:rPr>
              <a:t>A state represents a particular set of values for an object. </a:t>
            </a:r>
          </a:p>
          <a:p>
            <a:pPr lvl="1"/>
            <a:endParaRPr lang="en-US" altLang="en-US" sz="2400" dirty="0">
              <a:latin typeface="Calibri Body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latin typeface="Calibri Body"/>
                <a:ea typeface="ＭＳ Ｐゴシック" panose="020B0600070205080204" pitchFamily="34" charset="-128"/>
              </a:rPr>
              <a:t>Given a state, a transition represents a future state the object can move to, and the conditions associated with the change of state.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753388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AutoShape 5">
            <a:extLst>
              <a:ext uri="{FF2B5EF4-FFF2-40B4-BE49-F238E27FC236}">
                <a16:creationId xmlns:a16="http://schemas.microsoft.com/office/drawing/2014/main" id="{6DFEE64E-256F-7720-B9BC-43265B5DF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294063"/>
            <a:ext cx="914400" cy="609600"/>
          </a:xfrm>
          <a:prstGeom prst="wedgeRoundRectCallout">
            <a:avLst>
              <a:gd name="adj1" fmla="val 56597"/>
              <a:gd name="adj2" fmla="val 18203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State</a:t>
            </a:r>
          </a:p>
        </p:txBody>
      </p:sp>
      <p:sp>
        <p:nvSpPr>
          <p:cNvPr id="81926" name="AutoShape 6">
            <a:extLst>
              <a:ext uri="{FF2B5EF4-FFF2-40B4-BE49-F238E27FC236}">
                <a16:creationId xmlns:a16="http://schemas.microsoft.com/office/drawing/2014/main" id="{0ECD4C8C-0153-C62E-0DF1-55DFD9CF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100" y="646113"/>
            <a:ext cx="1524000" cy="609600"/>
          </a:xfrm>
          <a:prstGeom prst="wedgeRoundRectCallout">
            <a:avLst>
              <a:gd name="adj1" fmla="val -81250"/>
              <a:gd name="adj2" fmla="val 1171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Initial state</a:t>
            </a:r>
          </a:p>
        </p:txBody>
      </p:sp>
      <p:sp>
        <p:nvSpPr>
          <p:cNvPr id="81927" name="AutoShape 7">
            <a:extLst>
              <a:ext uri="{FF2B5EF4-FFF2-40B4-BE49-F238E27FC236}">
                <a16:creationId xmlns:a16="http://schemas.microsoft.com/office/drawing/2014/main" id="{C900FC98-E099-B9C8-ABF5-F3BDD4C8E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5245100"/>
            <a:ext cx="1600200" cy="609600"/>
          </a:xfrm>
          <a:prstGeom prst="wedgeRoundRectCallout">
            <a:avLst>
              <a:gd name="adj1" fmla="val -104662"/>
              <a:gd name="adj2" fmla="val 51824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Final state</a:t>
            </a:r>
          </a:p>
        </p:txBody>
      </p:sp>
      <p:sp>
        <p:nvSpPr>
          <p:cNvPr id="81928" name="AutoShape 8">
            <a:extLst>
              <a:ext uri="{FF2B5EF4-FFF2-40B4-BE49-F238E27FC236}">
                <a16:creationId xmlns:a16="http://schemas.microsoft.com/office/drawing/2014/main" id="{94782196-714B-93B3-F471-2C3AEC58C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81213"/>
            <a:ext cx="1358900" cy="609600"/>
          </a:xfrm>
          <a:prstGeom prst="wedgeRoundRectCallout">
            <a:avLst>
              <a:gd name="adj1" fmla="val -111213"/>
              <a:gd name="adj2" fmla="val 9634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Transition</a:t>
            </a:r>
          </a:p>
        </p:txBody>
      </p:sp>
      <p:sp>
        <p:nvSpPr>
          <p:cNvPr id="81929" name="AutoShape 9">
            <a:extLst>
              <a:ext uri="{FF2B5EF4-FFF2-40B4-BE49-F238E27FC236}">
                <a16:creationId xmlns:a16="http://schemas.microsoft.com/office/drawing/2014/main" id="{8599F851-98D3-909F-9B07-2FFF3619E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738188"/>
            <a:ext cx="914400" cy="609600"/>
          </a:xfrm>
          <a:prstGeom prst="wedgeRoundRectCallout">
            <a:avLst>
              <a:gd name="adj1" fmla="val 121009"/>
              <a:gd name="adj2" fmla="val 6224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/>
              <a:t>Event</a:t>
            </a:r>
          </a:p>
        </p:txBody>
      </p:sp>
      <p:sp>
        <p:nvSpPr>
          <p:cNvPr id="81930" name="Text Box 10">
            <a:extLst>
              <a:ext uri="{FF2B5EF4-FFF2-40B4-BE49-F238E27FC236}">
                <a16:creationId xmlns:a16="http://schemas.microsoft.com/office/drawing/2014/main" id="{E33E5362-FF4C-D54C-1560-1010F14DE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819" y="6250504"/>
            <a:ext cx="9986369" cy="461665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 dirty="0">
                <a:solidFill>
                  <a:schemeClr val="bg1"/>
                </a:solidFill>
              </a:rPr>
              <a:t>Represent behavior of </a:t>
            </a:r>
            <a:r>
              <a:rPr lang="en-US" altLang="en-US" sz="2400" b="0" i="1" dirty="0">
                <a:solidFill>
                  <a:schemeClr val="bg1"/>
                </a:solidFill>
              </a:rPr>
              <a:t>a single object</a:t>
            </a:r>
            <a:r>
              <a:rPr lang="en-US" altLang="en-US" sz="2400" b="0" dirty="0">
                <a:solidFill>
                  <a:schemeClr val="bg1"/>
                </a:solidFill>
              </a:rPr>
              <a:t> with interesting dynamic behavior.</a:t>
            </a:r>
          </a:p>
        </p:txBody>
      </p:sp>
      <p:grpSp>
        <p:nvGrpSpPr>
          <p:cNvPr id="2" name="Group 67">
            <a:extLst>
              <a:ext uri="{FF2B5EF4-FFF2-40B4-BE49-F238E27FC236}">
                <a16:creationId xmlns:a16="http://schemas.microsoft.com/office/drawing/2014/main" id="{5D21BAD1-FC9B-0704-3A56-8AB14BA02811}"/>
              </a:ext>
            </a:extLst>
          </p:cNvPr>
          <p:cNvGrpSpPr>
            <a:grpSpLocks/>
          </p:cNvGrpSpPr>
          <p:nvPr/>
        </p:nvGrpSpPr>
        <p:grpSpPr bwMode="auto">
          <a:xfrm>
            <a:off x="2247901" y="854075"/>
            <a:ext cx="7694613" cy="5189538"/>
            <a:chOff x="456" y="622"/>
            <a:chExt cx="4847" cy="3269"/>
          </a:xfrm>
        </p:grpSpPr>
        <p:sp>
          <p:nvSpPr>
            <p:cNvPr id="123914" name="Oval 12">
              <a:extLst>
                <a:ext uri="{FF2B5EF4-FFF2-40B4-BE49-F238E27FC236}">
                  <a16:creationId xmlns:a16="http://schemas.microsoft.com/office/drawing/2014/main" id="{0EA1309E-3901-FE10-D94C-748D19685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622"/>
              <a:ext cx="98" cy="98"/>
            </a:xfrm>
            <a:prstGeom prst="ellipse">
              <a:avLst/>
            </a:pr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23915" name="Group 13">
              <a:extLst>
                <a:ext uri="{FF2B5EF4-FFF2-40B4-BE49-F238E27FC236}">
                  <a16:creationId xmlns:a16="http://schemas.microsoft.com/office/drawing/2014/main" id="{F0C0E3D1-074C-9710-6502-F9F759E4ED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9" y="678"/>
              <a:ext cx="84" cy="223"/>
              <a:chOff x="2411" y="290"/>
              <a:chExt cx="84" cy="223"/>
            </a:xfrm>
          </p:grpSpPr>
          <p:sp>
            <p:nvSpPr>
              <p:cNvPr id="123964" name="Line 14">
                <a:extLst>
                  <a:ext uri="{FF2B5EF4-FFF2-40B4-BE49-F238E27FC236}">
                    <a16:creationId xmlns:a16="http://schemas.microsoft.com/office/drawing/2014/main" id="{FD998D5C-A080-F9F0-DD3C-581717544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3" y="374"/>
                <a:ext cx="1" cy="139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3965" name="Freeform 15">
                <a:extLst>
                  <a:ext uri="{FF2B5EF4-FFF2-40B4-BE49-F238E27FC236}">
                    <a16:creationId xmlns:a16="http://schemas.microsoft.com/office/drawing/2014/main" id="{861B91FB-7804-1ED2-AE50-D237A3A72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374"/>
                <a:ext cx="84" cy="139"/>
              </a:xfrm>
              <a:custGeom>
                <a:avLst/>
                <a:gdLst>
                  <a:gd name="T0" fmla="*/ 84 w 84"/>
                  <a:gd name="T1" fmla="*/ 0 h 139"/>
                  <a:gd name="T2" fmla="*/ 42 w 84"/>
                  <a:gd name="T3" fmla="*/ 139 h 139"/>
                  <a:gd name="T4" fmla="*/ 0 w 84"/>
                  <a:gd name="T5" fmla="*/ 0 h 139"/>
                  <a:gd name="T6" fmla="*/ 0 60000 65536"/>
                  <a:gd name="T7" fmla="*/ 0 60000 65536"/>
                  <a:gd name="T8" fmla="*/ 0 60000 65536"/>
                  <a:gd name="T9" fmla="*/ 0 w 84"/>
                  <a:gd name="T10" fmla="*/ 0 h 139"/>
                  <a:gd name="T11" fmla="*/ 84 w 84"/>
                  <a:gd name="T12" fmla="*/ 139 h 1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" h="139">
                    <a:moveTo>
                      <a:pt x="84" y="0"/>
                    </a:moveTo>
                    <a:lnTo>
                      <a:pt x="42" y="139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23966" name="Line 16">
                <a:extLst>
                  <a:ext uri="{FF2B5EF4-FFF2-40B4-BE49-F238E27FC236}">
                    <a16:creationId xmlns:a16="http://schemas.microsoft.com/office/drawing/2014/main" id="{0A0E8B7D-4336-44F8-3526-F947A5125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3" y="290"/>
                <a:ext cx="1" cy="84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123916" name="Line 17">
              <a:extLst>
                <a:ext uri="{FF2B5EF4-FFF2-40B4-BE49-F238E27FC236}">
                  <a16:creationId xmlns:a16="http://schemas.microsoft.com/office/drawing/2014/main" id="{B042C2BC-55DF-D876-31D7-E0E396379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6" y="1083"/>
              <a:ext cx="135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17" name="Rectangle 18">
              <a:extLst>
                <a:ext uri="{FF2B5EF4-FFF2-40B4-BE49-F238E27FC236}">
                  <a16:creationId xmlns:a16="http://schemas.microsoft.com/office/drawing/2014/main" id="{955C7CEF-AFAC-80B0-FF78-D753F79C7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964"/>
              <a:ext cx="123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button1&amp;2Pressed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18" name="Line 19">
              <a:extLst>
                <a:ext uri="{FF2B5EF4-FFF2-40B4-BE49-F238E27FC236}">
                  <a16:creationId xmlns:a16="http://schemas.microsoft.com/office/drawing/2014/main" id="{3990FEE2-08AE-D19F-AA3B-B036C4386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7" y="1348"/>
              <a:ext cx="1" cy="62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19" name="Line 20">
              <a:extLst>
                <a:ext uri="{FF2B5EF4-FFF2-40B4-BE49-F238E27FC236}">
                  <a16:creationId xmlns:a16="http://schemas.microsoft.com/office/drawing/2014/main" id="{BC3D98B7-6DA9-2714-D046-17BA3362C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7" y="2410"/>
              <a:ext cx="1" cy="61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20" name="Rectangle 21">
              <a:extLst>
                <a:ext uri="{FF2B5EF4-FFF2-40B4-BE49-F238E27FC236}">
                  <a16:creationId xmlns:a16="http://schemas.microsoft.com/office/drawing/2014/main" id="{757441FF-95DC-58BF-748D-2F2297D20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1536"/>
              <a:ext cx="10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button1Pressed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21" name="Rectangle 22">
              <a:extLst>
                <a:ext uri="{FF2B5EF4-FFF2-40B4-BE49-F238E27FC236}">
                  <a16:creationId xmlns:a16="http://schemas.microsoft.com/office/drawing/2014/main" id="{75582603-FED0-31F4-AD67-109DF449D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5" y="908"/>
              <a:ext cx="10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button2Pressed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22" name="Line 23">
              <a:extLst>
                <a:ext uri="{FF2B5EF4-FFF2-40B4-BE49-F238E27FC236}">
                  <a16:creationId xmlns:a16="http://schemas.microsoft.com/office/drawing/2014/main" id="{C217CCC9-D9BF-EBEF-2535-171D135A9F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0" y="1209"/>
              <a:ext cx="135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23" name="Line 24">
              <a:extLst>
                <a:ext uri="{FF2B5EF4-FFF2-40B4-BE49-F238E27FC236}">
                  <a16:creationId xmlns:a16="http://schemas.microsoft.com/office/drawing/2014/main" id="{7908346E-FC60-7FF6-F24C-947978D30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6" y="2159"/>
              <a:ext cx="135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24" name="Rectangle 25">
              <a:extLst>
                <a:ext uri="{FF2B5EF4-FFF2-40B4-BE49-F238E27FC236}">
                  <a16:creationId xmlns:a16="http://schemas.microsoft.com/office/drawing/2014/main" id="{B757AD4A-AE4A-105A-1C59-63879579E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1983"/>
              <a:ext cx="10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button2Pressed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25" name="Line 26">
              <a:extLst>
                <a:ext uri="{FF2B5EF4-FFF2-40B4-BE49-F238E27FC236}">
                  <a16:creationId xmlns:a16="http://schemas.microsoft.com/office/drawing/2014/main" id="{9B470D0B-A0D0-EA35-B2B6-FFE611B9C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4" y="2270"/>
              <a:ext cx="135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26" name="Line 27">
              <a:extLst>
                <a:ext uri="{FF2B5EF4-FFF2-40B4-BE49-F238E27FC236}">
                  <a16:creationId xmlns:a16="http://schemas.microsoft.com/office/drawing/2014/main" id="{91837A8E-6846-95F3-B035-03A0F8E83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2" y="3179"/>
              <a:ext cx="1369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27" name="Rectangle 28">
              <a:extLst>
                <a:ext uri="{FF2B5EF4-FFF2-40B4-BE49-F238E27FC236}">
                  <a16:creationId xmlns:a16="http://schemas.microsoft.com/office/drawing/2014/main" id="{78BF29BE-3840-851D-E566-127E65553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5" y="3003"/>
              <a:ext cx="10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button2Pressed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28" name="Line 29">
              <a:extLst>
                <a:ext uri="{FF2B5EF4-FFF2-40B4-BE49-F238E27FC236}">
                  <a16:creationId xmlns:a16="http://schemas.microsoft.com/office/drawing/2014/main" id="{D775184E-33CF-73CF-FBAC-3905D13BD1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4" y="3290"/>
              <a:ext cx="132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29" name="Rectangle 30">
              <a:extLst>
                <a:ext uri="{FF2B5EF4-FFF2-40B4-BE49-F238E27FC236}">
                  <a16:creationId xmlns:a16="http://schemas.microsoft.com/office/drawing/2014/main" id="{EFF3B7D4-2251-382A-6974-D0F080B87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2640"/>
              <a:ext cx="10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button1Pressed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30" name="Rectangle 31">
              <a:extLst>
                <a:ext uri="{FF2B5EF4-FFF2-40B4-BE49-F238E27FC236}">
                  <a16:creationId xmlns:a16="http://schemas.microsoft.com/office/drawing/2014/main" id="{7928AB9F-E02D-FBC0-F277-D761A9EFD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" y="2025"/>
              <a:ext cx="123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button1&amp;2Pressed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31" name="Freeform 32">
              <a:extLst>
                <a:ext uri="{FF2B5EF4-FFF2-40B4-BE49-F238E27FC236}">
                  <a16:creationId xmlns:a16="http://schemas.microsoft.com/office/drawing/2014/main" id="{CD7063C5-F58D-F30B-39FB-C6A2059D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1125"/>
              <a:ext cx="1313" cy="1903"/>
            </a:xfrm>
            <a:custGeom>
              <a:avLst/>
              <a:gdLst>
                <a:gd name="T0" fmla="*/ 1313 w 1313"/>
                <a:gd name="T1" fmla="*/ 0 h 1903"/>
                <a:gd name="T2" fmla="*/ 0 w 1313"/>
                <a:gd name="T3" fmla="*/ 0 h 1903"/>
                <a:gd name="T4" fmla="*/ 4 w 1313"/>
                <a:gd name="T5" fmla="*/ 1903 h 1903"/>
                <a:gd name="T6" fmla="*/ 0 60000 65536"/>
                <a:gd name="T7" fmla="*/ 0 60000 65536"/>
                <a:gd name="T8" fmla="*/ 0 60000 65536"/>
                <a:gd name="T9" fmla="*/ 0 w 1313"/>
                <a:gd name="T10" fmla="*/ 0 h 1903"/>
                <a:gd name="T11" fmla="*/ 1313 w 1313"/>
                <a:gd name="T12" fmla="*/ 1903 h 19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3" h="1903">
                  <a:moveTo>
                    <a:pt x="1313" y="0"/>
                  </a:moveTo>
                  <a:lnTo>
                    <a:pt x="0" y="0"/>
                  </a:lnTo>
                  <a:lnTo>
                    <a:pt x="4" y="190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3932" name="Freeform 33">
              <a:extLst>
                <a:ext uri="{FF2B5EF4-FFF2-40B4-BE49-F238E27FC236}">
                  <a16:creationId xmlns:a16="http://schemas.microsoft.com/office/drawing/2014/main" id="{85C099FE-2633-ADDB-0227-409BE25F9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2187"/>
              <a:ext cx="1041" cy="841"/>
            </a:xfrm>
            <a:custGeom>
              <a:avLst/>
              <a:gdLst>
                <a:gd name="T0" fmla="*/ 1041 w 1041"/>
                <a:gd name="T1" fmla="*/ 0 h 841"/>
                <a:gd name="T2" fmla="*/ 7 w 1041"/>
                <a:gd name="T3" fmla="*/ 0 h 841"/>
                <a:gd name="T4" fmla="*/ 0 w 1041"/>
                <a:gd name="T5" fmla="*/ 841 h 841"/>
                <a:gd name="T6" fmla="*/ 0 60000 65536"/>
                <a:gd name="T7" fmla="*/ 0 60000 65536"/>
                <a:gd name="T8" fmla="*/ 0 60000 65536"/>
                <a:gd name="T9" fmla="*/ 0 w 1041"/>
                <a:gd name="T10" fmla="*/ 0 h 841"/>
                <a:gd name="T11" fmla="*/ 1041 w 1041"/>
                <a:gd name="T12" fmla="*/ 841 h 8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41" h="841">
                  <a:moveTo>
                    <a:pt x="1041" y="0"/>
                  </a:moveTo>
                  <a:lnTo>
                    <a:pt x="7" y="0"/>
                  </a:lnTo>
                  <a:lnTo>
                    <a:pt x="0" y="841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23933" name="Group 35">
              <a:extLst>
                <a:ext uri="{FF2B5EF4-FFF2-40B4-BE49-F238E27FC236}">
                  <a16:creationId xmlns:a16="http://schemas.microsoft.com/office/drawing/2014/main" id="{D80ED915-6BD5-EED8-D485-A843D7DA80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5" y="3472"/>
              <a:ext cx="84" cy="251"/>
              <a:chOff x="902" y="3084"/>
              <a:chExt cx="84" cy="251"/>
            </a:xfrm>
          </p:grpSpPr>
          <p:sp>
            <p:nvSpPr>
              <p:cNvPr id="123961" name="Line 36">
                <a:extLst>
                  <a:ext uri="{FF2B5EF4-FFF2-40B4-BE49-F238E27FC236}">
                    <a16:creationId xmlns:a16="http://schemas.microsoft.com/office/drawing/2014/main" id="{E7DECDA4-F7C5-44BD-29AB-0A47C609B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4" y="3182"/>
                <a:ext cx="1" cy="15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23962" name="Freeform 37">
                <a:extLst>
                  <a:ext uri="{FF2B5EF4-FFF2-40B4-BE49-F238E27FC236}">
                    <a16:creationId xmlns:a16="http://schemas.microsoft.com/office/drawing/2014/main" id="{49828172-C527-D640-3259-6150D2E5A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196"/>
                <a:ext cx="84" cy="139"/>
              </a:xfrm>
              <a:custGeom>
                <a:avLst/>
                <a:gdLst>
                  <a:gd name="T0" fmla="*/ 84 w 84"/>
                  <a:gd name="T1" fmla="*/ 0 h 139"/>
                  <a:gd name="T2" fmla="*/ 42 w 84"/>
                  <a:gd name="T3" fmla="*/ 139 h 139"/>
                  <a:gd name="T4" fmla="*/ 0 w 84"/>
                  <a:gd name="T5" fmla="*/ 0 h 139"/>
                  <a:gd name="T6" fmla="*/ 0 60000 65536"/>
                  <a:gd name="T7" fmla="*/ 0 60000 65536"/>
                  <a:gd name="T8" fmla="*/ 0 60000 65536"/>
                  <a:gd name="T9" fmla="*/ 0 w 84"/>
                  <a:gd name="T10" fmla="*/ 0 h 139"/>
                  <a:gd name="T11" fmla="*/ 84 w 84"/>
                  <a:gd name="T12" fmla="*/ 139 h 1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" h="139">
                    <a:moveTo>
                      <a:pt x="84" y="0"/>
                    </a:moveTo>
                    <a:lnTo>
                      <a:pt x="42" y="139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23963" name="Line 38">
                <a:extLst>
                  <a:ext uri="{FF2B5EF4-FFF2-40B4-BE49-F238E27FC236}">
                    <a16:creationId xmlns:a16="http://schemas.microsoft.com/office/drawing/2014/main" id="{3854BF62-4E52-5347-B603-13410AC2DE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4" y="3084"/>
                <a:ext cx="1" cy="9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123934" name="Oval 39">
              <a:extLst>
                <a:ext uri="{FF2B5EF4-FFF2-40B4-BE49-F238E27FC236}">
                  <a16:creationId xmlns:a16="http://schemas.microsoft.com/office/drawing/2014/main" id="{FBEB54D6-15D7-A7DD-83A2-D589E7FA1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3723"/>
              <a:ext cx="154" cy="168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3935" name="AutoShape 40">
              <a:extLst>
                <a:ext uri="{FF2B5EF4-FFF2-40B4-BE49-F238E27FC236}">
                  <a16:creationId xmlns:a16="http://schemas.microsoft.com/office/drawing/2014/main" id="{A819D965-902F-E5AE-5186-DCCE49319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1977"/>
              <a:ext cx="978" cy="447"/>
            </a:xfrm>
            <a:prstGeom prst="roundRect">
              <a:avLst>
                <a:gd name="adj" fmla="val 48435"/>
              </a:avLst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23936" name="Group 41">
              <a:extLst>
                <a:ext uri="{FF2B5EF4-FFF2-40B4-BE49-F238E27FC236}">
                  <a16:creationId xmlns:a16="http://schemas.microsoft.com/office/drawing/2014/main" id="{6AD7C044-81E0-F4ED-FB23-06A8E26BFE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8" y="2068"/>
              <a:ext cx="694" cy="266"/>
              <a:chOff x="4468" y="1707"/>
              <a:chExt cx="694" cy="266"/>
            </a:xfrm>
          </p:grpSpPr>
          <p:sp>
            <p:nvSpPr>
              <p:cNvPr id="123959" name="Rectangle 42">
                <a:extLst>
                  <a:ext uri="{FF2B5EF4-FFF2-40B4-BE49-F238E27FC236}">
                    <a16:creationId xmlns:a16="http://schemas.microsoft.com/office/drawing/2014/main" id="{2C01BE90-B1A0-1D29-5FE4-84C39CB6E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8" y="1707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Increment</a:t>
                </a:r>
                <a:endParaRPr lang="en-US" altLang="en-US" sz="16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  <p:sp>
            <p:nvSpPr>
              <p:cNvPr id="123960" name="Rectangle 43">
                <a:extLst>
                  <a:ext uri="{FF2B5EF4-FFF2-40B4-BE49-F238E27FC236}">
                    <a16:creationId xmlns:a16="http://schemas.microsoft.com/office/drawing/2014/main" id="{5A4039B2-FD85-C9A9-443A-33AEB82FB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5" y="1819"/>
                <a:ext cx="54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Minutes</a:t>
                </a:r>
                <a:endParaRPr lang="en-US" altLang="en-US" sz="16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</p:grpSp>
        <p:sp>
          <p:nvSpPr>
            <p:cNvPr id="123937" name="Line 44">
              <a:extLst>
                <a:ext uri="{FF2B5EF4-FFF2-40B4-BE49-F238E27FC236}">
                  <a16:creationId xmlns:a16="http://schemas.microsoft.com/office/drawing/2014/main" id="{F555D775-5A6C-77F0-1808-6A4418E6E1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4" y="3248"/>
              <a:ext cx="558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3938" name="AutoShape 45">
              <a:extLst>
                <a:ext uri="{FF2B5EF4-FFF2-40B4-BE49-F238E27FC236}">
                  <a16:creationId xmlns:a16="http://schemas.microsoft.com/office/drawing/2014/main" id="{D23947C0-1DEE-9238-A47C-6F676BE47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915"/>
              <a:ext cx="978" cy="447"/>
            </a:xfrm>
            <a:prstGeom prst="roundRect">
              <a:avLst>
                <a:gd name="adj" fmla="val 48435"/>
              </a:avLst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23939" name="Group 46">
              <a:extLst>
                <a:ext uri="{FF2B5EF4-FFF2-40B4-BE49-F238E27FC236}">
                  <a16:creationId xmlns:a16="http://schemas.microsoft.com/office/drawing/2014/main" id="{57C3B5D2-C8A8-7CCF-8F75-AF7BB6FA1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8" y="1006"/>
              <a:ext cx="694" cy="266"/>
              <a:chOff x="4510" y="645"/>
              <a:chExt cx="694" cy="266"/>
            </a:xfrm>
          </p:grpSpPr>
          <p:sp>
            <p:nvSpPr>
              <p:cNvPr id="123957" name="Rectangle 47">
                <a:extLst>
                  <a:ext uri="{FF2B5EF4-FFF2-40B4-BE49-F238E27FC236}">
                    <a16:creationId xmlns:a16="http://schemas.microsoft.com/office/drawing/2014/main" id="{7A32337C-08BF-7F56-71F8-66F774911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0" y="645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Increment</a:t>
                </a:r>
                <a:endParaRPr lang="en-US" altLang="en-US" sz="16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  <p:sp>
            <p:nvSpPr>
              <p:cNvPr id="123958" name="Rectangle 48">
                <a:extLst>
                  <a:ext uri="{FF2B5EF4-FFF2-40B4-BE49-F238E27FC236}">
                    <a16:creationId xmlns:a16="http://schemas.microsoft.com/office/drawing/2014/main" id="{B5F3C591-A995-3CA3-9F5A-240DE1E43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4" y="757"/>
                <a:ext cx="38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Hours</a:t>
                </a:r>
                <a:endParaRPr lang="en-US" altLang="en-US" sz="16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</p:grpSp>
        <p:sp>
          <p:nvSpPr>
            <p:cNvPr id="123940" name="AutoShape 49">
              <a:extLst>
                <a:ext uri="{FF2B5EF4-FFF2-40B4-BE49-F238E27FC236}">
                  <a16:creationId xmlns:a16="http://schemas.microsoft.com/office/drawing/2014/main" id="{27F8084E-22A2-7DFE-C4AE-500245E55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" y="916"/>
              <a:ext cx="978" cy="447"/>
            </a:xfrm>
            <a:prstGeom prst="roundRect">
              <a:avLst>
                <a:gd name="adj" fmla="val 48435"/>
              </a:avLst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3941" name="Rectangle 50">
              <a:extLst>
                <a:ext uri="{FF2B5EF4-FFF2-40B4-BE49-F238E27FC236}">
                  <a16:creationId xmlns:a16="http://schemas.microsoft.com/office/drawing/2014/main" id="{ED681385-EDA4-4C86-26E0-09D24E2A8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1007"/>
              <a:ext cx="38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Blink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42" name="Rectangle 51">
              <a:extLst>
                <a:ext uri="{FF2B5EF4-FFF2-40B4-BE49-F238E27FC236}">
                  <a16:creationId xmlns:a16="http://schemas.microsoft.com/office/drawing/2014/main" id="{08E8FD1A-466B-10B7-AC99-FEC9A8CAC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1119"/>
              <a:ext cx="38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Hours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43" name="AutoShape 52">
              <a:extLst>
                <a:ext uri="{FF2B5EF4-FFF2-40B4-BE49-F238E27FC236}">
                  <a16:creationId xmlns:a16="http://schemas.microsoft.com/office/drawing/2014/main" id="{EA7686EF-4778-F07E-6FDE-717E58D8C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3024"/>
              <a:ext cx="978" cy="447"/>
            </a:xfrm>
            <a:prstGeom prst="roundRect">
              <a:avLst>
                <a:gd name="adj" fmla="val 48435"/>
              </a:avLst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3944" name="Rectangle 53">
              <a:extLst>
                <a:ext uri="{FF2B5EF4-FFF2-40B4-BE49-F238E27FC236}">
                  <a16:creationId xmlns:a16="http://schemas.microsoft.com/office/drawing/2014/main" id="{E14A59C8-06F2-5E5E-D042-145559B78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3115"/>
              <a:ext cx="38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Blink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45" name="Rectangle 54">
              <a:extLst>
                <a:ext uri="{FF2B5EF4-FFF2-40B4-BE49-F238E27FC236}">
                  <a16:creationId xmlns:a16="http://schemas.microsoft.com/office/drawing/2014/main" id="{369D4A42-5338-C857-42F1-29ED09177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3227"/>
              <a:ext cx="5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Seconds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46" name="AutoShape 55">
              <a:extLst>
                <a:ext uri="{FF2B5EF4-FFF2-40B4-BE49-F238E27FC236}">
                  <a16:creationId xmlns:a16="http://schemas.microsoft.com/office/drawing/2014/main" id="{18879532-5D63-8C61-BF75-6B828DA1F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1977"/>
              <a:ext cx="978" cy="447"/>
            </a:xfrm>
            <a:prstGeom prst="roundRect">
              <a:avLst>
                <a:gd name="adj" fmla="val 48435"/>
              </a:avLst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3947" name="Rectangle 56">
              <a:extLst>
                <a:ext uri="{FF2B5EF4-FFF2-40B4-BE49-F238E27FC236}">
                  <a16:creationId xmlns:a16="http://schemas.microsoft.com/office/drawing/2014/main" id="{9DE1C4A2-105E-372C-DC8E-3020E5508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2068"/>
              <a:ext cx="38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Blink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48" name="Rectangle 57">
              <a:extLst>
                <a:ext uri="{FF2B5EF4-FFF2-40B4-BE49-F238E27FC236}">
                  <a16:creationId xmlns:a16="http://schemas.microsoft.com/office/drawing/2014/main" id="{F533EAD2-282C-AB8B-355A-1986FCD43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2180"/>
              <a:ext cx="5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Minutes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49" name="AutoShape 58">
              <a:extLst>
                <a:ext uri="{FF2B5EF4-FFF2-40B4-BE49-F238E27FC236}">
                  <a16:creationId xmlns:a16="http://schemas.microsoft.com/office/drawing/2014/main" id="{409377D1-75CF-A3E0-4B99-5473A876F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025"/>
              <a:ext cx="978" cy="447"/>
            </a:xfrm>
            <a:prstGeom prst="roundRect">
              <a:avLst>
                <a:gd name="adj" fmla="val 48435"/>
              </a:avLst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grpSp>
          <p:nvGrpSpPr>
            <p:cNvPr id="123950" name="Group 59">
              <a:extLst>
                <a:ext uri="{FF2B5EF4-FFF2-40B4-BE49-F238E27FC236}">
                  <a16:creationId xmlns:a16="http://schemas.microsoft.com/office/drawing/2014/main" id="{F35DE564-AB0A-AC37-FF3F-9700EB0B3C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7" y="3116"/>
              <a:ext cx="694" cy="266"/>
              <a:chOff x="4509" y="2769"/>
              <a:chExt cx="694" cy="266"/>
            </a:xfrm>
          </p:grpSpPr>
          <p:sp>
            <p:nvSpPr>
              <p:cNvPr id="123955" name="Rectangle 60">
                <a:extLst>
                  <a:ext uri="{FF2B5EF4-FFF2-40B4-BE49-F238E27FC236}">
                    <a16:creationId xmlns:a16="http://schemas.microsoft.com/office/drawing/2014/main" id="{517B604B-7E65-9ECD-86A7-27245062D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9" y="2769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Increment</a:t>
                </a:r>
                <a:endParaRPr lang="en-US" altLang="en-US" sz="16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  <p:sp>
            <p:nvSpPr>
              <p:cNvPr id="123956" name="Rectangle 61">
                <a:extLst>
                  <a:ext uri="{FF2B5EF4-FFF2-40B4-BE49-F238E27FC236}">
                    <a16:creationId xmlns:a16="http://schemas.microsoft.com/office/drawing/2014/main" id="{58637ABE-399C-725D-F9C2-14DFEE6D7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7" y="2881"/>
                <a:ext cx="54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Seconds</a:t>
                </a:r>
                <a:endParaRPr lang="en-US" altLang="en-US" sz="1600" b="0">
                  <a:solidFill>
                    <a:schemeClr val="tx1"/>
                  </a:solidFill>
                  <a:latin typeface="Lucida Sans Typewriter" panose="020B0509030504030204" pitchFamily="49" charset="0"/>
                </a:endParaRPr>
              </a:p>
            </p:txBody>
          </p:sp>
        </p:grpSp>
        <p:sp>
          <p:nvSpPr>
            <p:cNvPr id="123951" name="AutoShape 62">
              <a:extLst>
                <a:ext uri="{FF2B5EF4-FFF2-40B4-BE49-F238E27FC236}">
                  <a16:creationId xmlns:a16="http://schemas.microsoft.com/office/drawing/2014/main" id="{30043F59-F174-7413-8C52-E05F17908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" y="3025"/>
              <a:ext cx="978" cy="447"/>
            </a:xfrm>
            <a:prstGeom prst="roundRect">
              <a:avLst>
                <a:gd name="adj" fmla="val 48435"/>
              </a:avLst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23952" name="Rectangle 63">
              <a:extLst>
                <a:ext uri="{FF2B5EF4-FFF2-40B4-BE49-F238E27FC236}">
                  <a16:creationId xmlns:a16="http://schemas.microsoft.com/office/drawing/2014/main" id="{8CD92675-E86A-CDB4-497E-63AC422D8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3116"/>
              <a:ext cx="30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Stop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53" name="Rectangle 64">
              <a:extLst>
                <a:ext uri="{FF2B5EF4-FFF2-40B4-BE49-F238E27FC236}">
                  <a16:creationId xmlns:a16="http://schemas.microsoft.com/office/drawing/2014/main" id="{9178E678-E756-BA62-6898-DEE4FBF61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228"/>
              <a:ext cx="6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Blinking</a:t>
              </a:r>
              <a:endParaRPr lang="en-US" altLang="en-US" sz="1600" b="0">
                <a:solidFill>
                  <a:schemeClr val="tx1"/>
                </a:solidFill>
                <a:latin typeface="Lucida Sans Typewriter" panose="020B0509030504030204" pitchFamily="49" charset="0"/>
              </a:endParaRPr>
            </a:p>
          </p:txBody>
        </p:sp>
        <p:sp>
          <p:nvSpPr>
            <p:cNvPr id="123954" name="Oval 65">
              <a:extLst>
                <a:ext uri="{FF2B5EF4-FFF2-40B4-BE49-F238E27FC236}">
                  <a16:creationId xmlns:a16="http://schemas.microsoft.com/office/drawing/2014/main" id="{6BFB0FA8-C87F-189F-FB77-94927DA2C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" y="3765"/>
              <a:ext cx="98" cy="98"/>
            </a:xfrm>
            <a:prstGeom prst="ellipse">
              <a:avLst/>
            </a:pr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9966C2B-2E4B-2330-0D59-109AFC39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-169121"/>
            <a:ext cx="10871200" cy="863600"/>
          </a:xfrm>
        </p:spPr>
        <p:txBody>
          <a:bodyPr/>
          <a:lstStyle/>
          <a:p>
            <a:pPr algn="ctr"/>
            <a:r>
              <a:rPr lang="en-US" sz="4400" b="1" dirty="0">
                <a:latin typeface="Calibri Light(Headings)"/>
              </a:rPr>
              <a:t>State Machines</a:t>
            </a:r>
          </a:p>
        </p:txBody>
      </p:sp>
    </p:spTree>
    <p:extLst>
      <p:ext uri="{BB962C8B-B14F-4D97-AF65-F5344CB8AC3E}">
        <p14:creationId xmlns:p14="http://schemas.microsoft.com/office/powerpoint/2010/main" val="32949729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animBg="1" autoUpdateAnimBg="0"/>
      <p:bldP spid="81926" grpId="0" animBg="1" autoUpdateAnimBg="0"/>
      <p:bldP spid="81927" grpId="0" animBg="1" autoUpdateAnimBg="0"/>
      <p:bldP spid="81928" grpId="0" animBg="1" autoUpdateAnimBg="0"/>
      <p:bldP spid="81929" grpId="0" animBg="1" autoUpdateAnimBg="0"/>
      <p:bldP spid="81930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C67B294-5C79-1DB5-B56B-8DBC03592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Activity Diagrams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0B6F5E66-A43C-A6BA-82BA-79C4B9EB9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9600" y="1155700"/>
            <a:ext cx="8255000" cy="4800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An activity diagram is a special case of a state chart diagram.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states are activities (“functions”).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An activity diagram is useful to depict the workflow in a system.</a:t>
            </a:r>
          </a:p>
        </p:txBody>
      </p:sp>
      <p:sp>
        <p:nvSpPr>
          <p:cNvPr id="88068" name="Picture 5">
            <a:extLst>
              <a:ext uri="{FF2B5EF4-FFF2-40B4-BE49-F238E27FC236}">
                <a16:creationId xmlns:a16="http://schemas.microsoft.com/office/drawing/2014/main" id="{E39BA9BB-445F-BB84-7CD4-C90A1DACA7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40000" y="4141788"/>
            <a:ext cx="7632700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4717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6">
            <a:extLst>
              <a:ext uri="{FF2B5EF4-FFF2-40B4-BE49-F238E27FC236}">
                <a16:creationId xmlns:a16="http://schemas.microsoft.com/office/drawing/2014/main" id="{3BD6A6A1-C45B-CA7C-3863-094B48B77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3100" y="222250"/>
            <a:ext cx="8724900" cy="8636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Activity Diagrams can model Concurrency</a:t>
            </a:r>
          </a:p>
        </p:txBody>
      </p:sp>
      <p:sp>
        <p:nvSpPr>
          <p:cNvPr id="92163" name="Rectangle 7">
            <a:extLst>
              <a:ext uri="{FF2B5EF4-FFF2-40B4-BE49-F238E27FC236}">
                <a16:creationId xmlns:a16="http://schemas.microsoft.com/office/drawing/2014/main" id="{CBBA78E2-6D8B-44A8-BCD4-875DA28857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6600" y="1352550"/>
            <a:ext cx="8255000" cy="4800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Synchronization of multiple activities.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Splitting the flow of control into multiple threads.</a:t>
            </a:r>
          </a:p>
        </p:txBody>
      </p:sp>
      <p:sp>
        <p:nvSpPr>
          <p:cNvPr id="92164" name="Picture 8">
            <a:extLst>
              <a:ext uri="{FF2B5EF4-FFF2-40B4-BE49-F238E27FC236}">
                <a16:creationId xmlns:a16="http://schemas.microsoft.com/office/drawing/2014/main" id="{AF8DA204-0089-77C8-98C3-5D6E5E5CFB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38350" y="2882901"/>
            <a:ext cx="8210550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2165" name="AutoShape 9">
            <a:extLst>
              <a:ext uri="{FF2B5EF4-FFF2-40B4-BE49-F238E27FC236}">
                <a16:creationId xmlns:a16="http://schemas.microsoft.com/office/drawing/2014/main" id="{829758BC-CF2C-8F01-DB9B-DAD0D5A2C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600" y="3022600"/>
            <a:ext cx="2413000" cy="762000"/>
          </a:xfrm>
          <a:prstGeom prst="cloudCallout">
            <a:avLst>
              <a:gd name="adj1" fmla="val -47630"/>
              <a:gd name="adj2" fmla="val 122083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Synchronization</a:t>
            </a:r>
          </a:p>
        </p:txBody>
      </p:sp>
      <p:sp>
        <p:nvSpPr>
          <p:cNvPr id="92166" name="AutoShape 10">
            <a:extLst>
              <a:ext uri="{FF2B5EF4-FFF2-40B4-BE49-F238E27FC236}">
                <a16:creationId xmlns:a16="http://schemas.microsoft.com/office/drawing/2014/main" id="{F389D1C3-DE1C-2FDB-3349-CDC28726F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2946400"/>
            <a:ext cx="2438400" cy="698500"/>
          </a:xfrm>
          <a:prstGeom prst="cloudCallout">
            <a:avLst>
              <a:gd name="adj1" fmla="val 37370"/>
              <a:gd name="adj2" fmla="val 161593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Splitting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1063333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C84B0C19-64FD-DF0B-E860-8149E6397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ea typeface="ＭＳ Ｐゴシック" panose="020B0600070205080204" pitchFamily="34" charset="-128"/>
              </a:rPr>
              <a:t>Activity Diagrams: Grouping of Activities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0880EBB-71B4-8D07-68CC-9B60E8A66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Activities may be grouped into </a:t>
            </a:r>
            <a:r>
              <a:rPr lang="en-US" altLang="en-US" dirty="0" err="1">
                <a:solidFill>
                  <a:srgbClr val="FF3300"/>
                </a:solidFill>
                <a:ea typeface="ＭＳ Ｐゴシック" panose="020B0600070205080204" pitchFamily="34" charset="-128"/>
              </a:rPr>
              <a:t>swimlanes</a:t>
            </a:r>
            <a:r>
              <a:rPr lang="en-US" altLang="en-US" dirty="0">
                <a:ea typeface="ＭＳ Ｐゴシック" panose="020B0600070205080204" pitchFamily="34" charset="-128"/>
              </a:rPr>
              <a:t> to denote the object or subsystem that implements the activities.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94212" name="AutoShape 6">
            <a:extLst>
              <a:ext uri="{FF2B5EF4-FFF2-40B4-BE49-F238E27FC236}">
                <a16:creationId xmlns:a16="http://schemas.microsoft.com/office/drawing/2014/main" id="{BA81BEB4-006D-CBE4-91E3-7F5AF9898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038" y="3776663"/>
            <a:ext cx="1744662" cy="792162"/>
          </a:xfrm>
          <a:prstGeom prst="roundRect">
            <a:avLst>
              <a:gd name="adj" fmla="val 44991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13" name="Rectangle 7">
            <a:extLst>
              <a:ext uri="{FF2B5EF4-FFF2-40B4-BE49-F238E27FC236}">
                <a16:creationId xmlns:a16="http://schemas.microsoft.com/office/drawing/2014/main" id="{5FBB21F4-2E40-C911-1FD7-2E0916EF0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1" y="3965576"/>
            <a:ext cx="11255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Open Incident</a:t>
            </a:r>
            <a:endParaRPr lang="en-US" altLang="en-US" sz="2400" dirty="0"/>
          </a:p>
        </p:txBody>
      </p:sp>
      <p:sp>
        <p:nvSpPr>
          <p:cNvPr id="94215" name="AutoShape 9">
            <a:extLst>
              <a:ext uri="{FF2B5EF4-FFF2-40B4-BE49-F238E27FC236}">
                <a16:creationId xmlns:a16="http://schemas.microsoft.com/office/drawing/2014/main" id="{31A0884C-8D03-6CF3-22A2-CEA307DDD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4" y="2606675"/>
            <a:ext cx="1724025" cy="793750"/>
          </a:xfrm>
          <a:prstGeom prst="roundRect">
            <a:avLst>
              <a:gd name="adj" fmla="val 44898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16" name="Rectangle 10">
            <a:extLst>
              <a:ext uri="{FF2B5EF4-FFF2-40B4-BE49-F238E27FC236}">
                <a16:creationId xmlns:a16="http://schemas.microsoft.com/office/drawing/2014/main" id="{9F64911E-2208-A4EE-AD01-C7F0290F9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1" y="2774951"/>
            <a:ext cx="109696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Allocate</a:t>
            </a:r>
            <a:endParaRPr lang="en-US" altLang="en-US" sz="2400" dirty="0"/>
          </a:p>
        </p:txBody>
      </p:sp>
      <p:sp>
        <p:nvSpPr>
          <p:cNvPr id="94217" name="Rectangle 11">
            <a:extLst>
              <a:ext uri="{FF2B5EF4-FFF2-40B4-BE49-F238E27FC236}">
                <a16:creationId xmlns:a16="http://schemas.microsoft.com/office/drawing/2014/main" id="{E33A80F7-D2E2-F817-A36A-D3E71D971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528" y="2973389"/>
            <a:ext cx="11731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Resources</a:t>
            </a:r>
            <a:endParaRPr lang="en-US" altLang="en-US" sz="2400" dirty="0"/>
          </a:p>
        </p:txBody>
      </p:sp>
      <p:sp>
        <p:nvSpPr>
          <p:cNvPr id="94218" name="AutoShape 12">
            <a:extLst>
              <a:ext uri="{FF2B5EF4-FFF2-40B4-BE49-F238E27FC236}">
                <a16:creationId xmlns:a16="http://schemas.microsoft.com/office/drawing/2014/main" id="{FF320F89-C739-6236-C710-3760A0BFF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4" y="3776663"/>
            <a:ext cx="1724025" cy="792162"/>
          </a:xfrm>
          <a:prstGeom prst="roundRect">
            <a:avLst>
              <a:gd name="adj" fmla="val 44991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19" name="Rectangle 13">
            <a:extLst>
              <a:ext uri="{FF2B5EF4-FFF2-40B4-BE49-F238E27FC236}">
                <a16:creationId xmlns:a16="http://schemas.microsoft.com/office/drawing/2014/main" id="{54FFE667-8201-1E22-3F2B-1C775983D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476" y="3965576"/>
            <a:ext cx="12525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Coordinate</a:t>
            </a:r>
            <a:endParaRPr lang="en-US" altLang="en-US" sz="2400" dirty="0"/>
          </a:p>
        </p:txBody>
      </p:sp>
      <p:sp>
        <p:nvSpPr>
          <p:cNvPr id="94220" name="Rectangle 14">
            <a:extLst>
              <a:ext uri="{FF2B5EF4-FFF2-40B4-BE49-F238E27FC236}">
                <a16:creationId xmlns:a16="http://schemas.microsoft.com/office/drawing/2014/main" id="{C2FFF25D-B42E-25C4-55AD-77559B5ED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2" y="4162426"/>
            <a:ext cx="11445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Resources</a:t>
            </a:r>
            <a:endParaRPr lang="en-US" altLang="en-US" sz="2400" dirty="0"/>
          </a:p>
        </p:txBody>
      </p:sp>
      <p:sp>
        <p:nvSpPr>
          <p:cNvPr id="94221" name="AutoShape 15">
            <a:extLst>
              <a:ext uri="{FF2B5EF4-FFF2-40B4-BE49-F238E27FC236}">
                <a16:creationId xmlns:a16="http://schemas.microsoft.com/office/drawing/2014/main" id="{F6F7E3E3-47F2-4447-336F-5A564C836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4" y="4965700"/>
            <a:ext cx="1724025" cy="793750"/>
          </a:xfrm>
          <a:prstGeom prst="roundRect">
            <a:avLst>
              <a:gd name="adj" fmla="val 44898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22" name="Rectangle 16">
            <a:extLst>
              <a:ext uri="{FF2B5EF4-FFF2-40B4-BE49-F238E27FC236}">
                <a16:creationId xmlns:a16="http://schemas.microsoft.com/office/drawing/2014/main" id="{E86DF041-CE62-BC8E-A2D6-4BE0055D8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527" y="5133976"/>
            <a:ext cx="11255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Document</a:t>
            </a:r>
            <a:endParaRPr lang="en-US" altLang="en-US" sz="2400" dirty="0"/>
          </a:p>
        </p:txBody>
      </p:sp>
      <p:sp>
        <p:nvSpPr>
          <p:cNvPr id="94223" name="Rectangle 17">
            <a:extLst>
              <a:ext uri="{FF2B5EF4-FFF2-40B4-BE49-F238E27FC236}">
                <a16:creationId xmlns:a16="http://schemas.microsoft.com/office/drawing/2014/main" id="{BEF0B12B-FE19-49D8-14AB-286D59F49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1" y="5332414"/>
            <a:ext cx="109696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Incident</a:t>
            </a:r>
            <a:endParaRPr lang="en-US" altLang="en-US" sz="2400" dirty="0"/>
          </a:p>
        </p:txBody>
      </p:sp>
      <p:sp>
        <p:nvSpPr>
          <p:cNvPr id="94224" name="AutoShape 18">
            <a:extLst>
              <a:ext uri="{FF2B5EF4-FFF2-40B4-BE49-F238E27FC236}">
                <a16:creationId xmlns:a16="http://schemas.microsoft.com/office/drawing/2014/main" id="{8AE9A800-6011-4D14-CF26-140336DC9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801" y="3776663"/>
            <a:ext cx="1744663" cy="792162"/>
          </a:xfrm>
          <a:prstGeom prst="roundRect">
            <a:avLst>
              <a:gd name="adj" fmla="val 44991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25" name="Rectangle 19">
            <a:extLst>
              <a:ext uri="{FF2B5EF4-FFF2-40B4-BE49-F238E27FC236}">
                <a16:creationId xmlns:a16="http://schemas.microsoft.com/office/drawing/2014/main" id="{50720EEA-C279-4B18-0024-E699B3E76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9664" y="3965576"/>
            <a:ext cx="10620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Archive</a:t>
            </a:r>
            <a:endParaRPr lang="en-US" altLang="en-US" sz="2400"/>
          </a:p>
        </p:txBody>
      </p:sp>
      <p:sp>
        <p:nvSpPr>
          <p:cNvPr id="94226" name="Rectangle 20">
            <a:extLst>
              <a:ext uri="{FF2B5EF4-FFF2-40B4-BE49-F238E27FC236}">
                <a16:creationId xmlns:a16="http://schemas.microsoft.com/office/drawing/2014/main" id="{187BEC91-A9D1-11C4-5A9A-6FAB51BE7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4113" y="4162426"/>
            <a:ext cx="109220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Incident</a:t>
            </a:r>
            <a:endParaRPr lang="en-US" altLang="en-US" sz="2400" dirty="0"/>
          </a:p>
        </p:txBody>
      </p:sp>
      <p:sp>
        <p:nvSpPr>
          <p:cNvPr id="94227" name="Rectangle 21">
            <a:extLst>
              <a:ext uri="{FF2B5EF4-FFF2-40B4-BE49-F238E27FC236}">
                <a16:creationId xmlns:a16="http://schemas.microsoft.com/office/drawing/2014/main" id="{13F02784-D7CD-637F-0386-8793B9178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1" y="3797300"/>
            <a:ext cx="79375" cy="7318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28" name="Rectangle 22">
            <a:extLst>
              <a:ext uri="{FF2B5EF4-FFF2-40B4-BE49-F238E27FC236}">
                <a16:creationId xmlns:a16="http://schemas.microsoft.com/office/drawing/2014/main" id="{B8A075B6-23F4-39C7-F1E8-C2B931B46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1" y="3797301"/>
            <a:ext cx="98425" cy="75247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29" name="Rectangle 23">
            <a:extLst>
              <a:ext uri="{FF2B5EF4-FFF2-40B4-BE49-F238E27FC236}">
                <a16:creationId xmlns:a16="http://schemas.microsoft.com/office/drawing/2014/main" id="{A49DD543-F7D5-3E6A-61B0-D4561A3A8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489" y="3797300"/>
            <a:ext cx="79375" cy="7318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30" name="Rectangle 24">
            <a:extLst>
              <a:ext uri="{FF2B5EF4-FFF2-40B4-BE49-F238E27FC236}">
                <a16:creationId xmlns:a16="http://schemas.microsoft.com/office/drawing/2014/main" id="{D7D46945-F449-400C-9811-541E2BF8B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3797301"/>
            <a:ext cx="100012" cy="75247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31" name="Line 25">
            <a:extLst>
              <a:ext uri="{FF2B5EF4-FFF2-40B4-BE49-F238E27FC236}">
                <a16:creationId xmlns:a16="http://schemas.microsoft.com/office/drawing/2014/main" id="{675B7FBC-CB29-01BF-4A5D-806A467D0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3175" y="4152900"/>
            <a:ext cx="2174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2" name="Freeform 26">
            <a:extLst>
              <a:ext uri="{FF2B5EF4-FFF2-40B4-BE49-F238E27FC236}">
                <a16:creationId xmlns:a16="http://schemas.microsoft.com/office/drawing/2014/main" id="{F67C548C-F347-9A1C-9FF1-1C22126A6F4F}"/>
              </a:ext>
            </a:extLst>
          </p:cNvPr>
          <p:cNvSpPr>
            <a:spLocks/>
          </p:cNvSpPr>
          <p:nvPr/>
        </p:nvSpPr>
        <p:spPr bwMode="auto">
          <a:xfrm>
            <a:off x="5102225" y="4094163"/>
            <a:ext cx="198438" cy="119062"/>
          </a:xfrm>
          <a:custGeom>
            <a:avLst/>
            <a:gdLst>
              <a:gd name="T0" fmla="*/ 0 w 125"/>
              <a:gd name="T1" fmla="*/ 0 h 75"/>
              <a:gd name="T2" fmla="*/ 2147483646 w 125"/>
              <a:gd name="T3" fmla="*/ 2147483646 h 75"/>
              <a:gd name="T4" fmla="*/ 0 w 125"/>
              <a:gd name="T5" fmla="*/ 2147483646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7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3" name="Line 27">
            <a:extLst>
              <a:ext uri="{FF2B5EF4-FFF2-40B4-BE49-F238E27FC236}">
                <a16:creationId xmlns:a16="http://schemas.microsoft.com/office/drawing/2014/main" id="{E1313BF6-3E8D-8643-980C-A5E09736C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9425" y="4152900"/>
            <a:ext cx="793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4" name="Line 28">
            <a:extLst>
              <a:ext uri="{FF2B5EF4-FFF2-40B4-BE49-F238E27FC236}">
                <a16:creationId xmlns:a16="http://schemas.microsoft.com/office/drawing/2014/main" id="{D36EF521-5D76-A96A-0B09-DB5D421D4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173539"/>
            <a:ext cx="21748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5" name="Freeform 29">
            <a:extLst>
              <a:ext uri="{FF2B5EF4-FFF2-40B4-BE49-F238E27FC236}">
                <a16:creationId xmlns:a16="http://schemas.microsoft.com/office/drawing/2014/main" id="{D0AB6888-8422-E443-E267-19967EB2C81D}"/>
              </a:ext>
            </a:extLst>
          </p:cNvPr>
          <p:cNvSpPr>
            <a:spLocks/>
          </p:cNvSpPr>
          <p:nvPr/>
        </p:nvSpPr>
        <p:spPr bwMode="auto">
          <a:xfrm>
            <a:off x="7639050" y="4113213"/>
            <a:ext cx="198438" cy="119062"/>
          </a:xfrm>
          <a:custGeom>
            <a:avLst/>
            <a:gdLst>
              <a:gd name="T0" fmla="*/ 0 w 125"/>
              <a:gd name="T1" fmla="*/ 0 h 75"/>
              <a:gd name="T2" fmla="*/ 2147483646 w 125"/>
              <a:gd name="T3" fmla="*/ 2147483646 h 75"/>
              <a:gd name="T4" fmla="*/ 0 w 125"/>
              <a:gd name="T5" fmla="*/ 2147483646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8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6" name="Line 30">
            <a:extLst>
              <a:ext uri="{FF2B5EF4-FFF2-40B4-BE49-F238E27FC236}">
                <a16:creationId xmlns:a16="http://schemas.microsoft.com/office/drawing/2014/main" id="{827708D0-C2C7-7BAA-9C09-631D98B95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4376" y="4173539"/>
            <a:ext cx="5556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7" name="Line 31">
            <a:extLst>
              <a:ext uri="{FF2B5EF4-FFF2-40B4-BE49-F238E27FC236}">
                <a16:creationId xmlns:a16="http://schemas.microsoft.com/office/drawing/2014/main" id="{CB73A9CD-2780-169B-9692-CEE20D3BF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4152900"/>
            <a:ext cx="2174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8" name="Freeform 32">
            <a:extLst>
              <a:ext uri="{FF2B5EF4-FFF2-40B4-BE49-F238E27FC236}">
                <a16:creationId xmlns:a16="http://schemas.microsoft.com/office/drawing/2014/main" id="{EABA02C7-28C4-AC57-9B72-3A6C25D9AF7A}"/>
              </a:ext>
            </a:extLst>
          </p:cNvPr>
          <p:cNvSpPr>
            <a:spLocks/>
          </p:cNvSpPr>
          <p:nvPr/>
        </p:nvSpPr>
        <p:spPr bwMode="auto">
          <a:xfrm>
            <a:off x="3971925" y="4094163"/>
            <a:ext cx="198438" cy="119062"/>
          </a:xfrm>
          <a:custGeom>
            <a:avLst/>
            <a:gdLst>
              <a:gd name="T0" fmla="*/ 0 w 125"/>
              <a:gd name="T1" fmla="*/ 0 h 75"/>
              <a:gd name="T2" fmla="*/ 2147483646 w 125"/>
              <a:gd name="T3" fmla="*/ 2147483646 h 75"/>
              <a:gd name="T4" fmla="*/ 0 w 125"/>
              <a:gd name="T5" fmla="*/ 2147483646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7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39" name="Line 33">
            <a:extLst>
              <a:ext uri="{FF2B5EF4-FFF2-40B4-BE49-F238E27FC236}">
                <a16:creationId xmlns:a16="http://schemas.microsoft.com/office/drawing/2014/main" id="{6B73E7C9-96B5-723F-7B9C-95EC4D361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5063" y="4152900"/>
            <a:ext cx="27781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0" name="Line 34">
            <a:extLst>
              <a:ext uri="{FF2B5EF4-FFF2-40B4-BE49-F238E27FC236}">
                <a16:creationId xmlns:a16="http://schemas.microsoft.com/office/drawing/2014/main" id="{7EEBA3F6-97E9-B3DF-8810-6DE66AD99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4675" y="4173539"/>
            <a:ext cx="21748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1" name="Freeform 35">
            <a:extLst>
              <a:ext uri="{FF2B5EF4-FFF2-40B4-BE49-F238E27FC236}">
                <a16:creationId xmlns:a16="http://schemas.microsoft.com/office/drawing/2014/main" id="{66F5B2CE-58FD-FD06-A2B6-5BE95F56A799}"/>
              </a:ext>
            </a:extLst>
          </p:cNvPr>
          <p:cNvSpPr>
            <a:spLocks/>
          </p:cNvSpPr>
          <p:nvPr/>
        </p:nvSpPr>
        <p:spPr bwMode="auto">
          <a:xfrm>
            <a:off x="8215313" y="4113213"/>
            <a:ext cx="196850" cy="119062"/>
          </a:xfrm>
          <a:custGeom>
            <a:avLst/>
            <a:gdLst>
              <a:gd name="T0" fmla="*/ 0 w 124"/>
              <a:gd name="T1" fmla="*/ 0 h 75"/>
              <a:gd name="T2" fmla="*/ 2147483646 w 124"/>
              <a:gd name="T3" fmla="*/ 2147483646 h 75"/>
              <a:gd name="T4" fmla="*/ 0 w 124"/>
              <a:gd name="T5" fmla="*/ 2147483646 h 75"/>
              <a:gd name="T6" fmla="*/ 0 60000 65536"/>
              <a:gd name="T7" fmla="*/ 0 60000 65536"/>
              <a:gd name="T8" fmla="*/ 0 60000 65536"/>
              <a:gd name="T9" fmla="*/ 0 w 124"/>
              <a:gd name="T10" fmla="*/ 0 h 75"/>
              <a:gd name="T11" fmla="*/ 124 w 124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" h="75">
                <a:moveTo>
                  <a:pt x="0" y="0"/>
                </a:moveTo>
                <a:lnTo>
                  <a:pt x="124" y="38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2" name="Line 36">
            <a:extLst>
              <a:ext uri="{FF2B5EF4-FFF2-40B4-BE49-F238E27FC236}">
                <a16:creationId xmlns:a16="http://schemas.microsoft.com/office/drawing/2014/main" id="{5385B0A4-0342-0E02-502C-FDD623B8F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7813" y="4173539"/>
            <a:ext cx="29686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3" name="Line 37">
            <a:extLst>
              <a:ext uri="{FF2B5EF4-FFF2-40B4-BE49-F238E27FC236}">
                <a16:creationId xmlns:a16="http://schemas.microsoft.com/office/drawing/2014/main" id="{E0D7B468-66BA-5584-E02D-7A33874AB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2539" y="2984500"/>
            <a:ext cx="2190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4" name="Freeform 38">
            <a:extLst>
              <a:ext uri="{FF2B5EF4-FFF2-40B4-BE49-F238E27FC236}">
                <a16:creationId xmlns:a16="http://schemas.microsoft.com/office/drawing/2014/main" id="{841C617D-2F80-8188-00CD-70CA5F0B567B}"/>
              </a:ext>
            </a:extLst>
          </p:cNvPr>
          <p:cNvSpPr>
            <a:spLocks/>
          </p:cNvSpPr>
          <p:nvPr/>
        </p:nvSpPr>
        <p:spPr bwMode="auto">
          <a:xfrm>
            <a:off x="5083175" y="2924176"/>
            <a:ext cx="198438" cy="119063"/>
          </a:xfrm>
          <a:custGeom>
            <a:avLst/>
            <a:gdLst>
              <a:gd name="T0" fmla="*/ 0 w 125"/>
              <a:gd name="T1" fmla="*/ 0 h 75"/>
              <a:gd name="T2" fmla="*/ 2147483646 w 125"/>
              <a:gd name="T3" fmla="*/ 2147483646 h 75"/>
              <a:gd name="T4" fmla="*/ 0 w 125"/>
              <a:gd name="T5" fmla="*/ 2147483646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8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5" name="Freeform 39">
            <a:extLst>
              <a:ext uri="{FF2B5EF4-FFF2-40B4-BE49-F238E27FC236}">
                <a16:creationId xmlns:a16="http://schemas.microsoft.com/office/drawing/2014/main" id="{F1F92468-F8F9-A265-BB41-6E63B70D3DB0}"/>
              </a:ext>
            </a:extLst>
          </p:cNvPr>
          <p:cNvSpPr>
            <a:spLocks/>
          </p:cNvSpPr>
          <p:nvPr/>
        </p:nvSpPr>
        <p:spPr bwMode="auto">
          <a:xfrm>
            <a:off x="5062539" y="5283201"/>
            <a:ext cx="198437" cy="119063"/>
          </a:xfrm>
          <a:custGeom>
            <a:avLst/>
            <a:gdLst>
              <a:gd name="T0" fmla="*/ 0 w 125"/>
              <a:gd name="T1" fmla="*/ 0 h 75"/>
              <a:gd name="T2" fmla="*/ 2147483646 w 125"/>
              <a:gd name="T3" fmla="*/ 2147483646 h 75"/>
              <a:gd name="T4" fmla="*/ 0 w 125"/>
              <a:gd name="T5" fmla="*/ 2147483646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7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6" name="Freeform 40">
            <a:extLst>
              <a:ext uri="{FF2B5EF4-FFF2-40B4-BE49-F238E27FC236}">
                <a16:creationId xmlns:a16="http://schemas.microsoft.com/office/drawing/2014/main" id="{2B5AE940-BAA4-0580-FD39-6594B5C3B96A}"/>
              </a:ext>
            </a:extLst>
          </p:cNvPr>
          <p:cNvSpPr>
            <a:spLocks/>
          </p:cNvSpPr>
          <p:nvPr/>
        </p:nvSpPr>
        <p:spPr bwMode="auto">
          <a:xfrm>
            <a:off x="4805364" y="2984500"/>
            <a:ext cx="257175" cy="2357438"/>
          </a:xfrm>
          <a:custGeom>
            <a:avLst/>
            <a:gdLst>
              <a:gd name="T0" fmla="*/ 2147483646 w 162"/>
              <a:gd name="T1" fmla="*/ 0 h 1485"/>
              <a:gd name="T2" fmla="*/ 0 w 162"/>
              <a:gd name="T3" fmla="*/ 0 h 1485"/>
              <a:gd name="T4" fmla="*/ 0 w 162"/>
              <a:gd name="T5" fmla="*/ 2147483646 h 1485"/>
              <a:gd name="T6" fmla="*/ 2147483646 w 162"/>
              <a:gd name="T7" fmla="*/ 2147483646 h 1485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1485"/>
              <a:gd name="T14" fmla="*/ 162 w 162"/>
              <a:gd name="T15" fmla="*/ 1485 h 14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1485">
                <a:moveTo>
                  <a:pt x="162" y="0"/>
                </a:moveTo>
                <a:lnTo>
                  <a:pt x="0" y="0"/>
                </a:lnTo>
                <a:lnTo>
                  <a:pt x="0" y="1485"/>
                </a:lnTo>
                <a:lnTo>
                  <a:pt x="150" y="148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7" name="Freeform 41">
            <a:extLst>
              <a:ext uri="{FF2B5EF4-FFF2-40B4-BE49-F238E27FC236}">
                <a16:creationId xmlns:a16="http://schemas.microsoft.com/office/drawing/2014/main" id="{47BEBDA9-48E7-0991-2024-F27071B26866}"/>
              </a:ext>
            </a:extLst>
          </p:cNvPr>
          <p:cNvSpPr>
            <a:spLocks/>
          </p:cNvSpPr>
          <p:nvPr/>
        </p:nvSpPr>
        <p:spPr bwMode="auto">
          <a:xfrm>
            <a:off x="7005639" y="2963864"/>
            <a:ext cx="357187" cy="2378075"/>
          </a:xfrm>
          <a:custGeom>
            <a:avLst/>
            <a:gdLst>
              <a:gd name="T0" fmla="*/ 0 w 225"/>
              <a:gd name="T1" fmla="*/ 0 h 1498"/>
              <a:gd name="T2" fmla="*/ 2147483646 w 225"/>
              <a:gd name="T3" fmla="*/ 0 h 1498"/>
              <a:gd name="T4" fmla="*/ 2147483646 w 225"/>
              <a:gd name="T5" fmla="*/ 2147483646 h 1498"/>
              <a:gd name="T6" fmla="*/ 2147483646 w 225"/>
              <a:gd name="T7" fmla="*/ 2147483646 h 1498"/>
              <a:gd name="T8" fmla="*/ 0 60000 65536"/>
              <a:gd name="T9" fmla="*/ 0 60000 65536"/>
              <a:gd name="T10" fmla="*/ 0 60000 65536"/>
              <a:gd name="T11" fmla="*/ 0 60000 65536"/>
              <a:gd name="T12" fmla="*/ 0 w 225"/>
              <a:gd name="T13" fmla="*/ 0 h 1498"/>
              <a:gd name="T14" fmla="*/ 225 w 225"/>
              <a:gd name="T15" fmla="*/ 1498 h 14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5" h="1498">
                <a:moveTo>
                  <a:pt x="0" y="0"/>
                </a:moveTo>
                <a:lnTo>
                  <a:pt x="225" y="0"/>
                </a:lnTo>
                <a:lnTo>
                  <a:pt x="225" y="1498"/>
                </a:lnTo>
                <a:lnTo>
                  <a:pt x="12" y="149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8" name="Line 42">
            <a:extLst>
              <a:ext uri="{FF2B5EF4-FFF2-40B4-BE49-F238E27FC236}">
                <a16:creationId xmlns:a16="http://schemas.microsoft.com/office/drawing/2014/main" id="{BE28B9C0-C38A-1A33-7EA4-14EAD057C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3489" y="5341939"/>
            <a:ext cx="21748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94249" name="Rectangle 43">
            <a:extLst>
              <a:ext uri="{FF2B5EF4-FFF2-40B4-BE49-F238E27FC236}">
                <a16:creationId xmlns:a16="http://schemas.microsoft.com/office/drawing/2014/main" id="{4B11B530-FB20-4236-7C55-67E47045C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2495551"/>
            <a:ext cx="8721725" cy="22193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50" name="Rectangle 44">
            <a:extLst>
              <a:ext uri="{FF2B5EF4-FFF2-40B4-BE49-F238E27FC236}">
                <a16:creationId xmlns:a16="http://schemas.microsoft.com/office/drawing/2014/main" id="{1ECCD9B4-3264-4BB6-9068-37C4A7DA3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708525"/>
            <a:ext cx="8721725" cy="11493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sp>
        <p:nvSpPr>
          <p:cNvPr id="94251" name="Rectangle 45">
            <a:extLst>
              <a:ext uri="{FF2B5EF4-FFF2-40B4-BE49-F238E27FC236}">
                <a16:creationId xmlns:a16="http://schemas.microsoft.com/office/drawing/2014/main" id="{6490262C-9DF7-5C5E-BB31-2C11B9DE9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5425" y="2676526"/>
            <a:ext cx="12852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Dispatcher</a:t>
            </a:r>
            <a:endParaRPr lang="en-US" altLang="en-US" sz="2400" dirty="0"/>
          </a:p>
        </p:txBody>
      </p:sp>
      <p:sp>
        <p:nvSpPr>
          <p:cNvPr id="94252" name="Rectangle 46">
            <a:extLst>
              <a:ext uri="{FF2B5EF4-FFF2-40B4-BE49-F238E27FC236}">
                <a16:creationId xmlns:a16="http://schemas.microsoft.com/office/drawing/2014/main" id="{6C81FAB9-13F8-E2D3-7E0B-65C3E9DBE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5425" y="4837114"/>
            <a:ext cx="154715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000000"/>
                </a:solidFill>
                <a:latin typeface="Courier" charset="0"/>
              </a:rPr>
              <a:t>Field Officer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49156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L1_Introduc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553E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4C3700"/>
      </a:accent6>
      <a:hlink>
        <a:srgbClr val="3D5500"/>
      </a:hlink>
      <a:folHlink>
        <a:srgbClr val="005528"/>
      </a:folHlink>
    </a:clrScheme>
    <a:fontScheme name="L1_Introduction">
      <a:majorFont>
        <a:latin typeface="Century Gothic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rgbClr val="FF0000"/>
            </a:solidFill>
            <a:effectLst/>
            <a:latin typeface="Helvetica" pitchFamily="-108" charset="0"/>
          </a:defRPr>
        </a:defPPr>
      </a:lstStyle>
    </a:lnDef>
  </a:objectDefaults>
  <a:extraClrSchemeLst>
    <a:extraClrScheme>
      <a:clrScheme name="L1_Introdu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_Introduc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_Introduc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2442</Words>
  <Application>Microsoft Office PowerPoint</Application>
  <PresentationFormat>Widescreen</PresentationFormat>
  <Paragraphs>702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41</vt:i4>
      </vt:variant>
      <vt:variant>
        <vt:lpstr>Slide Titles</vt:lpstr>
      </vt:variant>
      <vt:variant>
        <vt:i4>48</vt:i4>
      </vt:variant>
    </vt:vector>
  </HeadingPairs>
  <TitlesOfParts>
    <vt:vector size="104" baseType="lpstr">
      <vt:lpstr>Calibri Body</vt:lpstr>
      <vt:lpstr>Calibri Light(Headings)</vt:lpstr>
      <vt:lpstr>Courier</vt:lpstr>
      <vt:lpstr>ＭＳ Ｐゴシック</vt:lpstr>
      <vt:lpstr>Palatino</vt:lpstr>
      <vt:lpstr>ヒラギノ角ゴ Pro W3</vt:lpstr>
      <vt:lpstr>Arial</vt:lpstr>
      <vt:lpstr>Calibri</vt:lpstr>
      <vt:lpstr>Calibri Light</vt:lpstr>
      <vt:lpstr>Century Gothic</vt:lpstr>
      <vt:lpstr>Helvetica</vt:lpstr>
      <vt:lpstr>Lucida Sans Typewriter</vt:lpstr>
      <vt:lpstr>Times</vt:lpstr>
      <vt:lpstr>Verdana</vt:lpstr>
      <vt:lpstr>Wingdings</vt:lpstr>
      <vt:lpstr>Office Theme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L1_Introduction</vt:lpstr>
      <vt:lpstr>Lecture - 2</vt:lpstr>
      <vt:lpstr>Introduction</vt:lpstr>
      <vt:lpstr>Introduction</vt:lpstr>
      <vt:lpstr>Introduction</vt:lpstr>
      <vt:lpstr>Use Case Diagrams</vt:lpstr>
      <vt:lpstr>Use Case Diagrams</vt:lpstr>
      <vt:lpstr>Actors</vt:lpstr>
      <vt:lpstr>Use Case</vt:lpstr>
      <vt:lpstr>Textual Use Case  Description Example</vt:lpstr>
      <vt:lpstr>Uses Cases can be related</vt:lpstr>
      <vt:lpstr>The &lt;&lt;extends&gt;&gt; Relationship</vt:lpstr>
      <vt:lpstr>The &lt;&lt;includes&gt;&gt; Relationship</vt:lpstr>
      <vt:lpstr>Use Case Diagrams</vt:lpstr>
      <vt:lpstr>Class Diagrams</vt:lpstr>
      <vt:lpstr>Class Diagrams</vt:lpstr>
      <vt:lpstr>Classes</vt:lpstr>
      <vt:lpstr>Instances</vt:lpstr>
      <vt:lpstr>Actor vs Class vs Object</vt:lpstr>
      <vt:lpstr>Associations</vt:lpstr>
      <vt:lpstr>1-to-1 and 1-to-many Associations</vt:lpstr>
      <vt:lpstr>Many-to-Many Associations </vt:lpstr>
      <vt:lpstr>From Problem Statement To  Object Model</vt:lpstr>
      <vt:lpstr>From Problem Statement to Code</vt:lpstr>
      <vt:lpstr>Aggregation</vt:lpstr>
      <vt:lpstr>Qualifiers</vt:lpstr>
      <vt:lpstr>Qualification: Another Example</vt:lpstr>
      <vt:lpstr>Inheritance</vt:lpstr>
      <vt:lpstr>Packages </vt:lpstr>
      <vt:lpstr>Object Modeling in Practice</vt:lpstr>
      <vt:lpstr>Object Modeling in Practice:  Brainstorming </vt:lpstr>
      <vt:lpstr>Object Modeling in Practice: More classes</vt:lpstr>
      <vt:lpstr>Object Modeling in Practice: Associations</vt:lpstr>
      <vt:lpstr>Practice Object Modeling: Find Taxonomies</vt:lpstr>
      <vt:lpstr>Practice Object Modeling: Simplify, Organize</vt:lpstr>
      <vt:lpstr>Class Diagrams</vt:lpstr>
      <vt:lpstr>Class Diagrams</vt:lpstr>
      <vt:lpstr>Sequence Diagrams</vt:lpstr>
      <vt:lpstr>Sequence Diagrams</vt:lpstr>
      <vt:lpstr>Sequence Diagrams can also model the Flow of Data </vt:lpstr>
      <vt:lpstr>Sequence Diagrams: Iteration &amp; Condition</vt:lpstr>
      <vt:lpstr>Creation and destruction</vt:lpstr>
      <vt:lpstr>Sequence Diagram Properties</vt:lpstr>
      <vt:lpstr>Sequence Diagrams</vt:lpstr>
      <vt:lpstr>State Machines</vt:lpstr>
      <vt:lpstr>State Machines</vt:lpstr>
      <vt:lpstr>Activity Diagrams</vt:lpstr>
      <vt:lpstr>Activity Diagrams can model Concurrency</vt:lpstr>
      <vt:lpstr>Activity Diagrams: Grouping of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- 3</dc:title>
  <dc:creator>Vasudevan Janarthanan</dc:creator>
  <cp:lastModifiedBy>Vasudevan Janarthanan</cp:lastModifiedBy>
  <cp:revision>15</cp:revision>
  <dcterms:created xsi:type="dcterms:W3CDTF">2023-02-06T13:48:29Z</dcterms:created>
  <dcterms:modified xsi:type="dcterms:W3CDTF">2025-01-28T09:24:33Z</dcterms:modified>
</cp:coreProperties>
</file>