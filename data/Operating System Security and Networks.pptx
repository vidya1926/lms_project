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4"/>
    <p:sldMasterId id="2147483674" r:id="rId5"/>
  </p:sldMasterIdLst>
  <p:notesMasterIdLst>
    <p:notesMasterId r:id="rId59"/>
  </p:notesMasterIdLst>
  <p:handoutMasterIdLst>
    <p:handoutMasterId r:id="rId60"/>
  </p:handoutMasterIdLst>
  <p:sldIdLst>
    <p:sldId id="545" r:id="rId6"/>
    <p:sldId id="470" r:id="rId7"/>
    <p:sldId id="452" r:id="rId8"/>
    <p:sldId id="494" r:id="rId9"/>
    <p:sldId id="506" r:id="rId10"/>
    <p:sldId id="495" r:id="rId11"/>
    <p:sldId id="453" r:id="rId12"/>
    <p:sldId id="498" r:id="rId13"/>
    <p:sldId id="499" r:id="rId14"/>
    <p:sldId id="500" r:id="rId15"/>
    <p:sldId id="430" r:id="rId16"/>
    <p:sldId id="462" r:id="rId17"/>
    <p:sldId id="472" r:id="rId18"/>
    <p:sldId id="507" r:id="rId19"/>
    <p:sldId id="508" r:id="rId20"/>
    <p:sldId id="509" r:id="rId21"/>
    <p:sldId id="473" r:id="rId22"/>
    <p:sldId id="510" r:id="rId23"/>
    <p:sldId id="474" r:id="rId24"/>
    <p:sldId id="511" r:id="rId25"/>
    <p:sldId id="448" r:id="rId26"/>
    <p:sldId id="475" r:id="rId27"/>
    <p:sldId id="513" r:id="rId28"/>
    <p:sldId id="512" r:id="rId29"/>
    <p:sldId id="514" r:id="rId30"/>
    <p:sldId id="476" r:id="rId31"/>
    <p:sldId id="515" r:id="rId32"/>
    <p:sldId id="516" r:id="rId33"/>
    <p:sldId id="517" r:id="rId34"/>
    <p:sldId id="518" r:id="rId35"/>
    <p:sldId id="519" r:id="rId36"/>
    <p:sldId id="449" r:id="rId37"/>
    <p:sldId id="477" r:id="rId38"/>
    <p:sldId id="520" r:id="rId39"/>
    <p:sldId id="521" r:id="rId40"/>
    <p:sldId id="447" r:id="rId41"/>
    <p:sldId id="522" r:id="rId42"/>
    <p:sldId id="523" r:id="rId43"/>
    <p:sldId id="524" r:id="rId44"/>
    <p:sldId id="525" r:id="rId45"/>
    <p:sldId id="464" r:id="rId46"/>
    <p:sldId id="530" r:id="rId47"/>
    <p:sldId id="531" r:id="rId48"/>
    <p:sldId id="532" r:id="rId49"/>
    <p:sldId id="533" r:id="rId50"/>
    <p:sldId id="534" r:id="rId51"/>
    <p:sldId id="465" r:id="rId52"/>
    <p:sldId id="535" r:id="rId53"/>
    <p:sldId id="536" r:id="rId54"/>
    <p:sldId id="538" r:id="rId55"/>
    <p:sldId id="541" r:id="rId56"/>
    <p:sldId id="542" r:id="rId57"/>
    <p:sldId id="290" r:id="rId58"/>
  </p:sldIdLst>
  <p:sldSz cx="9144000" cy="6858000" type="screen4x3"/>
  <p:notesSz cx="6858000" cy="9144000"/>
  <p:embeddedFontLst>
    <p:embeddedFont>
      <p:font typeface="Calibri" panose="020F0502020204030204" pitchFamily="34" charset="0"/>
      <p:regular r:id="rId61"/>
      <p:bold r:id="rId62"/>
      <p:italic r:id="rId63"/>
      <p:boldItalic r:id="rId64"/>
    </p:embeddedFont>
    <p:embeddedFont>
      <p:font typeface="Verdana" panose="020B0604030504040204" pitchFamily="34" charset="0"/>
      <p:regular r:id="rId65"/>
      <p:bold r:id="rId66"/>
      <p:italic r:id="rId67"/>
      <p:boldItalic r:id="rId6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imon, Nelson" initials="NS" lastIdx="4" clrIdx="6"/>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65B2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7" autoAdjust="0"/>
    <p:restoredTop sz="86395" autoAdjust="0"/>
  </p:normalViewPr>
  <p:slideViewPr>
    <p:cSldViewPr snapToGrid="0" snapToObjects="1">
      <p:cViewPr varScale="1">
        <p:scale>
          <a:sx n="97" d="100"/>
          <a:sy n="97" d="100"/>
        </p:scale>
        <p:origin x="1602" y="90"/>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88" d="100"/>
          <a:sy n="88" d="100"/>
        </p:scale>
        <p:origin x="3072" y="6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font" Target="fonts/font3.fntdata"/><Relationship Id="rId68" Type="http://schemas.openxmlformats.org/officeDocument/2006/relationships/font" Target="fonts/font8.fntdata"/><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font" Target="fonts/font6.fntdata"/><Relationship Id="rId5" Type="http://schemas.openxmlformats.org/officeDocument/2006/relationships/slideMaster" Target="slideMasters/slideMaster2.xml"/><Relationship Id="rId61" Type="http://schemas.openxmlformats.org/officeDocument/2006/relationships/font" Target="fonts/font1.fntdata"/><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font" Target="fonts/font4.fntdata"/><Relationship Id="rId69" Type="http://schemas.openxmlformats.org/officeDocument/2006/relationships/commentAuthors" Target="commentAuthor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notesMaster" Target="notesMasters/notesMaster1.xml"/><Relationship Id="rId67" Type="http://schemas.openxmlformats.org/officeDocument/2006/relationships/font" Target="fonts/font7.fntdata"/><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font" Target="fonts/font2.fntdata"/><Relationship Id="rId7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handoutMaster" Target="handoutMasters/handoutMaster1.xml"/><Relationship Id="rId65" Type="http://schemas.openxmlformats.org/officeDocument/2006/relationships/font" Target="fonts/font5.fntdata"/><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 Type="http://schemas.openxmlformats.org/officeDocument/2006/relationships/slide" Target="slides/slide2.xml"/><Relationship Id="rId71"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10/6/2025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Shape 19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en-US" sz="1200" b="0" i="0" u="none" strike="noStrike" kern="1200" cap="none" dirty="0">
                <a:solidFill>
                  <a:schemeClr val="dk1"/>
                </a:solidFill>
                <a:effectLst/>
                <a:latin typeface="Arial" panose="020B0604020202020204" pitchFamily="34" charset="0"/>
                <a:ea typeface="Arial"/>
                <a:cs typeface="Arial" panose="020B0604020202020204" pitchFamily="34" charset="0"/>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effectLst/>
                <a:latin typeface="Arial" panose="020B0604020202020204" pitchFamily="34" charset="0"/>
                <a:ea typeface="Arial"/>
                <a:cs typeface="Arial" panose="020B0604020202020204" pitchFamily="34" charset="0"/>
                <a:sym typeface="Arial"/>
              </a:rPr>
              <a:t>1) </a:t>
            </a:r>
            <a:r>
              <a:rPr lang="en-US" sz="1200" b="0" i="0" u="none" strike="noStrike" kern="1200" cap="none" dirty="0" err="1">
                <a:solidFill>
                  <a:schemeClr val="dk1"/>
                </a:solidFill>
                <a:effectLst/>
                <a:latin typeface="Arial" panose="020B0604020202020204" pitchFamily="34" charset="0"/>
                <a:ea typeface="Arial"/>
                <a:cs typeface="Arial" panose="020B0604020202020204" pitchFamily="34" charset="0"/>
                <a:sym typeface="Arial"/>
              </a:rPr>
              <a:t>MathType</a:t>
            </a:r>
            <a:r>
              <a:rPr lang="en-US" sz="1200" b="0" i="0" u="none" strike="noStrike" kern="1200" cap="none" dirty="0">
                <a:solidFill>
                  <a:schemeClr val="dk1"/>
                </a:solidFill>
                <a:effectLst/>
                <a:latin typeface="Arial" panose="020B0604020202020204" pitchFamily="34" charset="0"/>
                <a:ea typeface="Arial"/>
                <a:cs typeface="Arial" panose="020B0604020202020204" pitchFamily="34" charset="0"/>
                <a:sym typeface="Arial"/>
              </a:rPr>
              <a:t> Plugin</a:t>
            </a:r>
          </a:p>
          <a:p>
            <a:r>
              <a:rPr lang="en-US" sz="1200" b="0" i="0" u="none" strike="noStrike" kern="1200" cap="none" dirty="0">
                <a:solidFill>
                  <a:schemeClr val="dk1"/>
                </a:solidFill>
                <a:effectLst/>
                <a:latin typeface="Arial" panose="020B0604020202020204" pitchFamily="34" charset="0"/>
                <a:ea typeface="Arial"/>
                <a:cs typeface="Arial" panose="020B0604020202020204" pitchFamily="34" charset="0"/>
                <a:sym typeface="Arial"/>
              </a:rPr>
              <a:t>2) Math Player (free versions available)</a:t>
            </a:r>
          </a:p>
          <a:p>
            <a:r>
              <a:rPr lang="en-US" sz="1200" b="0" i="0" u="none" strike="noStrike" kern="1200" cap="none" dirty="0">
                <a:solidFill>
                  <a:schemeClr val="dk1"/>
                </a:solidFill>
                <a:effectLst/>
                <a:latin typeface="Arial" panose="020B0604020202020204" pitchFamily="34" charset="0"/>
                <a:ea typeface="Arial"/>
                <a:cs typeface="Arial" panose="020B0604020202020204" pitchFamily="34" charset="0"/>
                <a:sym typeface="Arial"/>
              </a:rPr>
              <a:t>3) NVDA Reader (free versions available)</a:t>
            </a:r>
          </a:p>
        </p:txBody>
      </p:sp>
      <p:sp>
        <p:nvSpPr>
          <p:cNvPr id="193" name="Shape 19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5392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Pct val="250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ct val="25000"/>
                <a:buFont typeface="Arial"/>
                <a:buNone/>
                <a:tabLst/>
                <a:defRPr/>
              </a:pPr>
              <a:t>53</a:t>
            </a:fld>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0497947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24"/>
        <p:cNvGrpSpPr/>
        <p:nvPr/>
      </p:nvGrpSpPr>
      <p:grpSpPr>
        <a:xfrm>
          <a:off x="0" y="0"/>
          <a:ext cx="0" cy="0"/>
          <a:chOff x="0" y="0"/>
          <a:chExt cx="0" cy="0"/>
        </a:xfrm>
      </p:grpSpPr>
      <p:sp>
        <p:nvSpPr>
          <p:cNvPr id="25" name="Shape 2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a:p>
        </p:txBody>
      </p:sp>
      <p:sp>
        <p:nvSpPr>
          <p:cNvPr id="26" name="Shape 26"/>
          <p:cNvSpPr txBox="1">
            <a:spLocks noGrp="1"/>
          </p:cNvSpPr>
          <p:nvPr>
            <p:ph type="body" idx="1" hasCustomPrompt="1"/>
          </p:nvPr>
        </p:nvSpPr>
        <p:spPr>
          <a:xfrm>
            <a:off x="457200" y="1495425"/>
            <a:ext cx="8229600" cy="4838699"/>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2400" b="0" i="0" u="none" strike="noStrike" cap="none">
                <a:solidFill>
                  <a:schemeClr val="dk1"/>
                </a:solidFill>
                <a:latin typeface="+mn-lt"/>
                <a:ea typeface="Arial"/>
                <a:cs typeface="Arial"/>
                <a:sym typeface="Arial"/>
              </a:defRPr>
            </a:lvl1pPr>
            <a:lvl2pPr marL="742950" marR="0" lvl="1" indent="-283464" algn="l" rtl="0">
              <a:spcBef>
                <a:spcPts val="600"/>
              </a:spcBef>
              <a:buClr>
                <a:srgbClr val="007FA3"/>
              </a:buClr>
              <a:buSzPct val="100000"/>
              <a:buFont typeface="Arial"/>
              <a:buChar char="–"/>
              <a:defRPr sz="2400" b="0" i="0" u="none" strike="noStrike" cap="none">
                <a:solidFill>
                  <a:schemeClr val="dk1"/>
                </a:solidFill>
                <a:latin typeface="+mn-lt"/>
                <a:ea typeface="Arial"/>
                <a:cs typeface="Arial"/>
                <a:sym typeface="Arial"/>
              </a:defRPr>
            </a:lvl2pPr>
            <a:lvl3pPr marL="1143000" marR="0" lvl="2" indent="-228600" algn="l" rtl="0">
              <a:spcBef>
                <a:spcPts val="600"/>
              </a:spcBef>
              <a:buClr>
                <a:srgbClr val="007FA3"/>
              </a:buClr>
              <a:buSzPct val="100000"/>
              <a:buFont typeface="Noto Sans Symbols"/>
              <a:buChar char="▪"/>
              <a:defRPr sz="2400" b="0" i="0" u="none" strike="noStrike" cap="none">
                <a:solidFill>
                  <a:schemeClr val="dk1"/>
                </a:solidFill>
                <a:latin typeface="+mn-lt"/>
                <a:ea typeface="Arial"/>
                <a:cs typeface="Arial"/>
                <a:sym typeface="Arial"/>
              </a:defRPr>
            </a:lvl3pPr>
            <a:lvl4pPr marL="1600200" marR="0" lvl="3" indent="-274320" algn="l" rtl="0">
              <a:spcBef>
                <a:spcPts val="600"/>
              </a:spcBef>
              <a:buClr>
                <a:srgbClr val="007FA3"/>
              </a:buClr>
              <a:buSzPct val="100000"/>
              <a:buFont typeface="Arial"/>
              <a:buChar char="–"/>
              <a:defRPr sz="2400" b="0" i="0" u="none" strike="noStrike" cap="none">
                <a:solidFill>
                  <a:schemeClr val="dk1"/>
                </a:solidFill>
                <a:latin typeface="+mn-lt"/>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pPr lvl="0"/>
            <a:r>
              <a:rPr lang="en-US" dirty="0"/>
              <a:t>First</a:t>
            </a:r>
          </a:p>
          <a:p>
            <a:pPr lvl="1"/>
            <a:r>
              <a:rPr lang="en-US" dirty="0"/>
              <a:t>Second</a:t>
            </a:r>
          </a:p>
          <a:p>
            <a:pPr lvl="2"/>
            <a:r>
              <a:rPr lang="en-US" dirty="0"/>
              <a:t>Third</a:t>
            </a:r>
          </a:p>
          <a:p>
            <a:pPr lvl="3"/>
            <a:r>
              <a:rPr lang="en-US" dirty="0"/>
              <a:t>Fourth</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7" name="Shape 16"/>
          <p:cNvSpPr txBox="1"/>
          <p:nvPr userDrawn="1"/>
        </p:nvSpPr>
        <p:spPr>
          <a:xfrm>
            <a:off x="1600200" y="6429344"/>
            <a:ext cx="7162799" cy="200054"/>
          </a:xfrm>
          <a:prstGeom prst="rect">
            <a:avLst/>
          </a:prstGeom>
          <a:noFill/>
          <a:ln>
            <a:noFill/>
          </a:ln>
        </p:spPr>
        <p:txBody>
          <a:bodyPr lIns="91425" tIns="45700" rIns="91425" bIns="45700" anchor="t"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2014</a:t>
            </a:r>
            <a:r>
              <a:rPr lang="en-US" altLang="en-US" sz="1200" b="0" baseline="0" dirty="0">
                <a:latin typeface="Verdana"/>
                <a:ea typeface="Verdana" panose="020B0604030504040204" pitchFamily="34" charset="0"/>
                <a:cs typeface="Verdana" panose="020B0604030504040204" pitchFamily="34" charset="0"/>
              </a:rPr>
              <a:t> </a:t>
            </a:r>
            <a:r>
              <a:rPr lang="en-US" altLang="en-US" sz="1200" b="0" dirty="0">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2192540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Shape 24"/>
        <p:cNvGrpSpPr/>
        <p:nvPr/>
      </p:nvGrpSpPr>
      <p:grpSpPr>
        <a:xfrm>
          <a:off x="0" y="0"/>
          <a:ext cx="0" cy="0"/>
          <a:chOff x="0" y="0"/>
          <a:chExt cx="0" cy="0"/>
        </a:xfrm>
      </p:grpSpPr>
      <p:sp>
        <p:nvSpPr>
          <p:cNvPr id="25" name="Shape 2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a:p>
        </p:txBody>
      </p:sp>
      <p:sp>
        <p:nvSpPr>
          <p:cNvPr id="26" name="Shape 26"/>
          <p:cNvSpPr txBox="1">
            <a:spLocks noGrp="1"/>
          </p:cNvSpPr>
          <p:nvPr>
            <p:ph type="body" idx="1" hasCustomPrompt="1"/>
          </p:nvPr>
        </p:nvSpPr>
        <p:spPr>
          <a:xfrm>
            <a:off x="457200" y="1495425"/>
            <a:ext cx="8229600" cy="90594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2400" b="0" i="0" u="none" strike="noStrike" cap="none">
                <a:solidFill>
                  <a:schemeClr val="dk1"/>
                </a:solidFill>
                <a:latin typeface="+mn-lt"/>
                <a:ea typeface="Arial"/>
                <a:cs typeface="Arial"/>
                <a:sym typeface="Arial"/>
              </a:defRPr>
            </a:lvl1pPr>
            <a:lvl2pPr marL="742950" marR="0" lvl="1" indent="-283464" algn="l" rtl="0">
              <a:spcBef>
                <a:spcPts val="600"/>
              </a:spcBef>
              <a:buClr>
                <a:srgbClr val="007FA3"/>
              </a:buClr>
              <a:buSzPct val="100000"/>
              <a:buFont typeface="Arial"/>
              <a:buChar char="–"/>
              <a:defRPr sz="2400" b="0" i="0" u="none" strike="noStrike" cap="none">
                <a:solidFill>
                  <a:schemeClr val="dk1"/>
                </a:solidFill>
                <a:latin typeface="+mn-lt"/>
                <a:ea typeface="Arial"/>
                <a:cs typeface="Arial"/>
                <a:sym typeface="Arial"/>
              </a:defRPr>
            </a:lvl2pPr>
            <a:lvl3pPr marL="1143000" marR="0" lvl="2" indent="-228600" algn="l" rtl="0">
              <a:spcBef>
                <a:spcPts val="600"/>
              </a:spcBef>
              <a:buClr>
                <a:srgbClr val="007FA3"/>
              </a:buClr>
              <a:buSzPct val="100000"/>
              <a:buFont typeface="Noto Sans Symbols"/>
              <a:buChar char="▪"/>
              <a:defRPr sz="2400" b="0" i="0" u="none" strike="noStrike" cap="none">
                <a:solidFill>
                  <a:schemeClr val="dk1"/>
                </a:solidFill>
                <a:latin typeface="+mn-lt"/>
                <a:ea typeface="Arial"/>
                <a:cs typeface="Arial"/>
                <a:sym typeface="Arial"/>
              </a:defRPr>
            </a:lvl3pPr>
            <a:lvl4pPr marL="1600200" marR="0" lvl="3" indent="-274320" algn="l" rtl="0">
              <a:spcBef>
                <a:spcPts val="600"/>
              </a:spcBef>
              <a:buClr>
                <a:srgbClr val="007FA3"/>
              </a:buClr>
              <a:buSzPct val="100000"/>
              <a:buFont typeface="Arial"/>
              <a:buChar char="–"/>
              <a:defRPr sz="2400" b="0" i="0" u="none" strike="noStrike" cap="none">
                <a:solidFill>
                  <a:schemeClr val="dk1"/>
                </a:solidFill>
                <a:latin typeface="+mn-lt"/>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pPr lvl="0"/>
            <a:r>
              <a:rPr lang="en-US" dirty="0"/>
              <a:t>First</a:t>
            </a:r>
          </a:p>
          <a:p>
            <a:pPr lvl="1"/>
            <a:r>
              <a:rPr lang="en-US" dirty="0"/>
              <a:t>Second</a:t>
            </a:r>
          </a:p>
          <a:p>
            <a:pPr lvl="2"/>
            <a:r>
              <a:rPr lang="en-US" dirty="0"/>
              <a:t>Third</a:t>
            </a:r>
          </a:p>
          <a:p>
            <a:pPr lvl="3"/>
            <a:r>
              <a:rPr lang="en-US" dirty="0"/>
              <a:t>Fourth</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7" name="Shape 16"/>
          <p:cNvSpPr txBox="1"/>
          <p:nvPr userDrawn="1"/>
        </p:nvSpPr>
        <p:spPr>
          <a:xfrm>
            <a:off x="1600200" y="6429344"/>
            <a:ext cx="7162799" cy="200054"/>
          </a:xfrm>
          <a:prstGeom prst="rect">
            <a:avLst/>
          </a:prstGeom>
          <a:noFill/>
          <a:ln>
            <a:noFill/>
          </a:ln>
        </p:spPr>
        <p:txBody>
          <a:bodyPr lIns="91425" tIns="45700" rIns="91425" bIns="45700" anchor="t"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2014</a:t>
            </a:r>
            <a:r>
              <a:rPr lang="en-US" altLang="en-US" sz="1200" b="0" baseline="0" dirty="0">
                <a:latin typeface="Verdana"/>
                <a:ea typeface="Verdana" panose="020B0604030504040204" pitchFamily="34" charset="0"/>
                <a:cs typeface="Verdana" panose="020B0604030504040204" pitchFamily="34" charset="0"/>
              </a:rPr>
              <a:t> </a:t>
            </a:r>
            <a:r>
              <a:rPr lang="en-US" altLang="en-US" sz="1200" b="0" dirty="0">
                <a:latin typeface="Verdana"/>
                <a:ea typeface="Verdana" panose="020B0604030504040204" pitchFamily="34" charset="0"/>
                <a:cs typeface="Verdana" panose="020B0604030504040204" pitchFamily="34" charset="0"/>
              </a:rPr>
              <a:t>Pearson Education, Inc. All Rights Reserved</a:t>
            </a:r>
          </a:p>
        </p:txBody>
      </p:sp>
      <p:sp>
        <p:nvSpPr>
          <p:cNvPr id="3" name="Content Placeholder 2"/>
          <p:cNvSpPr>
            <a:spLocks noGrp="1"/>
          </p:cNvSpPr>
          <p:nvPr>
            <p:ph sz="quarter" idx="13"/>
          </p:nvPr>
        </p:nvSpPr>
        <p:spPr>
          <a:xfrm>
            <a:off x="457200" y="2682875"/>
            <a:ext cx="8305800" cy="8715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14"/>
          </p:nvPr>
        </p:nvSpPr>
        <p:spPr>
          <a:xfrm>
            <a:off x="457200" y="3811588"/>
            <a:ext cx="8305800" cy="8366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p:cNvSpPr>
            <a:spLocks noGrp="1"/>
          </p:cNvSpPr>
          <p:nvPr>
            <p:ph sz="quarter" idx="15"/>
          </p:nvPr>
        </p:nvSpPr>
        <p:spPr>
          <a:xfrm>
            <a:off x="457200" y="4924425"/>
            <a:ext cx="8305800" cy="8874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34407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45076"/>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edit Master title style</a:t>
            </a:r>
            <a:endParaRPr dirty="0"/>
          </a:p>
        </p:txBody>
      </p:sp>
      <p:sp>
        <p:nvSpPr>
          <p:cNvPr id="55" name="Shape 55"/>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600" b="0" i="0" u="none" strike="noStrike" cap="none">
                <a:solidFill>
                  <a:schemeClr val="dk1"/>
                </a:solidFill>
                <a:latin typeface="+mn-lt"/>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pPr lvl="0"/>
            <a:r>
              <a:rPr lang="en-US" dirty="0"/>
              <a:t>Edit Master text styles</a:t>
            </a:r>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smtClean="0">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
        <p:nvSpPr>
          <p:cNvPr id="9" name="Shape 16"/>
          <p:cNvSpPr txBox="1"/>
          <p:nvPr userDrawn="1"/>
        </p:nvSpPr>
        <p:spPr>
          <a:xfrm>
            <a:off x="1600200" y="6429344"/>
            <a:ext cx="7162799" cy="200054"/>
          </a:xfrm>
          <a:prstGeom prst="rect">
            <a:avLst/>
          </a:prstGeom>
          <a:noFill/>
          <a:ln>
            <a:noFill/>
          </a:ln>
        </p:spPr>
        <p:txBody>
          <a:bodyPr lIns="91425" tIns="45700" rIns="91425" bIns="45700" anchor="t"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2014</a:t>
            </a:r>
            <a:r>
              <a:rPr lang="en-US" altLang="en-US" sz="1200" b="0" baseline="0" dirty="0">
                <a:latin typeface="Verdana"/>
                <a:ea typeface="Verdana" panose="020B0604030504040204" pitchFamily="34" charset="0"/>
                <a:cs typeface="Verdana" panose="020B0604030504040204" pitchFamily="34" charset="0"/>
              </a:rPr>
              <a:t> </a:t>
            </a:r>
            <a:r>
              <a:rPr lang="en-US" altLang="en-US" sz="1200" b="0" dirty="0">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2243847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lang="en-US" dirty="0"/>
          </a:p>
        </p:txBody>
      </p:sp>
      <p:sp>
        <p:nvSpPr>
          <p:cNvPr id="7" name="Text Placeholder 6"/>
          <p:cNvSpPr>
            <a:spLocks noGrp="1"/>
          </p:cNvSpPr>
          <p:nvPr>
            <p:ph type="body" sz="quarter" idx="12"/>
          </p:nvPr>
        </p:nvSpPr>
        <p:spPr>
          <a:xfrm>
            <a:off x="886759" y="5513948"/>
            <a:ext cx="7759700" cy="833437"/>
          </a:xfrm>
        </p:spPr>
        <p:txBody>
          <a:bodyPr>
            <a:noAutofit/>
          </a:bodyPr>
          <a:lstStyle>
            <a:lvl1pPr marL="0" indent="0" algn="ctr">
              <a:buNone/>
              <a:defRPr sz="2400"/>
            </a:lvl1pPr>
          </a:lstStyle>
          <a:p>
            <a:pPr lvl="0"/>
            <a:r>
              <a:rPr lang="en-US"/>
              <a:t>Click to edit Master text styles</a:t>
            </a:r>
          </a:p>
        </p:txBody>
      </p:sp>
      <p:sp>
        <p:nvSpPr>
          <p:cNvPr id="4" name="Footer Placeholder 3"/>
          <p:cNvSpPr>
            <a:spLocks noGrp="1"/>
          </p:cNvSpPr>
          <p:nvPr>
            <p:ph type="ftr" sz="quarter" idx="13"/>
          </p:nvPr>
        </p:nvSpPr>
        <p:spPr>
          <a:xfrm>
            <a:off x="215900" y="6492875"/>
            <a:ext cx="8672513" cy="365125"/>
          </a:xfrm>
        </p:spPr>
        <p:txBody>
          <a:bodyPr/>
          <a:lstStyle>
            <a:lvl1pPr>
              <a:defRPr/>
            </a:lvl1pPr>
          </a:lstStyle>
          <a:p>
            <a:pPr>
              <a:defRPr/>
            </a:pPr>
            <a:r>
              <a:rPr lang="en-US"/>
              <a:t>Tanenbaum &amp; Bo,Modern  Operating Systems:4th ed., (c) 2013 Prentice-Hall, Inc. All rights reserved. </a:t>
            </a:r>
          </a:p>
        </p:txBody>
      </p:sp>
    </p:spTree>
    <p:extLst>
      <p:ext uri="{BB962C8B-B14F-4D97-AF65-F5344CB8AC3E}">
        <p14:creationId xmlns:p14="http://schemas.microsoft.com/office/powerpoint/2010/main" val="1829699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ctr" rtl="0">
              <a:spcBef>
                <a:spcPts val="0"/>
              </a:spcBef>
              <a:buClr>
                <a:srgbClr val="007FA3"/>
              </a:buClr>
              <a:buFont typeface="Arial"/>
              <a:buNone/>
              <a:defRPr sz="3000" b="1" i="0" u="none" strike="noStrike" cap="none">
                <a:solidFill>
                  <a:schemeClr val="dk1"/>
                </a:solidFill>
                <a:latin typeface="+mn-lt"/>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dirty="0"/>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ctr" rtl="0">
              <a:spcBef>
                <a:spcPts val="0"/>
              </a:spcBef>
              <a:buClr>
                <a:srgbClr val="007FA3"/>
              </a:buClr>
              <a:buFont typeface="Arial"/>
              <a:buNone/>
              <a:defRPr sz="2200" b="0" i="0" u="none" strike="noStrike" cap="none">
                <a:solidFill>
                  <a:schemeClr val="dk1"/>
                </a:solidFill>
                <a:latin typeface="+mn-lt"/>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dirty="0"/>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284464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6" name="Shape 26"/>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2400" b="0" i="0" u="none" strike="noStrike" cap="none">
                <a:solidFill>
                  <a:schemeClr val="dk1"/>
                </a:solidFill>
                <a:latin typeface="+mn-lt"/>
                <a:ea typeface="Arial"/>
                <a:cs typeface="Arial"/>
                <a:sym typeface="Arial"/>
              </a:defRPr>
            </a:lvl1pPr>
            <a:lvl2pPr marL="741600" marR="0" lvl="1" indent="-284400" algn="l" rtl="0">
              <a:spcBef>
                <a:spcPts val="600"/>
              </a:spcBef>
              <a:buClr>
                <a:srgbClr val="007FA3"/>
              </a:buClr>
              <a:buSzPct val="100000"/>
              <a:buFont typeface="Arial"/>
              <a:buChar char="–"/>
              <a:defRPr sz="2400" b="0" i="0" u="none" strike="noStrike" cap="none">
                <a:solidFill>
                  <a:schemeClr val="dk1"/>
                </a:solidFill>
                <a:latin typeface="+mn-lt"/>
                <a:ea typeface="Arial"/>
                <a:cs typeface="Arial"/>
                <a:sym typeface="Arial"/>
              </a:defRPr>
            </a:lvl2pPr>
            <a:lvl3pPr marL="1143000" marR="0" lvl="2" indent="-228600" algn="l" rtl="0">
              <a:spcBef>
                <a:spcPts val="600"/>
              </a:spcBef>
              <a:buClr>
                <a:srgbClr val="007FA3"/>
              </a:buClr>
              <a:buSzPct val="100000"/>
              <a:buFont typeface="Noto Sans Symbols"/>
              <a:buChar char="▪"/>
              <a:defRPr sz="2400" b="0" i="0" u="none" strike="noStrike" cap="none">
                <a:solidFill>
                  <a:schemeClr val="dk1"/>
                </a:solidFill>
                <a:latin typeface="+mn-lt"/>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27" name="Shape 27"/>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7" name="Shape 16"/>
          <p:cNvSpPr txBox="1"/>
          <p:nvPr userDrawn="1"/>
        </p:nvSpPr>
        <p:spPr>
          <a:xfrm>
            <a:off x="1600200" y="6429344"/>
            <a:ext cx="7162799" cy="200054"/>
          </a:xfrm>
          <a:prstGeom prst="rect">
            <a:avLst/>
          </a:prstGeom>
          <a:noFill/>
          <a:ln>
            <a:noFill/>
          </a:ln>
        </p:spPr>
        <p:txBody>
          <a:bodyPr lIns="91425" tIns="45700" rIns="91425" bIns="45700" anchor="t"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2014 Pearson Education, Inc. All Rights Reserved</a:t>
            </a:r>
          </a:p>
        </p:txBody>
      </p:sp>
      <p:sp>
        <p:nvSpPr>
          <p:cNvPr id="8"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Tree>
    <p:extLst>
      <p:ext uri="{BB962C8B-B14F-4D97-AF65-F5344CB8AC3E}">
        <p14:creationId xmlns:p14="http://schemas.microsoft.com/office/powerpoint/2010/main" val="3819168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5Content">
    <p:spTree>
      <p:nvGrpSpPr>
        <p:cNvPr id="1" name="Shape 24"/>
        <p:cNvGrpSpPr/>
        <p:nvPr/>
      </p:nvGrpSpPr>
      <p:grpSpPr>
        <a:xfrm>
          <a:off x="0" y="0"/>
          <a:ext cx="0" cy="0"/>
          <a:chOff x="0" y="0"/>
          <a:chExt cx="0" cy="0"/>
        </a:xfrm>
      </p:grpSpPr>
      <p:sp>
        <p:nvSpPr>
          <p:cNvPr id="26" name="Shape 26"/>
          <p:cNvSpPr txBox="1">
            <a:spLocks noGrp="1"/>
          </p:cNvSpPr>
          <p:nvPr>
            <p:ph type="body" idx="1"/>
          </p:nvPr>
        </p:nvSpPr>
        <p:spPr>
          <a:xfrm>
            <a:off x="457200" y="1600200"/>
            <a:ext cx="8229600" cy="1262641"/>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2400" b="0" i="0" u="none" strike="noStrike" cap="none">
                <a:solidFill>
                  <a:schemeClr val="dk1"/>
                </a:solidFill>
                <a:latin typeface="+mn-lt"/>
                <a:ea typeface="Arial"/>
                <a:cs typeface="Arial"/>
                <a:sym typeface="Arial"/>
              </a:defRPr>
            </a:lvl1pPr>
            <a:lvl2pPr marL="741600" marR="0" lvl="1" indent="-284400" algn="l" rtl="0">
              <a:spcBef>
                <a:spcPts val="600"/>
              </a:spcBef>
              <a:buClr>
                <a:srgbClr val="007FA3"/>
              </a:buClr>
              <a:buSzPct val="100000"/>
              <a:buFont typeface="Arial"/>
              <a:buChar char="–"/>
              <a:defRPr sz="2400" b="0" i="0" u="none" strike="noStrike" cap="none">
                <a:solidFill>
                  <a:schemeClr val="dk1"/>
                </a:solidFill>
                <a:latin typeface="+mn-lt"/>
                <a:ea typeface="Arial"/>
                <a:cs typeface="Arial"/>
                <a:sym typeface="Arial"/>
              </a:defRPr>
            </a:lvl2pPr>
            <a:lvl3pPr marL="1143000" marR="0" lvl="2" indent="-228600" algn="l" rtl="0">
              <a:spcBef>
                <a:spcPts val="600"/>
              </a:spcBef>
              <a:buClr>
                <a:srgbClr val="007FA3"/>
              </a:buClr>
              <a:buSzPct val="100000"/>
              <a:buFont typeface="Noto Sans Symbols"/>
              <a:buChar char="▪"/>
              <a:defRPr sz="2400" b="0" i="0" u="none" strike="noStrike" cap="none">
                <a:solidFill>
                  <a:schemeClr val="dk1"/>
                </a:solidFill>
                <a:latin typeface="+mn-lt"/>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27" name="Shape 27"/>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7" name="Shape 16"/>
          <p:cNvSpPr txBox="1"/>
          <p:nvPr userDrawn="1"/>
        </p:nvSpPr>
        <p:spPr>
          <a:xfrm>
            <a:off x="1600200" y="6429344"/>
            <a:ext cx="7162799" cy="200054"/>
          </a:xfrm>
          <a:prstGeom prst="rect">
            <a:avLst/>
          </a:prstGeom>
          <a:noFill/>
          <a:ln>
            <a:noFill/>
          </a:ln>
        </p:spPr>
        <p:txBody>
          <a:bodyPr lIns="91425" tIns="45700" rIns="91425" bIns="45700" anchor="t"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2014 Pearson Education, Inc. All Rights Reserved</a:t>
            </a:r>
          </a:p>
        </p:txBody>
      </p:sp>
      <p:sp>
        <p:nvSpPr>
          <p:cNvPr id="8"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p:cNvSpPr>
            <a:spLocks noGrp="1"/>
          </p:cNvSpPr>
          <p:nvPr>
            <p:ph sz="quarter" idx="13"/>
          </p:nvPr>
        </p:nvSpPr>
        <p:spPr>
          <a:xfrm>
            <a:off x="457200" y="4420587"/>
            <a:ext cx="8229600" cy="12709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14"/>
          </p:nvPr>
        </p:nvSpPr>
        <p:spPr>
          <a:xfrm>
            <a:off x="457200" y="3025775"/>
            <a:ext cx="8229600" cy="5461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3"/>
          <p:cNvSpPr>
            <a:spLocks noGrp="1"/>
          </p:cNvSpPr>
          <p:nvPr>
            <p:ph sz="quarter" idx="15"/>
          </p:nvPr>
        </p:nvSpPr>
        <p:spPr>
          <a:xfrm>
            <a:off x="609600" y="3178175"/>
            <a:ext cx="8229600" cy="5461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p:cNvSpPr>
            <a:spLocks noGrp="1"/>
          </p:cNvSpPr>
          <p:nvPr>
            <p:ph sz="quarter" idx="16"/>
          </p:nvPr>
        </p:nvSpPr>
        <p:spPr>
          <a:xfrm>
            <a:off x="762000" y="3330575"/>
            <a:ext cx="8229600" cy="5461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64822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866791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txBox="1">
            <a:spLocks noGrp="1"/>
          </p:cNvSpPr>
          <p:nvPr>
            <p:ph type="body" idx="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10" name="Shape 16"/>
          <p:cNvSpPr txBox="1"/>
          <p:nvPr userDrawn="1"/>
        </p:nvSpPr>
        <p:spPr>
          <a:xfrm>
            <a:off x="1600200" y="6429344"/>
            <a:ext cx="7162799" cy="200054"/>
          </a:xfrm>
          <a:prstGeom prst="rect">
            <a:avLst/>
          </a:prstGeom>
          <a:noFill/>
          <a:ln>
            <a:noFill/>
          </a:ln>
        </p:spPr>
        <p:txBody>
          <a:bodyPr lIns="91425" tIns="45700" rIns="91425" bIns="45700" anchor="t"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2014 Pearson Education, Inc. All Rights Reserved</a:t>
            </a:r>
          </a:p>
        </p:txBody>
      </p:sp>
    </p:spTree>
    <p:extLst>
      <p:ext uri="{BB962C8B-B14F-4D97-AF65-F5344CB8AC3E}">
        <p14:creationId xmlns:p14="http://schemas.microsoft.com/office/powerpoint/2010/main" val="31760541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8" name="Shape 16"/>
          <p:cNvSpPr txBox="1"/>
          <p:nvPr userDrawn="1"/>
        </p:nvSpPr>
        <p:spPr>
          <a:xfrm>
            <a:off x="1600200" y="6429344"/>
            <a:ext cx="7162799" cy="200054"/>
          </a:xfrm>
          <a:prstGeom prst="rect">
            <a:avLst/>
          </a:prstGeom>
          <a:noFill/>
          <a:ln>
            <a:noFill/>
          </a:ln>
        </p:spPr>
        <p:txBody>
          <a:bodyPr lIns="91425" tIns="45700" rIns="91425" bIns="45700" anchor="t"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2014</a:t>
            </a:r>
            <a:r>
              <a:rPr lang="en-US" altLang="en-US" sz="1200" b="0" baseline="0" dirty="0">
                <a:latin typeface="Verdana"/>
                <a:ea typeface="Verdana" panose="020B0604030504040204" pitchFamily="34" charset="0"/>
                <a:cs typeface="Verdana" panose="020B0604030504040204" pitchFamily="34" charset="0"/>
              </a:rPr>
              <a:t> </a:t>
            </a:r>
            <a:r>
              <a:rPr lang="en-US" altLang="en-US" sz="1200" b="0" dirty="0">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15860623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Shape 74"/>
        <p:cNvGrpSpPr/>
        <p:nvPr/>
      </p:nvGrpSpPr>
      <p:grpSpPr>
        <a:xfrm>
          <a:off x="0" y="0"/>
          <a:ext cx="0" cy="0"/>
          <a:chOff x="0" y="0"/>
          <a:chExt cx="0" cy="0"/>
        </a:xfrm>
      </p:grpSpPr>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7" name="Shape 16"/>
          <p:cNvSpPr txBox="1"/>
          <p:nvPr userDrawn="1"/>
        </p:nvSpPr>
        <p:spPr>
          <a:xfrm>
            <a:off x="1600200" y="6429344"/>
            <a:ext cx="7162799" cy="200054"/>
          </a:xfrm>
          <a:prstGeom prst="rect">
            <a:avLst/>
          </a:prstGeom>
          <a:noFill/>
          <a:ln>
            <a:noFill/>
          </a:ln>
        </p:spPr>
        <p:txBody>
          <a:bodyPr lIns="91425" tIns="45700" rIns="91425" bIns="45700" anchor="t"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2014</a:t>
            </a:r>
            <a:r>
              <a:rPr lang="en-US" altLang="en-US" sz="1200" b="0" baseline="0" dirty="0">
                <a:latin typeface="Verdana"/>
                <a:ea typeface="Verdana" panose="020B0604030504040204" pitchFamily="34" charset="0"/>
                <a:cs typeface="Verdana" panose="020B0604030504040204" pitchFamily="34" charset="0"/>
              </a:rPr>
              <a:t> </a:t>
            </a:r>
            <a:r>
              <a:rPr lang="en-US" altLang="en-US" sz="1200" b="0" dirty="0">
                <a:latin typeface="Verdana"/>
                <a:ea typeface="Verdana" panose="020B0604030504040204" pitchFamily="34" charset="0"/>
                <a:cs typeface="Verdana" panose="020B0604030504040204" pitchFamily="34" charset="0"/>
              </a:rPr>
              <a:t>Pearson Education, Inc. All Rights Reserved</a:t>
            </a:r>
          </a:p>
        </p:txBody>
      </p:sp>
      <p:sp>
        <p:nvSpPr>
          <p:cNvPr id="8"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Tree>
    <p:extLst>
      <p:ext uri="{BB962C8B-B14F-4D97-AF65-F5344CB8AC3E}">
        <p14:creationId xmlns:p14="http://schemas.microsoft.com/office/powerpoint/2010/main" val="25290404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Shape 80"/>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1" name="Shape 8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2" name="Shape 8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
        <p:nvSpPr>
          <p:cNvPr id="6" name="Shape 16"/>
          <p:cNvSpPr txBox="1"/>
          <p:nvPr userDrawn="1"/>
        </p:nvSpPr>
        <p:spPr>
          <a:xfrm>
            <a:off x="1600200" y="6429344"/>
            <a:ext cx="7162799" cy="200054"/>
          </a:xfrm>
          <a:prstGeom prst="rect">
            <a:avLst/>
          </a:prstGeom>
          <a:noFill/>
          <a:ln>
            <a:noFill/>
          </a:ln>
        </p:spPr>
        <p:txBody>
          <a:bodyPr lIns="91425" tIns="45700" rIns="91425" bIns="45700" anchor="t"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2014</a:t>
            </a:r>
            <a:r>
              <a:rPr lang="en-US" altLang="en-US" sz="1200" b="0" baseline="0" dirty="0">
                <a:latin typeface="Verdana"/>
                <a:ea typeface="Verdana" panose="020B0604030504040204" pitchFamily="34" charset="0"/>
                <a:cs typeface="Verdana" panose="020B0604030504040204" pitchFamily="34" charset="0"/>
              </a:rPr>
              <a:t> </a:t>
            </a:r>
            <a:r>
              <a:rPr lang="en-US" altLang="en-US" sz="1200" b="0" dirty="0">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11822495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18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pic>
        <p:nvPicPr>
          <p:cNvPr id="17" name="Picture 1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01200" y="6477000"/>
            <a:ext cx="918000" cy="279915"/>
          </a:xfrm>
          <a:prstGeom prst="rect">
            <a:avLst/>
          </a:prstGeom>
        </p:spPr>
      </p:pic>
      <p:sp>
        <p:nvSpPr>
          <p:cNvPr id="3" name="Text Placeholder 2"/>
          <p:cNvSpPr>
            <a:spLocks noGrp="1"/>
          </p:cNvSpPr>
          <p:nvPr>
            <p:ph type="body" sz="quarter" idx="16"/>
          </p:nvPr>
        </p:nvSpPr>
        <p:spPr>
          <a:xfrm>
            <a:off x="3810000" y="6477000"/>
            <a:ext cx="5257800" cy="279400"/>
          </a:xfrm>
        </p:spPr>
        <p:txBody>
          <a:bodyPr/>
          <a:lstStyle>
            <a:lvl1pPr marL="0" indent="0">
              <a:buNone/>
              <a:defRPr sz="1200">
                <a:latin typeface="Verdana" panose="020B0604030504040204" pitchFamily="34" charset="0"/>
                <a:ea typeface="Verdana" panose="020B0604030504040204" pitchFamily="34" charset="0"/>
                <a:cs typeface="Verdana" panose="020B0604030504040204" pitchFamily="34" charset="0"/>
              </a:defRPr>
            </a:lvl1pPr>
          </a:lstStyle>
          <a:p>
            <a:pPr lvl="0"/>
            <a:endParaRPr lang="en-US" dirty="0"/>
          </a:p>
        </p:txBody>
      </p:sp>
    </p:spTree>
    <p:extLst>
      <p:ext uri="{BB962C8B-B14F-4D97-AF65-F5344CB8AC3E}">
        <p14:creationId xmlns:p14="http://schemas.microsoft.com/office/powerpoint/2010/main" val="4650931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lang="en-US" dirty="0"/>
          </a:p>
        </p:txBody>
      </p:sp>
      <p:sp>
        <p:nvSpPr>
          <p:cNvPr id="7" name="Text Placeholder 6"/>
          <p:cNvSpPr>
            <a:spLocks noGrp="1"/>
          </p:cNvSpPr>
          <p:nvPr>
            <p:ph type="body" sz="quarter" idx="12"/>
          </p:nvPr>
        </p:nvSpPr>
        <p:spPr>
          <a:xfrm>
            <a:off x="886759" y="5513948"/>
            <a:ext cx="7759700" cy="833437"/>
          </a:xfrm>
        </p:spPr>
        <p:txBody>
          <a:bodyPr>
            <a:noAutofit/>
          </a:bodyPr>
          <a:lstStyle>
            <a:lvl1pPr marL="0" indent="0" algn="ctr">
              <a:buNone/>
              <a:defRPr sz="2400"/>
            </a:lvl1pPr>
          </a:lstStyle>
          <a:p>
            <a:pPr lvl="0"/>
            <a:r>
              <a:rPr lang="en-US" dirty="0"/>
              <a:t>Click to edit Master text styles</a:t>
            </a:r>
          </a:p>
        </p:txBody>
      </p:sp>
      <p:sp>
        <p:nvSpPr>
          <p:cNvPr id="4" name="Footer Placeholder 3"/>
          <p:cNvSpPr>
            <a:spLocks noGrp="1"/>
          </p:cNvSpPr>
          <p:nvPr>
            <p:ph type="ftr" sz="quarter" idx="13"/>
          </p:nvPr>
        </p:nvSpPr>
        <p:spPr>
          <a:xfrm>
            <a:off x="215900" y="6492875"/>
            <a:ext cx="8672513" cy="365125"/>
          </a:xfrm>
        </p:spPr>
        <p:txBody>
          <a:bodyPr/>
          <a:lstStyle>
            <a:lvl1pPr>
              <a:defRPr/>
            </a:lvl1pPr>
          </a:lstStyle>
          <a:p>
            <a:pPr>
              <a:defRPr/>
            </a:pPr>
            <a:r>
              <a:rPr lang="en-US"/>
              <a:t>Tanenbaum &amp; Bo, Modern  Operating Systems:4th ed., (c) 2013 Prentice-Hall, Inc. All rights reserved. </a:t>
            </a:r>
          </a:p>
        </p:txBody>
      </p:sp>
    </p:spTree>
    <p:extLst>
      <p:ext uri="{BB962C8B-B14F-4D97-AF65-F5344CB8AC3E}">
        <p14:creationId xmlns:p14="http://schemas.microsoft.com/office/powerpoint/2010/main" val="171737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image" Target="../media/image1.png"/><Relationship Id="rId5" Type="http://schemas.openxmlformats.org/officeDocument/2006/relationships/slideLayout" Target="../slideLayouts/slideLayout10.xml"/><Relationship Id="rId10" Type="http://schemas.openxmlformats.org/officeDocument/2006/relationships/theme" Target="../theme/theme2.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US"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7">
            <a:alphaModFix/>
          </a:blip>
          <a:srcRect/>
          <a:stretch/>
        </p:blipFill>
        <p:spPr>
          <a:xfrm>
            <a:off x="443972" y="6429709"/>
            <a:ext cx="917999" cy="279914"/>
          </a:xfrm>
          <a:prstGeom prst="rect">
            <a:avLst/>
          </a:prstGeom>
          <a:noFill/>
          <a:ln>
            <a:noFill/>
          </a:ln>
        </p:spPr>
      </p:pic>
    </p:spTree>
    <p:extLst>
      <p:ext uri="{BB962C8B-B14F-4D97-AF65-F5344CB8AC3E}">
        <p14:creationId xmlns:p14="http://schemas.microsoft.com/office/powerpoint/2010/main" val="606228263"/>
      </p:ext>
    </p:extLst>
  </p:cSld>
  <p:clrMap bg1="lt1" tx1="dk1" bg2="dk2" tx2="lt2" accent1="accent1" accent2="accent2" accent3="accent3" accent4="accent4" accent5="accent5" accent6="accent6" hlink="hlink" folHlink="folHlink"/>
  <p:sldLayoutIdLst>
    <p:sldLayoutId id="2147483664" r:id="rId1"/>
    <p:sldLayoutId id="2147483688" r:id="rId2"/>
    <p:sldLayoutId id="2147483668" r:id="rId3"/>
    <p:sldLayoutId id="2147483686" r:id="rId4"/>
    <p:sldLayoutId id="2147483687" r:id="rId5"/>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11">
            <a:alphaModFix/>
          </a:blip>
          <a:srcRect/>
          <a:stretch/>
        </p:blipFill>
        <p:spPr>
          <a:xfrm>
            <a:off x="443972" y="6429709"/>
            <a:ext cx="917999" cy="279914"/>
          </a:xfrm>
          <a:prstGeom prst="rect">
            <a:avLst/>
          </a:prstGeom>
          <a:noFill/>
          <a:ln>
            <a:noFill/>
          </a:ln>
        </p:spPr>
      </p:pic>
    </p:spTree>
    <p:extLst>
      <p:ext uri="{BB962C8B-B14F-4D97-AF65-F5344CB8AC3E}">
        <p14:creationId xmlns:p14="http://schemas.microsoft.com/office/powerpoint/2010/main" val="2335180775"/>
      </p:ext>
    </p:extLst>
  </p:cSld>
  <p:clrMap bg1="lt1" tx1="dk1" bg2="dk2" tx2="lt2" accent1="accent1" accent2="accent2" accent3="accent3" accent4="accent4" accent5="accent5" accent6="accent6" hlink="hlink" folHlink="folHlink"/>
  <p:sldLayoutIdLst>
    <p:sldLayoutId id="2147483675" r:id="rId1"/>
    <p:sldLayoutId id="2147483685" r:id="rId2"/>
    <p:sldLayoutId id="2147483676" r:id="rId3"/>
    <p:sldLayoutId id="2147483678" r:id="rId4"/>
    <p:sldLayoutId id="2147483679" r:id="rId5"/>
    <p:sldLayoutId id="2147483680" r:id="rId6"/>
    <p:sldLayoutId id="2147483681" r:id="rId7"/>
    <p:sldLayoutId id="2147483682" r:id="rId8"/>
    <p:sldLayoutId id="2147483684"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28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4" Type="http://schemas.openxmlformats.org/officeDocument/2006/relationships/image" Target="../media/image15.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Title 1"/>
          <p:cNvSpPr txBox="1">
            <a:spLocks noGrp="1"/>
          </p:cNvSpPr>
          <p:nvPr>
            <p:ph type="title"/>
          </p:nvPr>
        </p:nvSpPr>
        <p:spPr/>
        <p:txBody>
          <a:bodyPr/>
          <a:lstStyle/>
          <a:p>
            <a:pPr lvl="0"/>
            <a:r>
              <a:rPr lang="en-US" dirty="0"/>
              <a:t>Modern Operating Systems</a:t>
            </a:r>
            <a:endParaRPr lang="en-US" dirty="0">
              <a:sym typeface="Times New Roman"/>
            </a:endParaRPr>
          </a:p>
        </p:txBody>
      </p:sp>
      <p:sp>
        <p:nvSpPr>
          <p:cNvPr id="196" name="Text Placeholder 2"/>
          <p:cNvSpPr txBox="1">
            <a:spLocks noGrp="1"/>
          </p:cNvSpPr>
          <p:nvPr>
            <p:ph type="body" idx="1"/>
          </p:nvPr>
        </p:nvSpPr>
        <p:spPr>
          <a:xfrm>
            <a:off x="457200" y="838199"/>
            <a:ext cx="8229600" cy="457200"/>
          </a:xfrm>
        </p:spPr>
        <p:txBody>
          <a:bodyPr/>
          <a:lstStyle/>
          <a:p>
            <a:r>
              <a:rPr lang="en-US" dirty="0"/>
              <a:t>Fourth Edition	</a:t>
            </a:r>
          </a:p>
        </p:txBody>
      </p:sp>
      <p:sp>
        <p:nvSpPr>
          <p:cNvPr id="199" name="Text Placeholder 4"/>
          <p:cNvSpPr txBox="1">
            <a:spLocks noGrp="1"/>
          </p:cNvSpPr>
          <p:nvPr>
            <p:ph type="body" idx="3"/>
          </p:nvPr>
        </p:nvSpPr>
        <p:spPr/>
        <p:txBody>
          <a:bodyPr/>
          <a:lstStyle/>
          <a:p>
            <a:r>
              <a:rPr lang="en-US" altLang="en-US" dirty="0"/>
              <a:t>Security and Networks</a:t>
            </a:r>
            <a:endParaRPr lang="en-US" dirty="0"/>
          </a:p>
        </p:txBody>
      </p:sp>
      <p:pic>
        <p:nvPicPr>
          <p:cNvPr id="7" name="Picture 5" descr="Front Cover: Modern Operating Systems Fourth Edition by Tanenbaum and Bos."/>
          <p:cNvPicPr>
            <a:picLocks noChangeAspect="1"/>
          </p:cNvPicPr>
          <p:nvPr/>
        </p:nvPicPr>
        <p:blipFill rotWithShape="1">
          <a:blip r:embed="rId3">
            <a:extLst>
              <a:ext uri="{28A0092B-C50C-407E-A947-70E740481C1C}">
                <a14:useLocalDpi xmlns:a14="http://schemas.microsoft.com/office/drawing/2010/main" val="0"/>
              </a:ext>
            </a:extLst>
          </a:blip>
          <a:srcRect l="873" t="1033"/>
          <a:stretch/>
        </p:blipFill>
        <p:spPr>
          <a:xfrm>
            <a:off x="759125" y="1515353"/>
            <a:ext cx="3372928" cy="4567154"/>
          </a:xfrm>
          <a:prstGeom prst="rect">
            <a:avLst/>
          </a:prstGeom>
        </p:spPr>
      </p:pic>
      <p:sp>
        <p:nvSpPr>
          <p:cNvPr id="5" name="Text Placeholder 6"/>
          <p:cNvSpPr>
            <a:spLocks noGrp="1"/>
          </p:cNvSpPr>
          <p:nvPr>
            <p:ph type="body" sz="quarter" idx="4294967295"/>
          </p:nvPr>
        </p:nvSpPr>
        <p:spPr>
          <a:xfrm>
            <a:off x="3260469" y="6384433"/>
            <a:ext cx="5502275" cy="231775"/>
          </a:xfrm>
        </p:spPr>
        <p:txBody>
          <a:bodyPr/>
          <a:lstStyle/>
          <a:p>
            <a:pPr marL="101600" lvl="0" indent="0" algn="r">
              <a:buNone/>
            </a:pPr>
            <a:r>
              <a:rPr lang="en-US" altLang="en-US" sz="1200" dirty="0">
                <a:latin typeface="Verdana" panose="020B0604030504040204" pitchFamily="34" charset="0"/>
                <a:ea typeface="Verdana" panose="020B0604030504040204" pitchFamily="34" charset="0"/>
                <a:cs typeface="Verdana" panose="020B0604030504040204" pitchFamily="34" charset="0"/>
              </a:rPr>
              <a:t>Copyright © 2014 Pearson Education, Inc. All Rights Reserved</a:t>
            </a:r>
          </a:p>
        </p:txBody>
      </p:sp>
      <p:sp>
        <p:nvSpPr>
          <p:cNvPr id="3" name="Text Placeholder 2">
            <a:extLst>
              <a:ext uri="{FF2B5EF4-FFF2-40B4-BE49-F238E27FC236}">
                <a16:creationId xmlns:a16="http://schemas.microsoft.com/office/drawing/2014/main" id="{2363C5CC-5DAA-4AAC-B63D-37425E1FF7CE}"/>
              </a:ext>
            </a:extLst>
          </p:cNvPr>
          <p:cNvSpPr>
            <a:spLocks noGrp="1"/>
          </p:cNvSpPr>
          <p:nvPr>
            <p:ph type="body" idx="2"/>
          </p:nvPr>
        </p:nvSpPr>
        <p:spPr/>
        <p:txBody>
          <a:bodyPr/>
          <a:lstStyle/>
          <a:p>
            <a:r>
              <a:rPr lang="en-US" dirty="0"/>
              <a:t>Operating System</a:t>
            </a:r>
          </a:p>
        </p:txBody>
      </p:sp>
    </p:spTree>
    <p:extLst>
      <p:ext uri="{BB962C8B-B14F-4D97-AF65-F5344CB8AC3E}">
        <p14:creationId xmlns:p14="http://schemas.microsoft.com/office/powerpoint/2010/main" val="3720050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Network Hardware Ethernet</a:t>
            </a:r>
            <a:endParaRPr lang="en-US" b="0" dirty="0"/>
          </a:p>
        </p:txBody>
      </p:sp>
      <p:pic>
        <p:nvPicPr>
          <p:cNvPr id="6" name="Picture 2" descr="A network hardware Ethernet. A, in classic Ethernet, a series of five computers connected to an Ethernet through vampire taps. B, in a switched Ethernet, a series of 6 computers are connected to a common switch which in turn is connected to the Ethern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750" y="1897367"/>
            <a:ext cx="7810500" cy="2886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 Placeholder 4"/>
          <p:cNvSpPr>
            <a:spLocks noGrp="1"/>
          </p:cNvSpPr>
          <p:nvPr>
            <p:ph type="body" idx="1"/>
          </p:nvPr>
        </p:nvSpPr>
        <p:spPr/>
        <p:txBody>
          <a:bodyPr/>
          <a:lstStyle/>
          <a:p>
            <a:r>
              <a:rPr lang="en-US" altLang="en-US" sz="1600" dirty="0">
                <a:latin typeface="+mn-lt"/>
              </a:rPr>
              <a:t>Figure 8-28. (a) Classic Ethernet. (b) Switched Ethernet.</a:t>
            </a:r>
          </a:p>
        </p:txBody>
      </p:sp>
    </p:spTree>
    <p:extLst>
      <p:ext uri="{BB962C8B-B14F-4D97-AF65-F5344CB8AC3E}">
        <p14:creationId xmlns:p14="http://schemas.microsoft.com/office/powerpoint/2010/main" val="1524927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Internet</a:t>
            </a:r>
            <a:endParaRPr lang="en-US" sz="1200" b="0" dirty="0"/>
          </a:p>
        </p:txBody>
      </p:sp>
      <p:pic>
        <p:nvPicPr>
          <p:cNvPr id="6" name="Picture 2" descr="A portion of an Internet. A backbone comprising of a network of high bandwidth fibers is connected to local router. Each medium bandwidth fiber has a separate regional router made of fiber or copper wire. The router from the regional network connects to the local router. The medium bandwidth fiber has a router at I S P, from which several A D S L lines to the home P C are drawn, to link with home P C. The local router has the host to Ethern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2935" y="1313484"/>
            <a:ext cx="6318130" cy="4054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 Placeholder 4"/>
          <p:cNvSpPr>
            <a:spLocks noGrp="1"/>
          </p:cNvSpPr>
          <p:nvPr>
            <p:ph type="body" idx="1"/>
          </p:nvPr>
        </p:nvSpPr>
        <p:spPr/>
        <p:txBody>
          <a:bodyPr/>
          <a:lstStyle/>
          <a:p>
            <a:r>
              <a:rPr lang="en-US" altLang="en-US" sz="1600" dirty="0">
                <a:latin typeface="+mn-lt"/>
              </a:rPr>
              <a:t>Figure 8-29. A portion of the Internet.</a:t>
            </a:r>
          </a:p>
        </p:txBody>
      </p:sp>
    </p:spTree>
    <p:extLst>
      <p:ext uri="{BB962C8B-B14F-4D97-AF65-F5344CB8AC3E}">
        <p14:creationId xmlns:p14="http://schemas.microsoft.com/office/powerpoint/2010/main" val="562553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altLang="en-US" dirty="0">
                <a:solidFill>
                  <a:schemeClr val="tx2"/>
                </a:solidFill>
              </a:rPr>
              <a:t>Network Services </a:t>
            </a:r>
            <a:r>
              <a:rPr lang="en-US" altLang="en-US" sz="2000" b="0" dirty="0">
                <a:solidFill>
                  <a:schemeClr val="tx2"/>
                </a:solidFill>
              </a:rPr>
              <a:t>(1 of 2)</a:t>
            </a:r>
          </a:p>
        </p:txBody>
      </p:sp>
      <p:sp>
        <p:nvSpPr>
          <p:cNvPr id="2" name="Text Placeholder 1"/>
          <p:cNvSpPr>
            <a:spLocks noGrp="1"/>
          </p:cNvSpPr>
          <p:nvPr>
            <p:ph type="body" idx="1"/>
          </p:nvPr>
        </p:nvSpPr>
        <p:spPr>
          <a:xfrm>
            <a:off x="457200" y="1600201"/>
            <a:ext cx="8229600" cy="1065362"/>
          </a:xfrm>
        </p:spPr>
        <p:txBody>
          <a:bodyPr/>
          <a:lstStyle/>
          <a:p>
            <a:pPr marL="0" indent="0">
              <a:buNone/>
            </a:pPr>
            <a:r>
              <a:rPr lang="en-US" altLang="en-US" dirty="0"/>
              <a:t>Six different types of network service.</a:t>
            </a:r>
          </a:p>
          <a:p>
            <a:pPr marL="0" indent="0">
              <a:buNone/>
            </a:pPr>
            <a:r>
              <a:rPr lang="en-US" altLang="en-US" dirty="0"/>
              <a:t>Connection Oriented</a:t>
            </a:r>
          </a:p>
        </p:txBody>
      </p:sp>
      <p:graphicFrame>
        <p:nvGraphicFramePr>
          <p:cNvPr id="3" name="Table 2"/>
          <p:cNvGraphicFramePr>
            <a:graphicFrameLocks noGrp="1"/>
          </p:cNvGraphicFramePr>
          <p:nvPr/>
        </p:nvGraphicFramePr>
        <p:xfrm>
          <a:off x="1104181" y="3022281"/>
          <a:ext cx="6935638" cy="1483360"/>
        </p:xfrm>
        <a:graphic>
          <a:graphicData uri="http://schemas.openxmlformats.org/drawingml/2006/table">
            <a:tbl>
              <a:tblPr firstRow="1" bandRow="1">
                <a:tableStyleId>{2D5ABB26-0587-4C30-8999-92F81FD0307C}</a:tableStyleId>
              </a:tblPr>
              <a:tblGrid>
                <a:gridCol w="3467819">
                  <a:extLst>
                    <a:ext uri="{9D8B030D-6E8A-4147-A177-3AD203B41FA5}">
                      <a16:colId xmlns:a16="http://schemas.microsoft.com/office/drawing/2014/main" val="3970182253"/>
                    </a:ext>
                  </a:extLst>
                </a:gridCol>
                <a:gridCol w="3467819">
                  <a:extLst>
                    <a:ext uri="{9D8B030D-6E8A-4147-A177-3AD203B41FA5}">
                      <a16:colId xmlns:a16="http://schemas.microsoft.com/office/drawing/2014/main" val="3064057976"/>
                    </a:ext>
                  </a:extLst>
                </a:gridCol>
              </a:tblGrid>
              <a:tr h="370840">
                <a:tc>
                  <a:txBody>
                    <a:bodyPr/>
                    <a:lstStyle/>
                    <a:p>
                      <a:r>
                        <a:rPr lang="en-US" sz="1800" b="1" dirty="0"/>
                        <a:t>Service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1" dirty="0"/>
                        <a:t>Example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4983778"/>
                  </a:ext>
                </a:extLst>
              </a:tr>
              <a:tr h="370840">
                <a:tc>
                  <a:txBody>
                    <a:bodyPr/>
                    <a:lstStyle/>
                    <a:p>
                      <a:r>
                        <a:rPr lang="en-US" sz="1800" dirty="0"/>
                        <a:t>Reliable message stream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Sequence of pages of a book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6687926"/>
                  </a:ext>
                </a:extLst>
              </a:tr>
              <a:tr h="370840">
                <a:tc>
                  <a:txBody>
                    <a:bodyPr/>
                    <a:lstStyle/>
                    <a:p>
                      <a:r>
                        <a:rPr lang="en-US" sz="1800" dirty="0"/>
                        <a:t>Reliable byte stream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Remote login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4188960"/>
                  </a:ext>
                </a:extLst>
              </a:tr>
              <a:tr h="370840">
                <a:tc>
                  <a:txBody>
                    <a:bodyPr/>
                    <a:lstStyle/>
                    <a:p>
                      <a:r>
                        <a:rPr lang="en-US" sz="1800" dirty="0"/>
                        <a:t>Unreliable Connection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Digitized voice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0938710"/>
                  </a:ext>
                </a:extLst>
              </a:tr>
            </a:tbl>
          </a:graphicData>
        </a:graphic>
      </p:graphicFrame>
    </p:spTree>
    <p:extLst>
      <p:ext uri="{BB962C8B-B14F-4D97-AF65-F5344CB8AC3E}">
        <p14:creationId xmlns:p14="http://schemas.microsoft.com/office/powerpoint/2010/main" val="232785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altLang="en-US" dirty="0">
                <a:solidFill>
                  <a:schemeClr val="tx2"/>
                </a:solidFill>
              </a:rPr>
              <a:t>Network Services </a:t>
            </a:r>
            <a:r>
              <a:rPr lang="en-US" altLang="en-US" sz="2000" b="0" dirty="0"/>
              <a:t>(2 of 2)</a:t>
            </a:r>
            <a:endParaRPr lang="en-US" altLang="en-US" dirty="0">
              <a:solidFill>
                <a:schemeClr val="tx2"/>
              </a:solidFill>
            </a:endParaRPr>
          </a:p>
        </p:txBody>
      </p:sp>
      <p:sp>
        <p:nvSpPr>
          <p:cNvPr id="2" name="Text Placeholder 1"/>
          <p:cNvSpPr>
            <a:spLocks noGrp="1"/>
          </p:cNvSpPr>
          <p:nvPr>
            <p:ph type="body" idx="1"/>
          </p:nvPr>
        </p:nvSpPr>
        <p:spPr>
          <a:xfrm>
            <a:off x="457200" y="1600201"/>
            <a:ext cx="8229600" cy="1065362"/>
          </a:xfrm>
        </p:spPr>
        <p:txBody>
          <a:bodyPr/>
          <a:lstStyle/>
          <a:p>
            <a:pPr marL="0" indent="0">
              <a:buNone/>
            </a:pPr>
            <a:r>
              <a:rPr lang="en-US" altLang="en-US" dirty="0"/>
              <a:t>Six different types of network service.</a:t>
            </a:r>
          </a:p>
          <a:p>
            <a:pPr marL="0" indent="0">
              <a:buNone/>
            </a:pPr>
            <a:r>
              <a:rPr lang="en-US" altLang="en-US" dirty="0"/>
              <a:t>Connectionless</a:t>
            </a:r>
          </a:p>
        </p:txBody>
      </p:sp>
      <p:graphicFrame>
        <p:nvGraphicFramePr>
          <p:cNvPr id="3" name="Table 2"/>
          <p:cNvGraphicFramePr>
            <a:graphicFrameLocks noGrp="1"/>
          </p:cNvGraphicFramePr>
          <p:nvPr/>
        </p:nvGraphicFramePr>
        <p:xfrm>
          <a:off x="1104181" y="3022281"/>
          <a:ext cx="6935638" cy="1483360"/>
        </p:xfrm>
        <a:graphic>
          <a:graphicData uri="http://schemas.openxmlformats.org/drawingml/2006/table">
            <a:tbl>
              <a:tblPr firstRow="1" bandRow="1">
                <a:tableStyleId>{2D5ABB26-0587-4C30-8999-92F81FD0307C}</a:tableStyleId>
              </a:tblPr>
              <a:tblGrid>
                <a:gridCol w="3467819">
                  <a:extLst>
                    <a:ext uri="{9D8B030D-6E8A-4147-A177-3AD203B41FA5}">
                      <a16:colId xmlns:a16="http://schemas.microsoft.com/office/drawing/2014/main" val="3970182253"/>
                    </a:ext>
                  </a:extLst>
                </a:gridCol>
                <a:gridCol w="3467819">
                  <a:extLst>
                    <a:ext uri="{9D8B030D-6E8A-4147-A177-3AD203B41FA5}">
                      <a16:colId xmlns:a16="http://schemas.microsoft.com/office/drawing/2014/main" val="3064057976"/>
                    </a:ext>
                  </a:extLst>
                </a:gridCol>
              </a:tblGrid>
              <a:tr h="370840">
                <a:tc>
                  <a:txBody>
                    <a:bodyPr/>
                    <a:lstStyle/>
                    <a:p>
                      <a:r>
                        <a:rPr lang="en-US" sz="1800" b="1" dirty="0"/>
                        <a:t>Service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1" dirty="0"/>
                        <a:t>Example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4983778"/>
                  </a:ext>
                </a:extLst>
              </a:tr>
              <a:tr h="370840">
                <a:tc>
                  <a:txBody>
                    <a:bodyPr/>
                    <a:lstStyle/>
                    <a:p>
                      <a:r>
                        <a:rPr lang="en-US" sz="1800" dirty="0"/>
                        <a:t>Unreliable datagram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Network test packets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6687926"/>
                  </a:ext>
                </a:extLst>
              </a:tr>
              <a:tr h="370840">
                <a:tc>
                  <a:txBody>
                    <a:bodyPr/>
                    <a:lstStyle/>
                    <a:p>
                      <a:r>
                        <a:rPr lang="en-US" sz="1800" dirty="0"/>
                        <a:t>Acknowledged datagram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Registered mails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4188960"/>
                  </a:ext>
                </a:extLst>
              </a:tr>
              <a:tr h="370840">
                <a:tc>
                  <a:txBody>
                    <a:bodyPr/>
                    <a:lstStyle/>
                    <a:p>
                      <a:r>
                        <a:rPr lang="en-US" sz="1800" dirty="0"/>
                        <a:t>Request-reply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Database query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0938710"/>
                  </a:ext>
                </a:extLst>
              </a:tr>
            </a:tbl>
          </a:graphicData>
        </a:graphic>
      </p:graphicFrame>
    </p:spTree>
    <p:extLst>
      <p:ext uri="{BB962C8B-B14F-4D97-AF65-F5344CB8AC3E}">
        <p14:creationId xmlns:p14="http://schemas.microsoft.com/office/powerpoint/2010/main" val="3090861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Network Protocols</a:t>
            </a:r>
            <a:endParaRPr lang="en-US" sz="1200" b="0" dirty="0"/>
          </a:p>
        </p:txBody>
      </p:sp>
      <p:pic>
        <p:nvPicPr>
          <p:cNvPr id="7" name="Picture 2" descr="The process of packet header accumulation. The host carries the message that is passed through the Ethernet to the Router, which sends it to the Internet which in turn is passed to the packet header. The packet header contains Ethernet 1 header, I P, T C P, and a message stored in it. Ethernet 1 header, I P, and T C P together are the message heade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075" y="1597330"/>
            <a:ext cx="7181850" cy="3486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 Placeholder 4"/>
          <p:cNvSpPr>
            <a:spLocks noGrp="1"/>
          </p:cNvSpPr>
          <p:nvPr>
            <p:ph type="body" idx="1"/>
          </p:nvPr>
        </p:nvSpPr>
        <p:spPr/>
        <p:txBody>
          <a:bodyPr/>
          <a:lstStyle/>
          <a:p>
            <a:r>
              <a:rPr lang="en-US" altLang="en-US" sz="1600" dirty="0">
                <a:latin typeface="+mn-lt"/>
              </a:rPr>
              <a:t>Figure 8-31. Accumulation of packet headers.</a:t>
            </a:r>
          </a:p>
        </p:txBody>
      </p:sp>
    </p:spTree>
    <p:extLst>
      <p:ext uri="{BB962C8B-B14F-4D97-AF65-F5344CB8AC3E}">
        <p14:creationId xmlns:p14="http://schemas.microsoft.com/office/powerpoint/2010/main" val="2130064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Document-Based Middleware </a:t>
            </a:r>
            <a:r>
              <a:rPr lang="en-US" altLang="en-US" sz="2000" b="0" dirty="0"/>
              <a:t>(2 of 3)</a:t>
            </a:r>
            <a:endParaRPr lang="en-US" sz="1200" b="0" dirty="0"/>
          </a:p>
        </p:txBody>
      </p:sp>
      <p:sp>
        <p:nvSpPr>
          <p:cNvPr id="3" name="Content Placeholder 2"/>
          <p:cNvSpPr>
            <a:spLocks noGrp="1"/>
          </p:cNvSpPr>
          <p:nvPr>
            <p:ph type="body" idx="1"/>
          </p:nvPr>
        </p:nvSpPr>
        <p:spPr>
          <a:xfrm>
            <a:off x="457200" y="1495425"/>
            <a:ext cx="8229600" cy="4925253"/>
          </a:xfrm>
        </p:spPr>
        <p:txBody>
          <a:bodyPr/>
          <a:lstStyle/>
          <a:p>
            <a:pPr marL="0" indent="0">
              <a:buFont typeface="Arial" charset="0"/>
              <a:buNone/>
              <a:defRPr/>
            </a:pPr>
            <a:r>
              <a:rPr lang="en-US" dirty="0"/>
              <a:t>For the browser to get the page </a:t>
            </a:r>
            <a:br>
              <a:rPr lang="en-US" dirty="0"/>
            </a:br>
            <a:r>
              <a:rPr lang="en-US" u="sng" dirty="0">
                <a:solidFill>
                  <a:srgbClr val="0070C0"/>
                </a:solidFill>
              </a:rPr>
              <a:t>http://www.minix3.org/getting-started/index.html</a:t>
            </a:r>
          </a:p>
          <a:p>
            <a:pPr marL="915336" lvl="1" indent="-429768">
              <a:buFont typeface="+mj-lt"/>
              <a:buAutoNum type="arabicPeriod"/>
              <a:defRPr/>
            </a:pPr>
            <a:r>
              <a:rPr lang="en-US" dirty="0"/>
              <a:t>Browser asks D</a:t>
            </a:r>
            <a:r>
              <a:rPr lang="en-US" sz="100" dirty="0"/>
              <a:t> </a:t>
            </a:r>
            <a:r>
              <a:rPr lang="en-US" dirty="0"/>
              <a:t>N</a:t>
            </a:r>
            <a:r>
              <a:rPr lang="en-US" sz="100" dirty="0"/>
              <a:t> </a:t>
            </a:r>
            <a:r>
              <a:rPr lang="en-US" dirty="0"/>
              <a:t>S for I</a:t>
            </a:r>
            <a:r>
              <a:rPr lang="en-US" sz="100" dirty="0"/>
              <a:t> </a:t>
            </a:r>
            <a:r>
              <a:rPr lang="en-US" dirty="0"/>
              <a:t>P address of </a:t>
            </a:r>
            <a:r>
              <a:rPr lang="en-US" u="sng" dirty="0">
                <a:solidFill>
                  <a:srgbClr val="0070C0"/>
                </a:solidFill>
              </a:rPr>
              <a:t>www.minix3.org</a:t>
            </a:r>
          </a:p>
          <a:p>
            <a:pPr marL="915336" lvl="1" indent="-429768">
              <a:buFont typeface="+mj-lt"/>
              <a:buAutoNum type="arabicPeriod"/>
              <a:defRPr/>
            </a:pPr>
            <a:r>
              <a:rPr lang="en-US" dirty="0"/>
              <a:t>D</a:t>
            </a:r>
            <a:r>
              <a:rPr lang="en-US" sz="100" dirty="0"/>
              <a:t> </a:t>
            </a:r>
            <a:r>
              <a:rPr lang="en-US" dirty="0"/>
              <a:t>N</a:t>
            </a:r>
            <a:r>
              <a:rPr lang="en-US" sz="100" dirty="0"/>
              <a:t> </a:t>
            </a:r>
            <a:r>
              <a:rPr lang="en-US" dirty="0"/>
              <a:t>S replies with 66.147.238.215</a:t>
            </a:r>
          </a:p>
          <a:p>
            <a:pPr marL="915336" lvl="1" indent="-429768">
              <a:buFont typeface="+mj-lt"/>
              <a:buAutoNum type="arabicPeriod"/>
              <a:defRPr/>
            </a:pPr>
            <a:r>
              <a:rPr lang="en-US" dirty="0"/>
              <a:t>Browser makes a T</a:t>
            </a:r>
            <a:r>
              <a:rPr lang="en-US" sz="100" dirty="0"/>
              <a:t> </a:t>
            </a:r>
            <a:r>
              <a:rPr lang="en-US" dirty="0"/>
              <a:t>C</a:t>
            </a:r>
            <a:r>
              <a:rPr lang="en-US" sz="100" dirty="0"/>
              <a:t> </a:t>
            </a:r>
            <a:r>
              <a:rPr lang="en-US" dirty="0"/>
              <a:t>P connection to port 80 on 66.147.238.215</a:t>
            </a:r>
          </a:p>
          <a:p>
            <a:pPr marL="915336" lvl="1" indent="-429768">
              <a:buFont typeface="+mj-lt"/>
              <a:buAutoNum type="arabicPeriod"/>
              <a:defRPr/>
            </a:pPr>
            <a:r>
              <a:rPr lang="en-US" dirty="0"/>
              <a:t>Browser sends a request asking for the file </a:t>
            </a:r>
            <a:br>
              <a:rPr lang="en-US" dirty="0"/>
            </a:br>
            <a:r>
              <a:rPr lang="en-US" u="sng" dirty="0">
                <a:solidFill>
                  <a:srgbClr val="0070C0"/>
                </a:solidFill>
              </a:rPr>
              <a:t>getting-started/index.html</a:t>
            </a:r>
          </a:p>
        </p:txBody>
      </p:sp>
    </p:spTree>
    <p:extLst>
      <p:ext uri="{BB962C8B-B14F-4D97-AF65-F5344CB8AC3E}">
        <p14:creationId xmlns:p14="http://schemas.microsoft.com/office/powerpoint/2010/main" val="360413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File-System-Based Middleware: Transfer Model</a:t>
            </a:r>
            <a:endParaRPr lang="en-US" b="0" dirty="0"/>
          </a:p>
        </p:txBody>
      </p:sp>
      <p:pic>
        <p:nvPicPr>
          <p:cNvPr id="7" name="Picture 2" descr="An upload download model contains a client and server. In A, the client fetches a file, then the accesses are done on the client. When client is done, the file is returned to the server. A copy of the old file is made along with the new file on the server. In B, the remote access model, the request runs from client to server and the reply is sent back to client, while the file stays on the serv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773542"/>
            <a:ext cx="8229600" cy="3133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 Placeholder 4"/>
          <p:cNvSpPr>
            <a:spLocks noGrp="1"/>
          </p:cNvSpPr>
          <p:nvPr>
            <p:ph type="body" idx="1"/>
          </p:nvPr>
        </p:nvSpPr>
        <p:spPr/>
        <p:txBody>
          <a:bodyPr/>
          <a:lstStyle/>
          <a:p>
            <a:r>
              <a:rPr lang="en-US" altLang="en-US" sz="1600" dirty="0">
                <a:latin typeface="+mn-lt"/>
              </a:rPr>
              <a:t>Figure 8-33. (a) The upload/download model. (b) The remote access model.</a:t>
            </a:r>
          </a:p>
        </p:txBody>
      </p:sp>
    </p:spTree>
    <p:extLst>
      <p:ext uri="{BB962C8B-B14F-4D97-AF65-F5344CB8AC3E}">
        <p14:creationId xmlns:p14="http://schemas.microsoft.com/office/powerpoint/2010/main" val="2994689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Directory Hierarchy</a:t>
            </a:r>
            <a:endParaRPr lang="en-US" b="0" dirty="0"/>
          </a:p>
        </p:txBody>
      </p:sp>
      <p:pic>
        <p:nvPicPr>
          <p:cNvPr id="6" name="Picture 2" descr="In A, file server 1, root A has 2 directories, B and C. Directory B has 2 files. File server 2, root D has 2 directories, E and F. Directory E has 2 files, and F has 3 files. In B, clients 1 and 2, Root has 2 file servers, A and D. File server A has 2 directories, B and C. Directory B has 2 files. File server D has 2 directories, E and F. Directory E has 2 files, and F has 3 files. In C, client 1, Root, has 2 file servers, A and D. File server A has 2 directories, B and C. Directory B has 2 files. File server D has 2 directories, E and F. Directory E has 2 files, and F has 3 files. Client 2, root, has file server A with 2 directories B and C. B has 2 files. C has another directory D, which contains 2 more directories, E and F. E has 2 files, and F has 3 fil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0781" y="1436992"/>
            <a:ext cx="4262437" cy="3806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 Placeholder 4"/>
          <p:cNvSpPr>
            <a:spLocks noGrp="1"/>
          </p:cNvSpPr>
          <p:nvPr>
            <p:ph type="body" idx="1"/>
          </p:nvPr>
        </p:nvSpPr>
        <p:spPr/>
        <p:txBody>
          <a:bodyPr/>
          <a:lstStyle/>
          <a:p>
            <a:r>
              <a:rPr lang="en-US" altLang="en-US" sz="1600" dirty="0">
                <a:latin typeface="+mn-lt"/>
              </a:rPr>
              <a:t>Figure 8-34. (a) Two file servers. The squares are directories and the circles are files. (b) A system in which all clients have the same view of the file system. (c) A system in which different clients may have different views of the file system.</a:t>
            </a:r>
          </a:p>
        </p:txBody>
      </p:sp>
    </p:spTree>
    <p:extLst>
      <p:ext uri="{BB962C8B-B14F-4D97-AF65-F5344CB8AC3E}">
        <p14:creationId xmlns:p14="http://schemas.microsoft.com/office/powerpoint/2010/main" val="3029519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Naming Transparency</a:t>
            </a:r>
            <a:endParaRPr lang="en-US" sz="1200" b="0" dirty="0"/>
          </a:p>
        </p:txBody>
      </p:sp>
      <p:sp>
        <p:nvSpPr>
          <p:cNvPr id="3" name="Content Placeholder 2"/>
          <p:cNvSpPr>
            <a:spLocks noGrp="1"/>
          </p:cNvSpPr>
          <p:nvPr>
            <p:ph type="body" idx="1"/>
          </p:nvPr>
        </p:nvSpPr>
        <p:spPr>
          <a:xfrm>
            <a:off x="457200" y="1495425"/>
            <a:ext cx="8229600" cy="4925253"/>
          </a:xfrm>
        </p:spPr>
        <p:txBody>
          <a:bodyPr/>
          <a:lstStyle/>
          <a:p>
            <a:pPr marL="0" indent="0">
              <a:buFont typeface="Arial" charset="0"/>
              <a:buNone/>
              <a:defRPr/>
            </a:pPr>
            <a:r>
              <a:rPr lang="en-US" dirty="0"/>
              <a:t>Common approaches to file and directory naming in a distributed system:</a:t>
            </a:r>
          </a:p>
          <a:p>
            <a:pPr marL="915336" lvl="1" indent="-429768">
              <a:buFont typeface="+mj-lt"/>
              <a:buAutoNum type="arabicPeriod"/>
              <a:defRPr/>
            </a:pPr>
            <a:r>
              <a:rPr lang="en-US" dirty="0"/>
              <a:t>Machine + path naming, such as </a:t>
            </a:r>
            <a:r>
              <a:rPr lang="en-US" u="sng" dirty="0">
                <a:solidFill>
                  <a:srgbClr val="0070C0"/>
                </a:solidFill>
              </a:rPr>
              <a:t>/machine/path or </a:t>
            </a:r>
            <a:r>
              <a:rPr lang="en-US" u="sng" dirty="0" err="1">
                <a:solidFill>
                  <a:srgbClr val="0070C0"/>
                </a:solidFill>
              </a:rPr>
              <a:t>machine:path</a:t>
            </a:r>
            <a:r>
              <a:rPr lang="en-US" u="sng" dirty="0">
                <a:solidFill>
                  <a:srgbClr val="0070C0"/>
                </a:solidFill>
              </a:rPr>
              <a:t>.</a:t>
            </a:r>
          </a:p>
          <a:p>
            <a:pPr marL="915336" lvl="1" indent="-429768">
              <a:buFont typeface="+mj-lt"/>
              <a:buAutoNum type="arabicPeriod"/>
              <a:defRPr/>
            </a:pPr>
            <a:r>
              <a:rPr lang="en-US" dirty="0"/>
              <a:t>Mounting remote file systems onto the local file hierarchy.</a:t>
            </a:r>
          </a:p>
          <a:p>
            <a:pPr marL="915336" lvl="1" indent="-429768">
              <a:buFont typeface="+mj-lt"/>
              <a:buAutoNum type="arabicPeriod"/>
              <a:defRPr/>
            </a:pPr>
            <a:r>
              <a:rPr lang="en-US" dirty="0"/>
              <a:t>A single name space that looks the same on all machines.</a:t>
            </a:r>
          </a:p>
        </p:txBody>
      </p:sp>
    </p:spTree>
    <p:extLst>
      <p:ext uri="{BB962C8B-B14F-4D97-AF65-F5344CB8AC3E}">
        <p14:creationId xmlns:p14="http://schemas.microsoft.com/office/powerpoint/2010/main" val="1869830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Security Environment Threats</a:t>
            </a:r>
            <a:endParaRPr lang="en-US" b="0" dirty="0"/>
          </a:p>
        </p:txBody>
      </p:sp>
      <p:sp>
        <p:nvSpPr>
          <p:cNvPr id="6" name="Text Placeholder 5"/>
          <p:cNvSpPr>
            <a:spLocks noGrp="1"/>
          </p:cNvSpPr>
          <p:nvPr>
            <p:ph type="body" idx="1"/>
          </p:nvPr>
        </p:nvSpPr>
        <p:spPr>
          <a:xfrm>
            <a:off x="457200" y="1495426"/>
            <a:ext cx="8229600" cy="480024"/>
          </a:xfrm>
        </p:spPr>
        <p:txBody>
          <a:bodyPr/>
          <a:lstStyle/>
          <a:p>
            <a:pPr marL="0" indent="0">
              <a:buNone/>
            </a:pPr>
            <a:r>
              <a:rPr lang="en-US" altLang="en-US" dirty="0"/>
              <a:t>Security goals and threats.</a:t>
            </a:r>
          </a:p>
        </p:txBody>
      </p:sp>
      <p:graphicFrame>
        <p:nvGraphicFramePr>
          <p:cNvPr id="3" name="Table 2"/>
          <p:cNvGraphicFramePr>
            <a:graphicFrameLocks noGrp="1"/>
          </p:cNvGraphicFramePr>
          <p:nvPr>
            <p:extLst>
              <p:ext uri="{D42A27DB-BD31-4B8C-83A1-F6EECF244321}">
                <p14:modId xmlns:p14="http://schemas.microsoft.com/office/powerpoint/2010/main" val="3085317566"/>
              </p:ext>
            </p:extLst>
          </p:nvPr>
        </p:nvGraphicFramePr>
        <p:xfrm>
          <a:off x="1590136" y="2941128"/>
          <a:ext cx="5963728" cy="1584960"/>
        </p:xfrm>
        <a:graphic>
          <a:graphicData uri="http://schemas.openxmlformats.org/drawingml/2006/table">
            <a:tbl>
              <a:tblPr firstRow="1" bandRow="1">
                <a:tableStyleId>{2D5ABB26-0587-4C30-8999-92F81FD0307C}</a:tableStyleId>
              </a:tblPr>
              <a:tblGrid>
                <a:gridCol w="1826479">
                  <a:extLst>
                    <a:ext uri="{9D8B030D-6E8A-4147-A177-3AD203B41FA5}">
                      <a16:colId xmlns:a16="http://schemas.microsoft.com/office/drawing/2014/main" val="1130442278"/>
                    </a:ext>
                  </a:extLst>
                </a:gridCol>
                <a:gridCol w="4137249">
                  <a:extLst>
                    <a:ext uri="{9D8B030D-6E8A-4147-A177-3AD203B41FA5}">
                      <a16:colId xmlns:a16="http://schemas.microsoft.com/office/drawing/2014/main" val="1064633620"/>
                    </a:ext>
                  </a:extLst>
                </a:gridCol>
              </a:tblGrid>
              <a:tr h="370840">
                <a:tc>
                  <a:txBody>
                    <a:bodyPr/>
                    <a:lstStyle/>
                    <a:p>
                      <a:r>
                        <a:rPr lang="en-US" sz="2000" b="1" dirty="0"/>
                        <a:t>Goal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Threat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5599478"/>
                  </a:ext>
                </a:extLst>
              </a:tr>
              <a:tr h="370840">
                <a:tc>
                  <a:txBody>
                    <a:bodyPr/>
                    <a:lstStyle/>
                    <a:p>
                      <a:r>
                        <a:rPr lang="en-US" sz="2000" dirty="0"/>
                        <a:t>Confidentiality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t>Exposure of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8173195"/>
                  </a:ext>
                </a:extLst>
              </a:tr>
              <a:tr h="370840">
                <a:tc>
                  <a:txBody>
                    <a:bodyPr/>
                    <a:lstStyle/>
                    <a:p>
                      <a:r>
                        <a:rPr lang="en-US" sz="2000" dirty="0"/>
                        <a:t>Integrity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t>Tampering with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7443995"/>
                  </a:ext>
                </a:extLst>
              </a:tr>
              <a:tr h="370840">
                <a:tc>
                  <a:txBody>
                    <a:bodyPr/>
                    <a:lstStyle/>
                    <a:p>
                      <a:r>
                        <a:rPr lang="en-US" sz="2000" dirty="0"/>
                        <a:t>Availability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t>Denial of service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8675564"/>
                  </a:ext>
                </a:extLst>
              </a:tr>
            </a:tbl>
          </a:graphicData>
        </a:graphic>
      </p:graphicFrame>
    </p:spTree>
    <p:extLst>
      <p:ext uri="{BB962C8B-B14F-4D97-AF65-F5344CB8AC3E}">
        <p14:creationId xmlns:p14="http://schemas.microsoft.com/office/powerpoint/2010/main" val="38082107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Can We Build Secure Systems?</a:t>
            </a:r>
            <a:endParaRPr lang="en-US" sz="2000" b="0" dirty="0"/>
          </a:p>
        </p:txBody>
      </p:sp>
      <p:sp>
        <p:nvSpPr>
          <p:cNvPr id="6" name="Text Placeholder 5"/>
          <p:cNvSpPr>
            <a:spLocks noGrp="1"/>
          </p:cNvSpPr>
          <p:nvPr>
            <p:ph type="body" idx="1"/>
          </p:nvPr>
        </p:nvSpPr>
        <p:spPr/>
        <p:txBody>
          <a:bodyPr/>
          <a:lstStyle/>
          <a:p>
            <a:pPr marL="0" indent="0">
              <a:buFont typeface="Arial" charset="0"/>
              <a:buNone/>
              <a:defRPr/>
            </a:pPr>
            <a:r>
              <a:rPr lang="en-US" dirty="0"/>
              <a:t>Two questions concerning security:</a:t>
            </a:r>
          </a:p>
          <a:p>
            <a:pPr marL="916686" lvl="1" indent="-429768">
              <a:buFont typeface="+mj-lt"/>
              <a:buAutoNum type="arabicPeriod"/>
              <a:defRPr/>
            </a:pPr>
            <a:r>
              <a:rPr lang="en-US" dirty="0"/>
              <a:t>Is it possible to build a secure computer system?</a:t>
            </a:r>
          </a:p>
          <a:p>
            <a:pPr marL="916686" lvl="1" indent="-429768">
              <a:buFont typeface="+mj-lt"/>
              <a:buAutoNum type="arabicPeriod"/>
              <a:defRPr/>
            </a:pPr>
            <a:r>
              <a:rPr lang="en-US" dirty="0"/>
              <a:t>If so, why is it not done?</a:t>
            </a:r>
          </a:p>
        </p:txBody>
      </p:sp>
    </p:spTree>
    <p:extLst>
      <p:ext uri="{BB962C8B-B14F-4D97-AF65-F5344CB8AC3E}">
        <p14:creationId xmlns:p14="http://schemas.microsoft.com/office/powerpoint/2010/main" val="7420187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Trusted Computing Base</a:t>
            </a:r>
            <a:endParaRPr lang="en-US" sz="900" b="0" dirty="0"/>
          </a:p>
        </p:txBody>
      </p:sp>
      <p:pic>
        <p:nvPicPr>
          <p:cNvPr id="7" name="Picture 2" descr="A reference monitor. The reference monitor contains a user space and a kernel space. A user process leads to an operating system kernel in the kernel space. All system calls go through the reference monitor of the trusted computing base for security checking. The trusted computing base is housed inside the operating system kerne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00" y="1668380"/>
            <a:ext cx="7239000" cy="3343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5"/>
          <p:cNvSpPr>
            <a:spLocks noGrp="1"/>
          </p:cNvSpPr>
          <p:nvPr>
            <p:ph type="body" idx="1"/>
          </p:nvPr>
        </p:nvSpPr>
        <p:spPr/>
        <p:txBody>
          <a:bodyPr/>
          <a:lstStyle/>
          <a:p>
            <a:r>
              <a:rPr lang="en-US" altLang="en-US" dirty="0"/>
              <a:t>Figure 9-2. A reference monitor.</a:t>
            </a:r>
          </a:p>
        </p:txBody>
      </p:sp>
    </p:spTree>
    <p:extLst>
      <p:ext uri="{BB962C8B-B14F-4D97-AF65-F5344CB8AC3E}">
        <p14:creationId xmlns:p14="http://schemas.microsoft.com/office/powerpoint/2010/main" val="24897003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Protection Domains </a:t>
            </a:r>
            <a:r>
              <a:rPr lang="en-US" altLang="en-US" sz="2000" b="0" dirty="0"/>
              <a:t>(1 of 3)</a:t>
            </a:r>
            <a:endParaRPr lang="en-US" sz="500" b="0" dirty="0"/>
          </a:p>
        </p:txBody>
      </p:sp>
      <p:pic>
        <p:nvPicPr>
          <p:cNvPr id="5" name="Picture 2" descr="Three protection domains. Domain 1 comprises of File 1 left bracket R right bracket and File 2 left bracket R W right bracket. Domain 2 and domain 3 share a common printer 1 left bracket W right bracket. Domain 2 comprises of File 1 left bracket R, W right bracket, File 4 left bracket R W X right bracket, and File 5 left bracket R W right bracket. Domain 3 comprises of File 6 left bracket R W X right bracket and Plotter 2 left bracket W right brack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588" y="2100263"/>
            <a:ext cx="8124825" cy="2657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5"/>
          <p:cNvSpPr>
            <a:spLocks noGrp="1"/>
          </p:cNvSpPr>
          <p:nvPr>
            <p:ph type="body" idx="1"/>
          </p:nvPr>
        </p:nvSpPr>
        <p:spPr/>
        <p:txBody>
          <a:bodyPr/>
          <a:lstStyle/>
          <a:p>
            <a:r>
              <a:rPr lang="en-US" altLang="en-US" dirty="0"/>
              <a:t>Figure 9-3. Three protection domains.</a:t>
            </a:r>
          </a:p>
        </p:txBody>
      </p:sp>
    </p:spTree>
    <p:extLst>
      <p:ext uri="{BB962C8B-B14F-4D97-AF65-F5344CB8AC3E}">
        <p14:creationId xmlns:p14="http://schemas.microsoft.com/office/powerpoint/2010/main" val="17426723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dirty="0">
                <a:solidFill>
                  <a:schemeClr val="tx2"/>
                </a:solidFill>
              </a:rPr>
              <a:t>Protection Domains </a:t>
            </a:r>
            <a:r>
              <a:rPr lang="en-US" altLang="en-US" sz="2000" b="0" dirty="0"/>
              <a:t>(2 of 3)</a:t>
            </a:r>
            <a:endParaRPr lang="en-US" altLang="en-US" dirty="0">
              <a:solidFill>
                <a:schemeClr val="tx2"/>
              </a:solidFill>
            </a:endParaRPr>
          </a:p>
        </p:txBody>
      </p:sp>
      <p:pic>
        <p:nvPicPr>
          <p:cNvPr id="18437" name="Picture 2" descr="A protection matrix with 3 rows and 8 columns. The rows have the following headings from top to bottom. Domain 1, Domain 2, and Domain 3. The columns are objects with the following headings from left to right. File 1, File 2, File 3, File 4, File 5, File 6, Printer 1, and Plotter 2. The row entries are as follows. Row 1. Read, Read Write, blank, blank, blank, blank, blank, blank. Row 2. blank, blank, Read, Read Write Execute, Read Write, blank, Write, blank. Row 3. blank, blank, blank, blank, blank, Read Write Execute, Write, Wri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512" y="2001755"/>
            <a:ext cx="8562975" cy="2676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 Placeholder 1"/>
          <p:cNvSpPr>
            <a:spLocks noGrp="1"/>
          </p:cNvSpPr>
          <p:nvPr>
            <p:ph type="body" idx="1"/>
          </p:nvPr>
        </p:nvSpPr>
        <p:spPr/>
        <p:txBody>
          <a:bodyPr/>
          <a:lstStyle/>
          <a:p>
            <a:r>
              <a:rPr lang="fr-FR" altLang="en-US" dirty="0"/>
              <a:t>Figure 9-4. A protection matrix.</a:t>
            </a:r>
            <a:endParaRPr lang="en-US" altLang="en-US" dirty="0"/>
          </a:p>
        </p:txBody>
      </p:sp>
    </p:spTree>
    <p:extLst>
      <p:ext uri="{BB962C8B-B14F-4D97-AF65-F5344CB8AC3E}">
        <p14:creationId xmlns:p14="http://schemas.microsoft.com/office/powerpoint/2010/main" val="13875470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ltLang="en-US" dirty="0"/>
              <a:t>Protection Domains </a:t>
            </a:r>
            <a:r>
              <a:rPr lang="en-US" altLang="en-US" sz="2000" b="0" dirty="0"/>
              <a:t>(3 of 3)</a:t>
            </a:r>
            <a:endParaRPr lang="en-US" altLang="en-US" dirty="0"/>
          </a:p>
        </p:txBody>
      </p:sp>
      <p:pic>
        <p:nvPicPr>
          <p:cNvPr id="19461" name="Picture 2" descr="A protection matrix with domains as objects has 3 rows and 11 columns. The rows have the following headings from top to bottom. Domain 1, Domain 2, and Domain 3. The columns are objects with the following headings from left to right. File 1, File 2, File 3, File 4, File 5, File 6, Printer 1, Plotter 2, Domain 1, Domain 2, Domain 3. The row entries are as follows. Row 1. Read, Read Write, blank, blank, blank, blank, blank, blank, blank, Enter, blank. Row 2. blank, blank, Read, Read Write Execute, Read Write, blank, Write, blank, blank, blank, blank. Row 3. blank, blank, blank, blank, blank, Read Write Execute, Write, Write, blank, blank, blan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525" y="2287505"/>
            <a:ext cx="8362950" cy="2105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 Placeholder 1"/>
          <p:cNvSpPr>
            <a:spLocks noGrp="1"/>
          </p:cNvSpPr>
          <p:nvPr>
            <p:ph type="body" idx="1"/>
          </p:nvPr>
        </p:nvSpPr>
        <p:spPr/>
        <p:txBody>
          <a:bodyPr/>
          <a:lstStyle/>
          <a:p>
            <a:r>
              <a:rPr lang="fr-FR" altLang="en-US" dirty="0"/>
              <a:t>Figure 9-5. A protection matrix </a:t>
            </a:r>
            <a:r>
              <a:rPr lang="fr-FR" altLang="en-US" dirty="0" err="1"/>
              <a:t>with</a:t>
            </a:r>
            <a:r>
              <a:rPr lang="fr-FR" altLang="en-US" dirty="0"/>
              <a:t> </a:t>
            </a:r>
            <a:r>
              <a:rPr lang="fr-FR" altLang="en-US" dirty="0" err="1"/>
              <a:t>domains</a:t>
            </a:r>
            <a:r>
              <a:rPr lang="fr-FR" altLang="en-US" dirty="0"/>
              <a:t> as </a:t>
            </a:r>
            <a:r>
              <a:rPr lang="fr-FR" altLang="en-US" dirty="0" err="1"/>
              <a:t>objects</a:t>
            </a:r>
            <a:r>
              <a:rPr lang="fr-FR" altLang="en-US" dirty="0"/>
              <a:t>.</a:t>
            </a:r>
            <a:endParaRPr lang="en-US" altLang="en-US" dirty="0"/>
          </a:p>
        </p:txBody>
      </p:sp>
    </p:spTree>
    <p:extLst>
      <p:ext uri="{BB962C8B-B14F-4D97-AF65-F5344CB8AC3E}">
        <p14:creationId xmlns:p14="http://schemas.microsoft.com/office/powerpoint/2010/main" val="25944688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Access Control Lists </a:t>
            </a:r>
            <a:r>
              <a:rPr lang="en-US" altLang="en-US" sz="2000" b="0" dirty="0"/>
              <a:t>(1 of 2)</a:t>
            </a:r>
            <a:endParaRPr lang="en-US" sz="900" b="0" dirty="0"/>
          </a:p>
        </p:txBody>
      </p:sp>
      <p:pic>
        <p:nvPicPr>
          <p:cNvPr id="5" name="Picture 2" descr="The use of access control lists to manage the file access. The user space contains three processes with owners A, B, and C. The owners are enclosed within the circles corresponding to the processes. The kernel space contains three files, F 1, F 2, and F 3. File F 1 has two entries in its access control lists, A colon R W semicolon B colon R. F 2 has three entries in its access control lists: A colon R semicolon B colon R W semicolon C colon R. F 3 has three entries in its access control lists: B colon R W X semicolon C colon R 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6287" y="1577892"/>
            <a:ext cx="7591425" cy="3524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5"/>
          <p:cNvSpPr>
            <a:spLocks noGrp="1"/>
          </p:cNvSpPr>
          <p:nvPr>
            <p:ph type="body" idx="1"/>
          </p:nvPr>
        </p:nvSpPr>
        <p:spPr/>
        <p:txBody>
          <a:bodyPr/>
          <a:lstStyle/>
          <a:p>
            <a:r>
              <a:rPr lang="en-US" altLang="en-US" dirty="0"/>
              <a:t>Figure 9-6. Use of access control lists to manage file access.</a:t>
            </a:r>
          </a:p>
        </p:txBody>
      </p:sp>
    </p:spTree>
    <p:extLst>
      <p:ext uri="{BB962C8B-B14F-4D97-AF65-F5344CB8AC3E}">
        <p14:creationId xmlns:p14="http://schemas.microsoft.com/office/powerpoint/2010/main" val="16014802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Access Control Lists </a:t>
            </a:r>
            <a:r>
              <a:rPr lang="en-US" altLang="en-US" sz="2000" b="0" dirty="0"/>
              <a:t>(2 of 2)</a:t>
            </a:r>
            <a:endParaRPr lang="en-US" sz="900" b="0" dirty="0"/>
          </a:p>
        </p:txBody>
      </p:sp>
      <p:sp>
        <p:nvSpPr>
          <p:cNvPr id="6" name="Text Placeholder 5"/>
          <p:cNvSpPr>
            <a:spLocks noGrp="1"/>
          </p:cNvSpPr>
          <p:nvPr>
            <p:ph type="body" idx="1"/>
          </p:nvPr>
        </p:nvSpPr>
        <p:spPr>
          <a:xfrm>
            <a:off x="457200" y="1495426"/>
            <a:ext cx="8229600" cy="480024"/>
          </a:xfrm>
        </p:spPr>
        <p:txBody>
          <a:bodyPr/>
          <a:lstStyle/>
          <a:p>
            <a:pPr marL="0" indent="0">
              <a:buNone/>
            </a:pPr>
            <a:r>
              <a:rPr lang="en-US" altLang="en-US" dirty="0"/>
              <a:t>Use of access control lists to manage file access.</a:t>
            </a:r>
          </a:p>
        </p:txBody>
      </p:sp>
      <p:graphicFrame>
        <p:nvGraphicFramePr>
          <p:cNvPr id="3" name="Table 2"/>
          <p:cNvGraphicFramePr>
            <a:graphicFrameLocks noGrp="1"/>
          </p:cNvGraphicFramePr>
          <p:nvPr>
            <p:extLst>
              <p:ext uri="{D42A27DB-BD31-4B8C-83A1-F6EECF244321}">
                <p14:modId xmlns:p14="http://schemas.microsoft.com/office/powerpoint/2010/main" val="3640278167"/>
              </p:ext>
            </p:extLst>
          </p:nvPr>
        </p:nvGraphicFramePr>
        <p:xfrm>
          <a:off x="1283898" y="3106756"/>
          <a:ext cx="6576204" cy="1188720"/>
        </p:xfrm>
        <a:graphic>
          <a:graphicData uri="http://schemas.openxmlformats.org/drawingml/2006/table">
            <a:tbl>
              <a:tblPr firstRow="1" bandRow="1">
                <a:tableStyleId>{2D5ABB26-0587-4C30-8999-92F81FD0307C}</a:tableStyleId>
              </a:tblPr>
              <a:tblGrid>
                <a:gridCol w="2106246">
                  <a:extLst>
                    <a:ext uri="{9D8B030D-6E8A-4147-A177-3AD203B41FA5}">
                      <a16:colId xmlns:a16="http://schemas.microsoft.com/office/drawing/2014/main" val="1523500218"/>
                    </a:ext>
                  </a:extLst>
                </a:gridCol>
                <a:gridCol w="4469958">
                  <a:extLst>
                    <a:ext uri="{9D8B030D-6E8A-4147-A177-3AD203B41FA5}">
                      <a16:colId xmlns:a16="http://schemas.microsoft.com/office/drawing/2014/main" val="1843535259"/>
                    </a:ext>
                  </a:extLst>
                </a:gridCol>
              </a:tblGrid>
              <a:tr h="370840">
                <a:tc>
                  <a:txBody>
                    <a:bodyPr/>
                    <a:lstStyle/>
                    <a:p>
                      <a:r>
                        <a:rPr lang="en-US" sz="2000" b="1" dirty="0"/>
                        <a:t>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Access control list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6448849"/>
                  </a:ext>
                </a:extLst>
              </a:tr>
              <a:tr h="370840">
                <a:tc>
                  <a:txBody>
                    <a:bodyPr/>
                    <a:lstStyle/>
                    <a:p>
                      <a:r>
                        <a:rPr lang="en-US" sz="2000" dirty="0"/>
                        <a:t>Password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err="1"/>
                        <a:t>Tana,sysadm</a:t>
                      </a:r>
                      <a:r>
                        <a:rPr lang="en-US" sz="2000" dirty="0"/>
                        <a:t>:</a:t>
                      </a:r>
                      <a:r>
                        <a:rPr lang="en-US" sz="2000" baseline="0" dirty="0"/>
                        <a:t> R</a:t>
                      </a:r>
                      <a:r>
                        <a:rPr lang="en-US" sz="100" baseline="0" dirty="0"/>
                        <a:t> </a:t>
                      </a:r>
                      <a:r>
                        <a:rPr lang="en-US" sz="2000" baseline="0" dirty="0"/>
                        <a:t>W</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940564"/>
                  </a:ext>
                </a:extLst>
              </a:tr>
              <a:tr h="370840">
                <a:tc>
                  <a:txBody>
                    <a:bodyPr/>
                    <a:lstStyle/>
                    <a:p>
                      <a:r>
                        <a:rPr lang="en-US" sz="2000" dirty="0" err="1"/>
                        <a:t>Pigeon_data</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err="1"/>
                        <a:t>Bill,pigfan</a:t>
                      </a:r>
                      <a:r>
                        <a:rPr lang="en-US" sz="2000" dirty="0"/>
                        <a:t>:</a:t>
                      </a:r>
                      <a:r>
                        <a:rPr lang="en-US" sz="2000" baseline="0" dirty="0"/>
                        <a:t> R</a:t>
                      </a:r>
                      <a:r>
                        <a:rPr lang="en-US" sz="100" baseline="0" dirty="0"/>
                        <a:t> </a:t>
                      </a:r>
                      <a:r>
                        <a:rPr lang="en-US" sz="2000" baseline="0" dirty="0"/>
                        <a:t>W; </a:t>
                      </a:r>
                      <a:r>
                        <a:rPr lang="en-US" sz="2000" baseline="0" dirty="0" err="1"/>
                        <a:t>tana,pigfan</a:t>
                      </a:r>
                      <a:r>
                        <a:rPr lang="en-US" sz="2000" baseline="0" dirty="0"/>
                        <a:t>: R</a:t>
                      </a:r>
                      <a:r>
                        <a:rPr lang="en-US" sz="100" baseline="0" dirty="0"/>
                        <a:t> </a:t>
                      </a:r>
                      <a:r>
                        <a:rPr lang="en-US" sz="2000" baseline="0" dirty="0"/>
                        <a:t>W; …</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2555638"/>
                  </a:ext>
                </a:extLst>
              </a:tr>
            </a:tbl>
          </a:graphicData>
        </a:graphic>
      </p:graphicFrame>
    </p:spTree>
    <p:extLst>
      <p:ext uri="{BB962C8B-B14F-4D97-AF65-F5344CB8AC3E}">
        <p14:creationId xmlns:p14="http://schemas.microsoft.com/office/powerpoint/2010/main" val="901279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Capabilities </a:t>
            </a:r>
            <a:r>
              <a:rPr lang="en-US" altLang="en-US" sz="2000" b="0" dirty="0"/>
              <a:t>(1 of 3)</a:t>
            </a:r>
            <a:endParaRPr lang="en-US" sz="500" b="0" dirty="0"/>
          </a:p>
        </p:txBody>
      </p:sp>
      <p:pic>
        <p:nvPicPr>
          <p:cNvPr id="7" name="Picture 2" descr="The capability lists of a processor. Three processes, A, B, and C, are in the user space are mapped to three capability lists in the Kernel space. Capability lists of A are as follows. F 1 colon R and F 2 colon R. Capability list of B are as follows, F 1 colon R, F 2 colon R W, F 3 colon R W X. Capability list of C are as follows: F 2 colon R and F 3 colon R X. The kernel space also contains three files, F 1, F 2, and F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1088" y="1720767"/>
            <a:ext cx="6981825" cy="3238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5"/>
          <p:cNvSpPr>
            <a:spLocks noGrp="1"/>
          </p:cNvSpPr>
          <p:nvPr>
            <p:ph type="body" idx="1"/>
          </p:nvPr>
        </p:nvSpPr>
        <p:spPr/>
        <p:txBody>
          <a:bodyPr/>
          <a:lstStyle/>
          <a:p>
            <a:r>
              <a:rPr lang="en-US" altLang="en-US" dirty="0"/>
              <a:t>Figure 9-8. When capabilities are used, each process has a capability list.</a:t>
            </a:r>
          </a:p>
        </p:txBody>
      </p:sp>
    </p:spTree>
    <p:extLst>
      <p:ext uri="{BB962C8B-B14F-4D97-AF65-F5344CB8AC3E}">
        <p14:creationId xmlns:p14="http://schemas.microsoft.com/office/powerpoint/2010/main" val="35415933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Capabilities </a:t>
            </a:r>
            <a:r>
              <a:rPr lang="en-US" altLang="en-US" sz="2000" b="0" dirty="0"/>
              <a:t>(2 of 3)</a:t>
            </a:r>
            <a:endParaRPr lang="en-US" sz="100" b="0" dirty="0"/>
          </a:p>
        </p:txBody>
      </p:sp>
      <p:sp>
        <p:nvSpPr>
          <p:cNvPr id="4" name="Text Placeholder 3"/>
          <p:cNvSpPr>
            <a:spLocks noGrp="1"/>
          </p:cNvSpPr>
          <p:nvPr>
            <p:ph type="body" idx="1"/>
          </p:nvPr>
        </p:nvSpPr>
        <p:spPr>
          <a:xfrm>
            <a:off x="457200" y="1495425"/>
            <a:ext cx="8229600" cy="505903"/>
          </a:xfrm>
        </p:spPr>
        <p:txBody>
          <a:bodyPr/>
          <a:lstStyle/>
          <a:p>
            <a:pPr marL="0" indent="0">
              <a:buNone/>
            </a:pPr>
            <a:r>
              <a:rPr lang="en-US" altLang="en-US" dirty="0"/>
              <a:t>A cryptographically protected capability.</a:t>
            </a:r>
          </a:p>
        </p:txBody>
      </p:sp>
      <p:graphicFrame>
        <p:nvGraphicFramePr>
          <p:cNvPr id="5" name="Table 4"/>
          <p:cNvGraphicFramePr>
            <a:graphicFrameLocks noGrp="1"/>
          </p:cNvGraphicFramePr>
          <p:nvPr>
            <p:extLst>
              <p:ext uri="{D42A27DB-BD31-4B8C-83A1-F6EECF244321}">
                <p14:modId xmlns:p14="http://schemas.microsoft.com/office/powerpoint/2010/main" val="1695600696"/>
              </p:ext>
            </p:extLst>
          </p:nvPr>
        </p:nvGraphicFramePr>
        <p:xfrm>
          <a:off x="1004977" y="3079630"/>
          <a:ext cx="7134045" cy="439947"/>
        </p:xfrm>
        <a:graphic>
          <a:graphicData uri="http://schemas.openxmlformats.org/drawingml/2006/table">
            <a:tbl>
              <a:tblPr firstRow="1" bandRow="1">
                <a:tableStyleId>{2D5ABB26-0587-4C30-8999-92F81FD0307C}</a:tableStyleId>
              </a:tblPr>
              <a:tblGrid>
                <a:gridCol w="1587261">
                  <a:extLst>
                    <a:ext uri="{9D8B030D-6E8A-4147-A177-3AD203B41FA5}">
                      <a16:colId xmlns:a16="http://schemas.microsoft.com/office/drawing/2014/main" val="2928370239"/>
                    </a:ext>
                  </a:extLst>
                </a:gridCol>
                <a:gridCol w="1259457">
                  <a:extLst>
                    <a:ext uri="{9D8B030D-6E8A-4147-A177-3AD203B41FA5}">
                      <a16:colId xmlns:a16="http://schemas.microsoft.com/office/drawing/2014/main" val="3449958031"/>
                    </a:ext>
                  </a:extLst>
                </a:gridCol>
                <a:gridCol w="940279">
                  <a:extLst>
                    <a:ext uri="{9D8B030D-6E8A-4147-A177-3AD203B41FA5}">
                      <a16:colId xmlns:a16="http://schemas.microsoft.com/office/drawing/2014/main" val="957762440"/>
                    </a:ext>
                  </a:extLst>
                </a:gridCol>
                <a:gridCol w="3347048">
                  <a:extLst>
                    <a:ext uri="{9D8B030D-6E8A-4147-A177-3AD203B41FA5}">
                      <a16:colId xmlns:a16="http://schemas.microsoft.com/office/drawing/2014/main" val="1563366232"/>
                    </a:ext>
                  </a:extLst>
                </a:gridCol>
              </a:tblGrid>
              <a:tr h="439947">
                <a:tc>
                  <a:txBody>
                    <a:bodyPr/>
                    <a:lstStyle/>
                    <a:p>
                      <a:r>
                        <a:rPr lang="en-US" sz="1600" dirty="0"/>
                        <a:t>Server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Object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Rights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dirty="0">
                          <a:solidFill>
                            <a:schemeClr val="bg1"/>
                          </a:solidFill>
                        </a:rPr>
                        <a:t>Function of objects, rights and check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3291572"/>
                  </a:ext>
                </a:extLst>
              </a:tr>
            </a:tbl>
          </a:graphicData>
        </a:graphic>
      </p:graphicFrame>
      <p:graphicFrame>
        <p:nvGraphicFramePr>
          <p:cNvPr id="9" name="Object 8" descr="f left parenthesis Objects comma Rights comma Check right parenthesis"/>
          <p:cNvGraphicFramePr>
            <a:graphicFrameLocks noChangeAspect="1"/>
          </p:cNvGraphicFramePr>
          <p:nvPr>
            <p:extLst>
              <p:ext uri="{D42A27DB-BD31-4B8C-83A1-F6EECF244321}">
                <p14:modId xmlns:p14="http://schemas.microsoft.com/office/powerpoint/2010/main" val="323324379"/>
              </p:ext>
            </p:extLst>
          </p:nvPr>
        </p:nvGraphicFramePr>
        <p:xfrm>
          <a:off x="4905593" y="3164373"/>
          <a:ext cx="2231288" cy="270459"/>
        </p:xfrm>
        <a:graphic>
          <a:graphicData uri="http://schemas.openxmlformats.org/presentationml/2006/ole">
            <mc:AlternateContent xmlns:mc="http://schemas.openxmlformats.org/markup-compatibility/2006">
              <mc:Choice xmlns:v="urn:schemas-microsoft-com:vml" Requires="v">
                <p:oleObj spid="_x0000_s1028" name="Equation" r:id="rId3" imgW="1676160" imgH="203040" progId="Equation.3">
                  <p:embed/>
                </p:oleObj>
              </mc:Choice>
              <mc:Fallback>
                <p:oleObj name="Equation" r:id="rId3" imgW="1676160" imgH="203040" progId="Equation.3">
                  <p:embed/>
                  <p:pic>
                    <p:nvPicPr>
                      <p:cNvPr id="0" name=""/>
                      <p:cNvPicPr/>
                      <p:nvPr/>
                    </p:nvPicPr>
                    <p:blipFill>
                      <a:blip r:embed="rId4"/>
                      <a:stretch>
                        <a:fillRect/>
                      </a:stretch>
                    </p:blipFill>
                    <p:spPr>
                      <a:xfrm>
                        <a:off x="4905593" y="3164373"/>
                        <a:ext cx="2231288" cy="270459"/>
                      </a:xfrm>
                      <a:prstGeom prst="rect">
                        <a:avLst/>
                      </a:prstGeom>
                    </p:spPr>
                  </p:pic>
                </p:oleObj>
              </mc:Fallback>
            </mc:AlternateContent>
          </a:graphicData>
        </a:graphic>
      </p:graphicFrame>
    </p:spTree>
    <p:extLst>
      <p:ext uri="{BB962C8B-B14F-4D97-AF65-F5344CB8AC3E}">
        <p14:creationId xmlns:p14="http://schemas.microsoft.com/office/powerpoint/2010/main" val="30418480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Capabilities </a:t>
            </a:r>
            <a:r>
              <a:rPr lang="en-US" altLang="en-US" sz="2000" b="0" dirty="0"/>
              <a:t>(3 of 3)</a:t>
            </a:r>
            <a:endParaRPr lang="en-US" sz="1200" b="0" dirty="0"/>
          </a:p>
        </p:txBody>
      </p:sp>
      <p:sp>
        <p:nvSpPr>
          <p:cNvPr id="3" name="Content Placeholder 2"/>
          <p:cNvSpPr>
            <a:spLocks noGrp="1"/>
          </p:cNvSpPr>
          <p:nvPr>
            <p:ph type="body" idx="1"/>
          </p:nvPr>
        </p:nvSpPr>
        <p:spPr>
          <a:xfrm>
            <a:off x="457200" y="1495425"/>
            <a:ext cx="8229600" cy="4925253"/>
          </a:xfrm>
        </p:spPr>
        <p:txBody>
          <a:bodyPr/>
          <a:lstStyle/>
          <a:p>
            <a:pPr marL="0" indent="0">
              <a:buFont typeface="Arial" charset="0"/>
              <a:buNone/>
              <a:defRPr/>
            </a:pPr>
            <a:r>
              <a:rPr lang="en-US" dirty="0"/>
              <a:t>Examples of generic rights:</a:t>
            </a:r>
          </a:p>
          <a:p>
            <a:pPr marL="916686" lvl="1" indent="-429768">
              <a:buFont typeface="+mj-lt"/>
              <a:buAutoNum type="arabicPeriod"/>
              <a:defRPr/>
            </a:pPr>
            <a:r>
              <a:rPr lang="en-US" dirty="0"/>
              <a:t>Copy capability: create new capability for same object.</a:t>
            </a:r>
          </a:p>
          <a:p>
            <a:pPr marL="916686" lvl="1" indent="-429768">
              <a:buFont typeface="+mj-lt"/>
              <a:buAutoNum type="arabicPeriod"/>
              <a:defRPr/>
            </a:pPr>
            <a:r>
              <a:rPr lang="en-US" dirty="0"/>
              <a:t>Copy object: create duplicate object with new capability.</a:t>
            </a:r>
          </a:p>
          <a:p>
            <a:pPr marL="916686" lvl="1" indent="-429768">
              <a:buFont typeface="+mj-lt"/>
              <a:buAutoNum type="arabicPeriod"/>
              <a:defRPr/>
            </a:pPr>
            <a:r>
              <a:rPr lang="en-US" dirty="0"/>
              <a:t>Remove capability: delete entry from C-list; object unaffected.</a:t>
            </a:r>
          </a:p>
          <a:p>
            <a:pPr marL="916686" lvl="1" indent="-429768">
              <a:buFont typeface="+mj-lt"/>
              <a:buAutoNum type="arabicPeriod"/>
              <a:defRPr/>
            </a:pPr>
            <a:r>
              <a:rPr lang="en-US" dirty="0"/>
              <a:t>Destroy object: permanently remove object and capability.</a:t>
            </a:r>
          </a:p>
        </p:txBody>
      </p:sp>
    </p:spTree>
    <p:extLst>
      <p:ext uri="{BB962C8B-B14F-4D97-AF65-F5344CB8AC3E}">
        <p14:creationId xmlns:p14="http://schemas.microsoft.com/office/powerpoint/2010/main" val="41863473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Formal Models of Secure Systems</a:t>
            </a:r>
            <a:endParaRPr lang="en-US" sz="900" b="0" dirty="0"/>
          </a:p>
        </p:txBody>
      </p:sp>
      <p:pic>
        <p:nvPicPr>
          <p:cNvPr id="5" name="Picture 2" descr="Formal models of secure systems represented by a table that has 3 rows and 3 columns. The rows have the following headings from top to bottom. Eric, Henry, and Robert. The columns have the following headings from left to right. Compiler, Mailbox 7, and Secret. In A, the authorized state, the row entries are as follows. Row 1. Read Execute, blank, blank. Row 2. Read Execute, Read Write, blank. Row 3. Read Execute, blank, Read Write. In B, the unauthorized state, the row entries are as follows. Row 1. Read Execute, blank, blank. Row 2. Read Execute, Read Write, blank. Row 3. Read Execute, Read, Read Wri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048" y="1869992"/>
            <a:ext cx="7845904" cy="2940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5"/>
          <p:cNvSpPr>
            <a:spLocks noGrp="1"/>
          </p:cNvSpPr>
          <p:nvPr>
            <p:ph type="body" idx="1"/>
          </p:nvPr>
        </p:nvSpPr>
        <p:spPr/>
        <p:txBody>
          <a:bodyPr/>
          <a:lstStyle/>
          <a:p>
            <a:r>
              <a:rPr lang="en-US" altLang="en-US" dirty="0"/>
              <a:t>Figure 9-10. (a) An authorized state. (b) An unauthorized state.</a:t>
            </a:r>
          </a:p>
        </p:txBody>
      </p:sp>
    </p:spTree>
    <p:extLst>
      <p:ext uri="{BB962C8B-B14F-4D97-AF65-F5344CB8AC3E}">
        <p14:creationId xmlns:p14="http://schemas.microsoft.com/office/powerpoint/2010/main" val="19094316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Multilevel Security: Bell-</a:t>
            </a:r>
            <a:r>
              <a:rPr lang="en-US" altLang="en-US" dirty="0" err="1"/>
              <a:t>LaPadula</a:t>
            </a:r>
            <a:r>
              <a:rPr lang="en-US" altLang="en-US" dirty="0"/>
              <a:t> Model</a:t>
            </a:r>
            <a:endParaRPr lang="en-US" b="0" dirty="0"/>
          </a:p>
        </p:txBody>
      </p:sp>
      <p:sp>
        <p:nvSpPr>
          <p:cNvPr id="3" name="Content Placeholder 2"/>
          <p:cNvSpPr>
            <a:spLocks noGrp="1"/>
          </p:cNvSpPr>
          <p:nvPr>
            <p:ph type="body" idx="1"/>
          </p:nvPr>
        </p:nvSpPr>
        <p:spPr/>
        <p:txBody>
          <a:bodyPr/>
          <a:lstStyle/>
          <a:p>
            <a:pPr marL="0" indent="0">
              <a:buFont typeface="Arial" charset="0"/>
              <a:buNone/>
              <a:defRPr/>
            </a:pPr>
            <a:r>
              <a:rPr lang="en-US" dirty="0"/>
              <a:t>Bell-</a:t>
            </a:r>
            <a:r>
              <a:rPr lang="en-US" dirty="0" err="1"/>
              <a:t>LaPadula</a:t>
            </a:r>
            <a:r>
              <a:rPr lang="en-US" dirty="0"/>
              <a:t> Model rules for information flow:</a:t>
            </a:r>
          </a:p>
          <a:p>
            <a:pPr marL="916686" lvl="1" indent="-429768">
              <a:buFont typeface="+mj-lt"/>
              <a:buAutoNum type="arabicPeriod"/>
              <a:defRPr/>
            </a:pPr>
            <a:r>
              <a:rPr lang="en-US" dirty="0"/>
              <a:t>The simple security property</a:t>
            </a:r>
          </a:p>
        </p:txBody>
      </p:sp>
      <p:sp>
        <p:nvSpPr>
          <p:cNvPr id="4" name="Content Placeholder 3"/>
          <p:cNvSpPr>
            <a:spLocks noGrp="1"/>
          </p:cNvSpPr>
          <p:nvPr>
            <p:ph sz="quarter" idx="13"/>
          </p:nvPr>
        </p:nvSpPr>
        <p:spPr>
          <a:xfrm>
            <a:off x="457200" y="2444337"/>
            <a:ext cx="8305800" cy="871538"/>
          </a:xfrm>
        </p:spPr>
        <p:txBody>
          <a:bodyPr/>
          <a:lstStyle/>
          <a:p>
            <a:pPr lvl="2" indent="-228600"/>
            <a:r>
              <a:rPr lang="en-US" sz="2400" dirty="0">
                <a:latin typeface="+mn-lt"/>
              </a:rPr>
              <a:t>Process running at security level k can read only objects at its level or lower</a:t>
            </a:r>
          </a:p>
        </p:txBody>
      </p:sp>
      <p:sp>
        <p:nvSpPr>
          <p:cNvPr id="5" name="Content Placeholder 4"/>
          <p:cNvSpPr>
            <a:spLocks noGrp="1"/>
          </p:cNvSpPr>
          <p:nvPr>
            <p:ph sz="quarter" idx="14"/>
          </p:nvPr>
        </p:nvSpPr>
        <p:spPr>
          <a:xfrm>
            <a:off x="457200" y="3301934"/>
            <a:ext cx="8305800" cy="462241"/>
          </a:xfrm>
        </p:spPr>
        <p:txBody>
          <a:bodyPr/>
          <a:lstStyle/>
          <a:p>
            <a:pPr marL="1045718" lvl="1" indent="-457200">
              <a:buFont typeface="+mj-lt"/>
              <a:buAutoNum type="arabicPeriod" startAt="2"/>
            </a:pPr>
            <a:r>
              <a:rPr lang="en-US" sz="2400" dirty="0">
                <a:latin typeface="+mn-lt"/>
              </a:rPr>
              <a:t>The * property</a:t>
            </a:r>
          </a:p>
        </p:txBody>
      </p:sp>
      <p:sp>
        <p:nvSpPr>
          <p:cNvPr id="6" name="Content Placeholder 5"/>
          <p:cNvSpPr>
            <a:spLocks noGrp="1"/>
          </p:cNvSpPr>
          <p:nvPr>
            <p:ph sz="quarter" idx="15"/>
          </p:nvPr>
        </p:nvSpPr>
        <p:spPr>
          <a:xfrm>
            <a:off x="457200" y="3870878"/>
            <a:ext cx="8305800" cy="887413"/>
          </a:xfrm>
        </p:spPr>
        <p:txBody>
          <a:bodyPr/>
          <a:lstStyle/>
          <a:p>
            <a:pPr lvl="2" indent="-228600"/>
            <a:r>
              <a:rPr lang="en-US" sz="2400" dirty="0">
                <a:latin typeface="+mn-lt"/>
              </a:rPr>
              <a:t>Process running at security level k can write only objects at its level or higher</a:t>
            </a:r>
          </a:p>
        </p:txBody>
      </p:sp>
    </p:spTree>
    <p:extLst>
      <p:ext uri="{BB962C8B-B14F-4D97-AF65-F5344CB8AC3E}">
        <p14:creationId xmlns:p14="http://schemas.microsoft.com/office/powerpoint/2010/main" val="5960350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Bell- </a:t>
            </a:r>
            <a:r>
              <a:rPr lang="en-US" altLang="en-US" dirty="0" err="1"/>
              <a:t>LaPadula</a:t>
            </a:r>
            <a:r>
              <a:rPr lang="en-US" altLang="en-US" dirty="0"/>
              <a:t> Model</a:t>
            </a:r>
            <a:endParaRPr lang="en-US" sz="900" b="0" dirty="0"/>
          </a:p>
        </p:txBody>
      </p:sp>
      <p:pic>
        <p:nvPicPr>
          <p:cNvPr id="7" name="Picture 2" descr="A graph of the Bell La Padula model. The security level has 4 low levels in ascending order. Level 1 has object 1, and process A, level 2 has process B and object 2, level 3 has object 3, process C, object 4, and process D. Level 4, has object 5, process E, and object 6. Information flows from object 1 to process A and process B. Process A writes into object 1, object 2, and object 4. Process B writes into object 3 and object 2. Object 2 sends data to process C and process B. Object 3 sends data to process C. Process C writes into object 3, object 5 and object 4. Object 4 sends data to the process c and D. Process D writes into object 4 and object 6. Object 6 sends data to process E. Process E writes into object 5 and object 6. Object 5 sends data to the process 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2258" y="1451162"/>
            <a:ext cx="7039483" cy="37777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5"/>
          <p:cNvSpPr>
            <a:spLocks noGrp="1"/>
          </p:cNvSpPr>
          <p:nvPr>
            <p:ph type="body" idx="1"/>
          </p:nvPr>
        </p:nvSpPr>
        <p:spPr/>
        <p:txBody>
          <a:bodyPr/>
          <a:lstStyle/>
          <a:p>
            <a:r>
              <a:rPr lang="en-US" altLang="en-US" dirty="0"/>
              <a:t>Figure 9-11. The Bell-</a:t>
            </a:r>
            <a:r>
              <a:rPr lang="en-US" altLang="en-US" dirty="0" err="1"/>
              <a:t>LaPadula</a:t>
            </a:r>
            <a:r>
              <a:rPr lang="en-US" altLang="en-US" dirty="0"/>
              <a:t> multilevel security model.</a:t>
            </a:r>
          </a:p>
        </p:txBody>
      </p:sp>
    </p:spTree>
    <p:extLst>
      <p:ext uri="{BB962C8B-B14F-4D97-AF65-F5344CB8AC3E}">
        <p14:creationId xmlns:p14="http://schemas.microsoft.com/office/powerpoint/2010/main" val="29611971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Biba Model</a:t>
            </a:r>
            <a:endParaRPr lang="en-US" b="0" dirty="0"/>
          </a:p>
        </p:txBody>
      </p:sp>
      <p:sp>
        <p:nvSpPr>
          <p:cNvPr id="3" name="Content Placeholder 2"/>
          <p:cNvSpPr>
            <a:spLocks noGrp="1"/>
          </p:cNvSpPr>
          <p:nvPr>
            <p:ph type="body" idx="1"/>
          </p:nvPr>
        </p:nvSpPr>
        <p:spPr>
          <a:xfrm>
            <a:off x="457200" y="1495425"/>
            <a:ext cx="8229600" cy="4925253"/>
          </a:xfrm>
        </p:spPr>
        <p:txBody>
          <a:bodyPr/>
          <a:lstStyle/>
          <a:p>
            <a:pPr marL="0" indent="0">
              <a:buFont typeface="Arial" charset="0"/>
              <a:buNone/>
              <a:defRPr/>
            </a:pPr>
            <a:r>
              <a:rPr lang="en-US" dirty="0"/>
              <a:t>To guarantee the integrity of the data:</a:t>
            </a:r>
          </a:p>
          <a:p>
            <a:pPr marL="916686" lvl="1" indent="-429768">
              <a:buFont typeface="+mj-lt"/>
              <a:buAutoNum type="arabicPeriod"/>
              <a:defRPr/>
            </a:pPr>
            <a:r>
              <a:rPr lang="en-US" dirty="0"/>
              <a:t>The simple integrity principle</a:t>
            </a:r>
          </a:p>
          <a:p>
            <a:pPr marL="1255014" lvl="2" indent="-342900">
              <a:defRPr/>
            </a:pPr>
            <a:r>
              <a:rPr lang="en-US" dirty="0"/>
              <a:t>process running at security level k can write only objects at its level or lower (no write up).</a:t>
            </a:r>
          </a:p>
          <a:p>
            <a:pPr marL="916686" lvl="1" indent="-429768">
              <a:buFont typeface="+mj-lt"/>
              <a:buAutoNum type="arabicPeriod"/>
              <a:defRPr/>
            </a:pPr>
            <a:r>
              <a:rPr lang="en-US" dirty="0"/>
              <a:t>The integrity * property</a:t>
            </a:r>
          </a:p>
          <a:p>
            <a:pPr marL="1255014" lvl="2" indent="-342900">
              <a:defRPr/>
            </a:pPr>
            <a:r>
              <a:rPr lang="en-US" dirty="0"/>
              <a:t>process running at security level k can read only objects at its level or higher (no read down).</a:t>
            </a:r>
          </a:p>
        </p:txBody>
      </p:sp>
    </p:spTree>
    <p:extLst>
      <p:ext uri="{BB962C8B-B14F-4D97-AF65-F5344CB8AC3E}">
        <p14:creationId xmlns:p14="http://schemas.microsoft.com/office/powerpoint/2010/main" val="10583306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Covert Channels </a:t>
            </a:r>
            <a:r>
              <a:rPr lang="en-US" altLang="en-US" sz="2000" b="0" dirty="0"/>
              <a:t>(1 of 2)</a:t>
            </a:r>
            <a:endParaRPr lang="en-US" dirty="0"/>
          </a:p>
        </p:txBody>
      </p:sp>
      <p:pic>
        <p:nvPicPr>
          <p:cNvPr id="6" name="Picture 2" descr="The processes of a collaborator. In A, the user space contains the client, server and collaborator and an empty Kernel. In B, the user space contains an encapsulated server. A collaborator writes into the server through a covert channe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613" y="2011280"/>
            <a:ext cx="6962775" cy="2657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idx="1"/>
          </p:nvPr>
        </p:nvSpPr>
        <p:spPr/>
        <p:txBody>
          <a:bodyPr/>
          <a:lstStyle/>
          <a:p>
            <a:r>
              <a:rPr lang="en-US" altLang="en-US" dirty="0"/>
              <a:t>Figure 9-12. (a) The client, server, and collaborator processes. (b) The encapsulated server can still leak to the collaborator via covert channels.</a:t>
            </a:r>
          </a:p>
        </p:txBody>
      </p:sp>
    </p:spTree>
    <p:extLst>
      <p:ext uri="{BB962C8B-B14F-4D97-AF65-F5344CB8AC3E}">
        <p14:creationId xmlns:p14="http://schemas.microsoft.com/office/powerpoint/2010/main" val="2223532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Covert Channels </a:t>
            </a:r>
            <a:r>
              <a:rPr lang="en-US" altLang="en-US" sz="2000" b="0" dirty="0"/>
              <a:t>(2 of 2)</a:t>
            </a:r>
            <a:endParaRPr lang="en-US" dirty="0"/>
          </a:p>
        </p:txBody>
      </p:sp>
      <p:pic>
        <p:nvPicPr>
          <p:cNvPr id="5" name="Picture 2" descr="The various stages of a covert channel using file locking over time. Server locks are located in between the file transfer path of the server and the collaborator. The bit stream sent is 1 1 0 1 0 1 0 0. The server locks the file to send binary numeral 1 and unlocks file to send 0. Post passing through the file lock, binary numerals 0 and 1 of the bit stream are received by the collabor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944605"/>
            <a:ext cx="8229600" cy="2790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idx="1"/>
          </p:nvPr>
        </p:nvSpPr>
        <p:spPr/>
        <p:txBody>
          <a:bodyPr/>
          <a:lstStyle/>
          <a:p>
            <a:r>
              <a:rPr lang="en-US" altLang="en-US" dirty="0"/>
              <a:t>Figure 9-13. A covert channel using file locking.</a:t>
            </a:r>
          </a:p>
        </p:txBody>
      </p:sp>
    </p:spTree>
    <p:extLst>
      <p:ext uri="{BB962C8B-B14F-4D97-AF65-F5344CB8AC3E}">
        <p14:creationId xmlns:p14="http://schemas.microsoft.com/office/powerpoint/2010/main" val="16894436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Steganography</a:t>
            </a:r>
            <a:endParaRPr lang="en-US" dirty="0"/>
          </a:p>
        </p:txBody>
      </p:sp>
      <p:pic>
        <p:nvPicPr>
          <p:cNvPr id="6" name="Picture 2" descr="A, three zebras and a tree. Photo B, three zebras and a tre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100" y="1754105"/>
            <a:ext cx="7543800" cy="3171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idx="1"/>
          </p:nvPr>
        </p:nvSpPr>
        <p:spPr/>
        <p:txBody>
          <a:bodyPr/>
          <a:lstStyle/>
          <a:p>
            <a:r>
              <a:rPr lang="en-US" altLang="en-US" dirty="0"/>
              <a:t>Figure 9-14. (a) Three zebras and a tree. (b) Three zebras, a tree, and the complete text of five plays by William Shakespeare.</a:t>
            </a:r>
          </a:p>
        </p:txBody>
      </p:sp>
    </p:spTree>
    <p:extLst>
      <p:ext uri="{BB962C8B-B14F-4D97-AF65-F5344CB8AC3E}">
        <p14:creationId xmlns:p14="http://schemas.microsoft.com/office/powerpoint/2010/main" val="22352687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Basics of Cryptography</a:t>
            </a:r>
            <a:endParaRPr lang="en-US" dirty="0"/>
          </a:p>
        </p:txBody>
      </p:sp>
      <p:pic>
        <p:nvPicPr>
          <p:cNvPr id="5" name="Picture 2" descr="The relationship between plain text and the cipher text. The Encryption Algorithm E receives the plain text input P and encryption key, K sub E. From the encryption algorithm, cipher text C equals E left parenthesis P comma K sub E right parenthesis is sent to the decryption algorithm D. The process corresponds to encryption. Decryption key, K sub D is sent to the decryption algorithm. From the decryption algorithm, plain text output P equals D left parenthesis C comma K sub D right parenthesis is generated. The process refers to decryp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613" y="1849355"/>
            <a:ext cx="7724775" cy="2981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idx="1"/>
          </p:nvPr>
        </p:nvSpPr>
        <p:spPr/>
        <p:txBody>
          <a:bodyPr/>
          <a:lstStyle/>
          <a:p>
            <a:r>
              <a:rPr lang="en-US" altLang="en-US" dirty="0"/>
              <a:t>Figure 9-15. Relationship between the plaintext and the </a:t>
            </a:r>
            <a:r>
              <a:rPr lang="en-US" altLang="en-US" dirty="0" err="1"/>
              <a:t>ciphertext</a:t>
            </a:r>
            <a:r>
              <a:rPr lang="en-US" altLang="en-US" dirty="0"/>
              <a:t>.</a:t>
            </a:r>
          </a:p>
        </p:txBody>
      </p:sp>
    </p:spTree>
    <p:extLst>
      <p:ext uri="{BB962C8B-B14F-4D97-AF65-F5344CB8AC3E}">
        <p14:creationId xmlns:p14="http://schemas.microsoft.com/office/powerpoint/2010/main" val="36837072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Secret-Key Cryptography</a:t>
            </a:r>
            <a:endParaRPr lang="en-US" dirty="0"/>
          </a:p>
        </p:txBody>
      </p:sp>
      <p:pic>
        <p:nvPicPr>
          <p:cNvPr id="6" name="Picture 2" descr="A screenshot compares the plain text with a cipher text. Plain text, A B D C D E F G H I J K L M N O P Q R S T U V W X Y Z. Cipher text, Q W E R T Y U I O P A S D F G H J K L Z X C V B N 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7219" y="2603417"/>
            <a:ext cx="7929562" cy="1473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idx="1"/>
          </p:nvPr>
        </p:nvSpPr>
        <p:spPr/>
        <p:txBody>
          <a:bodyPr/>
          <a:lstStyle/>
          <a:p>
            <a:r>
              <a:rPr lang="en-US" altLang="en-US" dirty="0"/>
              <a:t>An encryption algorithm in which each letter is replaced by a different letter.</a:t>
            </a:r>
          </a:p>
        </p:txBody>
      </p:sp>
    </p:spTree>
    <p:extLst>
      <p:ext uri="{BB962C8B-B14F-4D97-AF65-F5344CB8AC3E}">
        <p14:creationId xmlns:p14="http://schemas.microsoft.com/office/powerpoint/2010/main" val="27072399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Digital Signatures</a:t>
            </a:r>
            <a:endParaRPr lang="en-US" dirty="0"/>
          </a:p>
        </p:txBody>
      </p:sp>
      <p:pic>
        <p:nvPicPr>
          <p:cNvPr id="5" name="Picture 2" descr="The process of computing a signature block and the input received by the receiver. In A, the original document is compressed to a hash value and is sent to the hash. The hash value is run through D to get D, Hash. In B, a signature block of the stack corresponding to the original document contains D, Has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6775" y="2163680"/>
            <a:ext cx="7410450" cy="2352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idx="1"/>
          </p:nvPr>
        </p:nvSpPr>
        <p:spPr/>
        <p:txBody>
          <a:bodyPr/>
          <a:lstStyle/>
          <a:p>
            <a:r>
              <a:rPr lang="en-US" altLang="en-US" dirty="0"/>
              <a:t>Figure 9-16. (a) Computing a signature block. (b) What the receiver gets.</a:t>
            </a:r>
          </a:p>
        </p:txBody>
      </p:sp>
    </p:spTree>
    <p:extLst>
      <p:ext uri="{BB962C8B-B14F-4D97-AF65-F5344CB8AC3E}">
        <p14:creationId xmlns:p14="http://schemas.microsoft.com/office/powerpoint/2010/main" val="26732005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Authentication </a:t>
            </a:r>
            <a:r>
              <a:rPr lang="en-US" altLang="en-US" sz="2000" b="0" dirty="0"/>
              <a:t>(1 of 2)</a:t>
            </a:r>
            <a:endParaRPr lang="en-US" sz="1200" b="0" dirty="0"/>
          </a:p>
        </p:txBody>
      </p:sp>
      <p:sp>
        <p:nvSpPr>
          <p:cNvPr id="3" name="Content Placeholder 2"/>
          <p:cNvSpPr>
            <a:spLocks noGrp="1"/>
          </p:cNvSpPr>
          <p:nvPr>
            <p:ph type="body" idx="1"/>
          </p:nvPr>
        </p:nvSpPr>
        <p:spPr>
          <a:xfrm>
            <a:off x="457200" y="1495425"/>
            <a:ext cx="8229600" cy="4925253"/>
          </a:xfrm>
        </p:spPr>
        <p:txBody>
          <a:bodyPr/>
          <a:lstStyle/>
          <a:p>
            <a:pPr marL="0" indent="0">
              <a:buFont typeface="Arial" charset="0"/>
              <a:buNone/>
              <a:defRPr/>
            </a:pPr>
            <a:r>
              <a:rPr lang="en-US" dirty="0"/>
              <a:t>Methods of authenticating users when they</a:t>
            </a:r>
          </a:p>
          <a:p>
            <a:pPr marL="0" indent="0">
              <a:buFont typeface="Arial" charset="0"/>
              <a:buNone/>
              <a:defRPr/>
            </a:pPr>
            <a:r>
              <a:rPr lang="en-US" dirty="0"/>
              <a:t>attempt to log in based on one of three general principles:</a:t>
            </a:r>
          </a:p>
          <a:p>
            <a:pPr marL="916686" lvl="1" indent="-429768">
              <a:buFont typeface="+mj-lt"/>
              <a:buAutoNum type="arabicPeriod"/>
              <a:defRPr/>
            </a:pPr>
            <a:r>
              <a:rPr lang="en-US" dirty="0"/>
              <a:t>Something the user knows.</a:t>
            </a:r>
          </a:p>
          <a:p>
            <a:pPr marL="916686" lvl="1" indent="-429768">
              <a:buFont typeface="+mj-lt"/>
              <a:buAutoNum type="arabicPeriod"/>
              <a:defRPr/>
            </a:pPr>
            <a:r>
              <a:rPr lang="en-US" dirty="0"/>
              <a:t>Something the user has.</a:t>
            </a:r>
          </a:p>
          <a:p>
            <a:pPr marL="916686" lvl="1" indent="-429768">
              <a:buFont typeface="+mj-lt"/>
              <a:buAutoNum type="arabicPeriod"/>
              <a:defRPr/>
            </a:pPr>
            <a:r>
              <a:rPr lang="en-US" dirty="0"/>
              <a:t>Something the user is.</a:t>
            </a:r>
          </a:p>
        </p:txBody>
      </p:sp>
    </p:spTree>
    <p:extLst>
      <p:ext uri="{BB962C8B-B14F-4D97-AF65-F5344CB8AC3E}">
        <p14:creationId xmlns:p14="http://schemas.microsoft.com/office/powerpoint/2010/main" val="21616981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Authentication </a:t>
            </a:r>
            <a:r>
              <a:rPr lang="en-US" altLang="en-US" sz="2000" b="0" dirty="0"/>
              <a:t>(2 of 2)</a:t>
            </a:r>
            <a:endParaRPr lang="en-US" dirty="0"/>
          </a:p>
        </p:txBody>
      </p:sp>
      <p:pic>
        <p:nvPicPr>
          <p:cNvPr id="5" name="Picture 2" descr="The computer codes corresponding to successful and unsuccessful login attempts. Computer code A. The code has 3 lines. The lines read as follows. Line 1. LOGIN colon Mitch. Line 2. PASSWORD colon Foo Bar exclamation point hyphen 7. Line 3. SUCCESSFUL LOGIN. Computer code B. The code has 3 lines. The lines read as follows. Line 1. LOGIN colon Carol. Line 2. INVALID LOGIN NAME. Line 3. LOGIN colon. Computer code C. The code has 4 lines. The lines read as follows. Line 1. LOGIN colon Carol. Line 2. PASSWORD colon I d u n n o. Line 3. INVALID LOGIN. Line 4. LOGIN col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088" y="2535155"/>
            <a:ext cx="7743825" cy="1609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idx="1"/>
          </p:nvPr>
        </p:nvSpPr>
        <p:spPr/>
        <p:txBody>
          <a:bodyPr/>
          <a:lstStyle/>
          <a:p>
            <a:r>
              <a:rPr lang="en-US" altLang="en-US" dirty="0"/>
              <a:t>Figure 9-17. (a) A successful login. (b) Login rejected after name is entered. (c) Login rejected after name and password are typed.</a:t>
            </a:r>
          </a:p>
        </p:txBody>
      </p:sp>
    </p:spTree>
    <p:extLst>
      <p:ext uri="{BB962C8B-B14F-4D97-AF65-F5344CB8AC3E}">
        <p14:creationId xmlns:p14="http://schemas.microsoft.com/office/powerpoint/2010/main" val="31791571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U</a:t>
            </a:r>
            <a:r>
              <a:rPr lang="en-US" altLang="en-US" sz="100" dirty="0"/>
              <a:t> </a:t>
            </a:r>
            <a:r>
              <a:rPr lang="en-US" altLang="en-US" dirty="0"/>
              <a:t>N</a:t>
            </a:r>
            <a:r>
              <a:rPr lang="en-US" altLang="en-US" sz="100" dirty="0"/>
              <a:t> </a:t>
            </a:r>
            <a:r>
              <a:rPr lang="en-US" altLang="en-US" dirty="0"/>
              <a:t>I</a:t>
            </a:r>
            <a:r>
              <a:rPr lang="en-US" altLang="en-US" sz="100" dirty="0"/>
              <a:t> </a:t>
            </a:r>
            <a:r>
              <a:rPr lang="en-US" altLang="en-US" dirty="0"/>
              <a:t>X Password Security</a:t>
            </a:r>
            <a:endParaRPr lang="en-US" dirty="0"/>
          </a:p>
        </p:txBody>
      </p:sp>
      <p:sp>
        <p:nvSpPr>
          <p:cNvPr id="3" name="Text Placeholder 2"/>
          <p:cNvSpPr>
            <a:spLocks noGrp="1"/>
          </p:cNvSpPr>
          <p:nvPr>
            <p:ph type="body" idx="1"/>
          </p:nvPr>
        </p:nvSpPr>
        <p:spPr>
          <a:xfrm>
            <a:off x="457200" y="1495425"/>
            <a:ext cx="8229600" cy="1247775"/>
          </a:xfrm>
        </p:spPr>
        <p:txBody>
          <a:bodyPr/>
          <a:lstStyle/>
          <a:p>
            <a:pPr marL="0" indent="0">
              <a:buNone/>
            </a:pPr>
            <a:r>
              <a:rPr lang="en-US" altLang="en-US" dirty="0"/>
              <a:t>(a) A successful login. (b) Login rejected after name is entered. (c) Login rejected after name and password are typed.</a:t>
            </a:r>
          </a:p>
        </p:txBody>
      </p:sp>
      <p:graphicFrame>
        <p:nvGraphicFramePr>
          <p:cNvPr id="7" name="Table 6"/>
          <p:cNvGraphicFramePr>
            <a:graphicFrameLocks noGrp="1"/>
          </p:cNvGraphicFramePr>
          <p:nvPr>
            <p:extLst>
              <p:ext uri="{D42A27DB-BD31-4B8C-83A1-F6EECF244321}">
                <p14:modId xmlns:p14="http://schemas.microsoft.com/office/powerpoint/2010/main" val="2547822135"/>
              </p:ext>
            </p:extLst>
          </p:nvPr>
        </p:nvGraphicFramePr>
        <p:xfrm>
          <a:off x="1524000" y="3296851"/>
          <a:ext cx="6096000" cy="1981200"/>
        </p:xfrm>
        <a:graphic>
          <a:graphicData uri="http://schemas.openxmlformats.org/drawingml/2006/table">
            <a:tbl>
              <a:tblPr firstRow="1" bandRow="1">
                <a:tableStyleId>{2D5ABB26-0587-4C30-8999-92F81FD0307C}</a:tableStyleId>
              </a:tblPr>
              <a:tblGrid>
                <a:gridCol w="6096000">
                  <a:extLst>
                    <a:ext uri="{9D8B030D-6E8A-4147-A177-3AD203B41FA5}">
                      <a16:colId xmlns:a16="http://schemas.microsoft.com/office/drawing/2014/main" val="3257425476"/>
                    </a:ext>
                  </a:extLst>
                </a:gridCol>
              </a:tblGrid>
              <a:tr h="370840">
                <a:tc>
                  <a:txBody>
                    <a:bodyPr/>
                    <a:lstStyle/>
                    <a:p>
                      <a:r>
                        <a:rPr lang="en-US" sz="2000" dirty="0"/>
                        <a:t>Bobbie, 4238, e(Dog, 4238)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93125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Tony, 2918, 2918)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979873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Laura, 6902, e(Shakespeare, 6902)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560417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Mark, 1694, e(</a:t>
                      </a:r>
                      <a:r>
                        <a:rPr lang="en-US" sz="2000" dirty="0" err="1"/>
                        <a:t>XaB#Bwcz</a:t>
                      </a:r>
                      <a:r>
                        <a:rPr lang="en-US" sz="2000" dirty="0"/>
                        <a:t>, 1694)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494439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Deborah, 1092, e(LordByron,1092)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3127259"/>
                  </a:ext>
                </a:extLst>
              </a:tr>
            </a:tbl>
          </a:graphicData>
        </a:graphic>
      </p:graphicFrame>
    </p:spTree>
    <p:extLst>
      <p:ext uri="{BB962C8B-B14F-4D97-AF65-F5344CB8AC3E}">
        <p14:creationId xmlns:p14="http://schemas.microsoft.com/office/powerpoint/2010/main" val="40076497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Challenge-Response Authentication</a:t>
            </a:r>
            <a:endParaRPr lang="en-US" sz="1200" b="0" dirty="0"/>
          </a:p>
        </p:txBody>
      </p:sp>
      <p:sp>
        <p:nvSpPr>
          <p:cNvPr id="3" name="Content Placeholder 2"/>
          <p:cNvSpPr>
            <a:spLocks noGrp="1"/>
          </p:cNvSpPr>
          <p:nvPr>
            <p:ph type="body" idx="1"/>
          </p:nvPr>
        </p:nvSpPr>
        <p:spPr>
          <a:xfrm>
            <a:off x="457200" y="1495425"/>
            <a:ext cx="8229600" cy="4925253"/>
          </a:xfrm>
        </p:spPr>
        <p:txBody>
          <a:bodyPr/>
          <a:lstStyle/>
          <a:p>
            <a:pPr marL="0" indent="0">
              <a:buFont typeface="Arial" charset="0"/>
              <a:buNone/>
              <a:defRPr/>
            </a:pPr>
            <a:r>
              <a:rPr lang="en-US" dirty="0"/>
              <a:t>Questions should be chosen so that the user does not need to write them down. </a:t>
            </a:r>
            <a:br>
              <a:rPr lang="en-US" dirty="0"/>
            </a:br>
            <a:r>
              <a:rPr lang="en-US" dirty="0"/>
              <a:t>Examples:</a:t>
            </a:r>
          </a:p>
          <a:p>
            <a:pPr marL="916686" lvl="1" indent="-429768">
              <a:buFont typeface="+mj-lt"/>
              <a:buAutoNum type="arabicPeriod"/>
              <a:defRPr/>
            </a:pPr>
            <a:r>
              <a:rPr lang="en-US" dirty="0"/>
              <a:t>Who is </a:t>
            </a:r>
            <a:r>
              <a:rPr lang="en-US" dirty="0" err="1"/>
              <a:t>Marjolein’s</a:t>
            </a:r>
            <a:r>
              <a:rPr lang="en-US" dirty="0"/>
              <a:t> sister?</a:t>
            </a:r>
          </a:p>
          <a:p>
            <a:pPr marL="916686" lvl="1" indent="-429768">
              <a:buFont typeface="+mj-lt"/>
              <a:buAutoNum type="arabicPeriod"/>
              <a:defRPr/>
            </a:pPr>
            <a:r>
              <a:rPr lang="en-US" dirty="0"/>
              <a:t>On what street was your elementary school?</a:t>
            </a:r>
          </a:p>
          <a:p>
            <a:pPr marL="916686" lvl="1" indent="-429768">
              <a:buFont typeface="+mj-lt"/>
              <a:buAutoNum type="arabicPeriod"/>
              <a:defRPr/>
            </a:pPr>
            <a:r>
              <a:rPr lang="en-US" dirty="0"/>
              <a:t>What did Mrs. Ellis teach?</a:t>
            </a:r>
          </a:p>
        </p:txBody>
      </p:sp>
    </p:spTree>
    <p:extLst>
      <p:ext uri="{BB962C8B-B14F-4D97-AF65-F5344CB8AC3E}">
        <p14:creationId xmlns:p14="http://schemas.microsoft.com/office/powerpoint/2010/main" val="35755993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Authentication Using a Physical Object</a:t>
            </a:r>
            <a:endParaRPr lang="en-US" b="0" dirty="0"/>
          </a:p>
        </p:txBody>
      </p:sp>
      <p:pic>
        <p:nvPicPr>
          <p:cNvPr id="7" name="Picture 2" descr="The use of a smart card for authentication. Step 1. The user inserts the smart card into the smart card reader and the challenge is sent to the smart card from the remote computer system. Step 2. The smart card computes the response from the remote computer system. Step 3. The response is sent back to the remote computer syst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5825" y="1730292"/>
            <a:ext cx="7372350" cy="3219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5"/>
          <p:cNvSpPr>
            <a:spLocks noGrp="1"/>
          </p:cNvSpPr>
          <p:nvPr>
            <p:ph type="body" idx="1"/>
          </p:nvPr>
        </p:nvSpPr>
        <p:spPr/>
        <p:txBody>
          <a:bodyPr/>
          <a:lstStyle/>
          <a:p>
            <a:r>
              <a:rPr lang="en-US" altLang="en-US" dirty="0"/>
              <a:t>Figure 9-19. Use of a smart card for authentication.</a:t>
            </a:r>
          </a:p>
        </p:txBody>
      </p:sp>
    </p:spTree>
    <p:extLst>
      <p:ext uri="{BB962C8B-B14F-4D97-AF65-F5344CB8AC3E}">
        <p14:creationId xmlns:p14="http://schemas.microsoft.com/office/powerpoint/2010/main" val="30475859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Authentication Using Biometrics</a:t>
            </a:r>
            <a:endParaRPr lang="en-US" b="0" dirty="0"/>
          </a:p>
        </p:txBody>
      </p:sp>
      <p:pic>
        <p:nvPicPr>
          <p:cNvPr id="5" name="Picture 2" descr="A device for measuring the finger length. The device has a pressure plate beneath the spring where the user places his finge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3419" y="1325909"/>
            <a:ext cx="4317161" cy="40282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5"/>
          <p:cNvSpPr>
            <a:spLocks noGrp="1"/>
          </p:cNvSpPr>
          <p:nvPr>
            <p:ph type="body" idx="1"/>
          </p:nvPr>
        </p:nvSpPr>
        <p:spPr/>
        <p:txBody>
          <a:bodyPr/>
          <a:lstStyle/>
          <a:p>
            <a:r>
              <a:rPr lang="en-US" altLang="en-US" dirty="0"/>
              <a:t>Figure 9-20. A device for measuring finger length.</a:t>
            </a:r>
          </a:p>
        </p:txBody>
      </p:sp>
    </p:spTree>
    <p:extLst>
      <p:ext uri="{BB962C8B-B14F-4D97-AF65-F5344CB8AC3E}">
        <p14:creationId xmlns:p14="http://schemas.microsoft.com/office/powerpoint/2010/main" val="42923603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Buffer Overflow Attacks</a:t>
            </a:r>
            <a:endParaRPr lang="en-US" b="0" dirty="0"/>
          </a:p>
        </p:txBody>
      </p:sp>
      <p:pic>
        <p:nvPicPr>
          <p:cNvPr id="7" name="Picture 2" descr="Running, called, and overflow situations of a main program. In A, the main program contains main’s local variables in the stack. The virtual address space has the hexadecimal address values starting from 0 X F F F and so on. A stack pointer points at the end of the stack. In B, the stack of the main program has the main's local variables. The stack is followed by the return address, local variables of A and the Buffer B. Buffer B is embedded within the local variables of A and the stack pointer points at the borderline between the local variables of A and the buffer B. A stack pointer points at the end of A’s local variables. The return address is directed towards the main program. In C, the stack of the main program has main's local variables. The return address is directed towards the buffer B embedded within the local variables of A. A stack pointer points at the end of A’s local variabl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737" y="1425492"/>
            <a:ext cx="7248525" cy="3829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5"/>
          <p:cNvSpPr>
            <a:spLocks noGrp="1"/>
          </p:cNvSpPr>
          <p:nvPr>
            <p:ph type="body" idx="1"/>
          </p:nvPr>
        </p:nvSpPr>
        <p:spPr/>
        <p:txBody>
          <a:bodyPr/>
          <a:lstStyle/>
          <a:p>
            <a:r>
              <a:rPr lang="en-US" altLang="en-US" dirty="0"/>
              <a:t>Figure 9-21. (a) Situation when the main program is running. (b) After the procedure A has been called. (c) Buffer overflow shown in gray.</a:t>
            </a:r>
          </a:p>
        </p:txBody>
      </p:sp>
    </p:spTree>
    <p:extLst>
      <p:ext uri="{BB962C8B-B14F-4D97-AF65-F5344CB8AC3E}">
        <p14:creationId xmlns:p14="http://schemas.microsoft.com/office/powerpoint/2010/main" val="16707051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Code Reuse Attacks</a:t>
            </a:r>
            <a:endParaRPr lang="en-US" sz="2000" b="0" dirty="0"/>
          </a:p>
        </p:txBody>
      </p:sp>
      <p:pic>
        <p:nvPicPr>
          <p:cNvPr id="7" name="Picture 2" descr="Return oriented programming with reference to linking gadgets. Stack, Gadget A is mapped to gadget B and gadget B is mapped to gadget C. Text segment, Gadget C, part of function Z, is mapped to i n s t r 1. Gadget B, part of function Y, is mapped to i n s t r 1. R E T of gadget A is in loop with i n s t r 1 of gadget B. Gadget A, part of function X, is mapped to i n s t r 1. Text beside the stack reads, Example gadgets, Gadget A, pop operand off the stack into register 1, if the value is negative, jump to error handler, otherwise return. Gadget B, pop operand off the stack into register 2, return. Gadget C, multiply register 1 by 4, push register 1, add register 2 to the value on the top of the stack, and store the result in register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1525" y="1429626"/>
            <a:ext cx="5480949" cy="38207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5"/>
          <p:cNvSpPr>
            <a:spLocks noGrp="1"/>
          </p:cNvSpPr>
          <p:nvPr>
            <p:ph type="body" idx="1"/>
          </p:nvPr>
        </p:nvSpPr>
        <p:spPr/>
        <p:txBody>
          <a:bodyPr/>
          <a:lstStyle/>
          <a:p>
            <a:r>
              <a:rPr lang="en-US" altLang="en-US" dirty="0"/>
              <a:t>Figure 9-23. Return-oriented programming: linking gadgets</a:t>
            </a:r>
          </a:p>
        </p:txBody>
      </p:sp>
    </p:spTree>
    <p:extLst>
      <p:ext uri="{BB962C8B-B14F-4D97-AF65-F5344CB8AC3E}">
        <p14:creationId xmlns:p14="http://schemas.microsoft.com/office/powerpoint/2010/main" val="30540845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Format String Attacks</a:t>
            </a:r>
            <a:endParaRPr lang="en-US" sz="2000" b="0" dirty="0"/>
          </a:p>
        </p:txBody>
      </p:sp>
      <p:pic>
        <p:nvPicPr>
          <p:cNvPr id="5" name="Picture 2" descr="A format string attack. A stack contains 4 blocks. The first block contains buffer B, A A A A % 0 8 x % 0 8 x left bracket unspecified right bracket % 0 8 x % n. A pointer from the third block indicates buffer B, first parameter to print f, pointer to format string. The fourth block contains stack frame of print 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3597" y="1439435"/>
            <a:ext cx="2716806" cy="38011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5"/>
          <p:cNvSpPr>
            <a:spLocks noGrp="1"/>
          </p:cNvSpPr>
          <p:nvPr>
            <p:ph type="body" idx="1"/>
          </p:nvPr>
        </p:nvSpPr>
        <p:spPr/>
        <p:txBody>
          <a:bodyPr/>
          <a:lstStyle/>
          <a:p>
            <a:r>
              <a:rPr lang="en-US" altLang="en-US" dirty="0"/>
              <a:t>Figure 9-24. A format string attack. By using exactly the right number of %08x, the attacker can use the first four characters of the format string as an address.</a:t>
            </a:r>
          </a:p>
        </p:txBody>
      </p:sp>
    </p:spTree>
    <p:extLst>
      <p:ext uri="{BB962C8B-B14F-4D97-AF65-F5344CB8AC3E}">
        <p14:creationId xmlns:p14="http://schemas.microsoft.com/office/powerpoint/2010/main" val="1372312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Login Spoofing</a:t>
            </a:r>
            <a:endParaRPr lang="en-US" sz="2000" b="0" dirty="0"/>
          </a:p>
        </p:txBody>
      </p:sp>
      <p:pic>
        <p:nvPicPr>
          <p:cNvPr id="7" name="Picture 2" descr="A login screen. In A, a correct login screen displays a two layered box with three buttons on the right. In B, a phony login screen has the same appeara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9712" y="2216067"/>
            <a:ext cx="6124575" cy="2247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5"/>
          <p:cNvSpPr>
            <a:spLocks noGrp="1"/>
          </p:cNvSpPr>
          <p:nvPr>
            <p:ph type="body" idx="1"/>
          </p:nvPr>
        </p:nvSpPr>
        <p:spPr/>
        <p:txBody>
          <a:bodyPr/>
          <a:lstStyle/>
          <a:p>
            <a:r>
              <a:rPr lang="en-US" altLang="en-US" dirty="0"/>
              <a:t>Figure 9-27. (a) Correct login screen. (b) Phony login screen.</a:t>
            </a:r>
          </a:p>
        </p:txBody>
      </p:sp>
    </p:spTree>
    <p:extLst>
      <p:ext uri="{BB962C8B-B14F-4D97-AF65-F5344CB8AC3E}">
        <p14:creationId xmlns:p14="http://schemas.microsoft.com/office/powerpoint/2010/main" val="31115504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Executable Program Viruses </a:t>
            </a:r>
            <a:r>
              <a:rPr lang="en-US" altLang="en-US" sz="2000" b="0" dirty="0"/>
              <a:t>(3 of 3)</a:t>
            </a:r>
            <a:endParaRPr lang="en-US" sz="2000" b="0" dirty="0"/>
          </a:p>
        </p:txBody>
      </p:sp>
      <p:pic>
        <p:nvPicPr>
          <p:cNvPr id="5" name="Picture 2" descr="Executable program viruses. A, an executable program. Starting address of the header points to the executable program. In B, the virus is at the front of the header, in between the executable program and the header. The header points to the virus. In C, the virus is at the end of the executable program. The header points to the virus. In D, the virus has spread all over the free space of the executable program from the header. The header points to the initial position of the virus and the other pointers trace the path of the virus sprea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633455"/>
            <a:ext cx="8229600" cy="3413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5"/>
          <p:cNvSpPr>
            <a:spLocks noGrp="1"/>
          </p:cNvSpPr>
          <p:nvPr>
            <p:ph type="body" idx="1"/>
          </p:nvPr>
        </p:nvSpPr>
        <p:spPr/>
        <p:txBody>
          <a:bodyPr/>
          <a:lstStyle/>
          <a:p>
            <a:r>
              <a:rPr lang="en-US" altLang="en-US" dirty="0"/>
              <a:t>Figure 9-29. (a) An executable program. (b) With a virus at the front. (c) With a virus at the end. (d) With a virus spread over free space within the program.</a:t>
            </a:r>
          </a:p>
        </p:txBody>
      </p:sp>
    </p:spTree>
    <p:extLst>
      <p:ext uri="{BB962C8B-B14F-4D97-AF65-F5344CB8AC3E}">
        <p14:creationId xmlns:p14="http://schemas.microsoft.com/office/powerpoint/2010/main" val="8786405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Boot Sector Viruses</a:t>
            </a:r>
            <a:endParaRPr lang="en-US" sz="2000" b="0" dirty="0"/>
          </a:p>
        </p:txBody>
      </p:sp>
      <p:pic>
        <p:nvPicPr>
          <p:cNvPr id="7" name="Picture 2" descr="The control of a virus program over various vectors. A stack has the following elements from bottom to top. Printer vector, Clock vector, Disk vector, S y s call traps, Virus, and Operating system. In A, the pointers of the s y s call traps, disk vector, clock vector and the printer vector are mapped to the virus program. Operating system is above the virus program. In B, the printer vector is mapped to the operating system. The s y s call traps, disk vector, and clock vector are mapped to the virus. In C, the pointers of the s y s call traps, disk vector, clock vector and the printer vector are mapped to the virus pro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9187" y="1630280"/>
            <a:ext cx="6905625" cy="3419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5"/>
          <p:cNvSpPr>
            <a:spLocks noGrp="1"/>
          </p:cNvSpPr>
          <p:nvPr>
            <p:ph type="body" idx="1"/>
          </p:nvPr>
        </p:nvSpPr>
        <p:spPr/>
        <p:txBody>
          <a:bodyPr/>
          <a:lstStyle/>
          <a:p>
            <a:r>
              <a:rPr lang="en-US" altLang="en-US" dirty="0"/>
              <a:t>Figure 9-30. (a) After the virus has captured all the interrupt and trap vectors. (b) After the operating system has retaken the printer interrupt vector. (c) After the virus has noticed the loss of the printer interrupt vector and recaptured it.</a:t>
            </a:r>
          </a:p>
        </p:txBody>
      </p:sp>
    </p:spTree>
    <p:extLst>
      <p:ext uri="{BB962C8B-B14F-4D97-AF65-F5344CB8AC3E}">
        <p14:creationId xmlns:p14="http://schemas.microsoft.com/office/powerpoint/2010/main" val="33875473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Actions Taken by Spyware </a:t>
            </a:r>
            <a:r>
              <a:rPr lang="en-US" altLang="en-US" sz="2000" b="0" dirty="0"/>
              <a:t>(1 of 2)</a:t>
            </a:r>
            <a:endParaRPr lang="en-US" sz="1200" b="0" dirty="0"/>
          </a:p>
        </p:txBody>
      </p:sp>
      <p:sp>
        <p:nvSpPr>
          <p:cNvPr id="3" name="Content Placeholder 2"/>
          <p:cNvSpPr>
            <a:spLocks noGrp="1"/>
          </p:cNvSpPr>
          <p:nvPr>
            <p:ph type="body" idx="1"/>
          </p:nvPr>
        </p:nvSpPr>
        <p:spPr>
          <a:xfrm>
            <a:off x="457200" y="1495425"/>
            <a:ext cx="8229600" cy="4925253"/>
          </a:xfrm>
        </p:spPr>
        <p:txBody>
          <a:bodyPr/>
          <a:lstStyle/>
          <a:p>
            <a:pPr marL="429768" indent="-429768">
              <a:buFont typeface="Calibri" panose="020F0502020204030204" pitchFamily="34" charset="0"/>
              <a:buAutoNum type="arabicPeriod"/>
            </a:pPr>
            <a:r>
              <a:rPr lang="en-US" altLang="en-US" dirty="0"/>
              <a:t>Change the browser’s home page.</a:t>
            </a:r>
          </a:p>
          <a:p>
            <a:pPr marL="429768" indent="-429768">
              <a:buFont typeface="Calibri" panose="020F0502020204030204" pitchFamily="34" charset="0"/>
              <a:buAutoNum type="arabicPeriod"/>
            </a:pPr>
            <a:r>
              <a:rPr lang="en-US" altLang="en-US" dirty="0"/>
              <a:t>Modify the browser’s list of favorite (bookmarked) pages.</a:t>
            </a:r>
          </a:p>
          <a:p>
            <a:pPr marL="429768" indent="-429768">
              <a:buFont typeface="Calibri" panose="020F0502020204030204" pitchFamily="34" charset="0"/>
              <a:buAutoNum type="arabicPeriod"/>
            </a:pPr>
            <a:r>
              <a:rPr lang="en-US" altLang="en-US" dirty="0"/>
              <a:t>Add new toolbars to the browser.</a:t>
            </a:r>
          </a:p>
          <a:p>
            <a:pPr marL="429768" indent="-429768">
              <a:buFont typeface="Calibri" panose="020F0502020204030204" pitchFamily="34" charset="0"/>
              <a:buAutoNum type="arabicPeriod"/>
            </a:pPr>
            <a:r>
              <a:rPr lang="en-US" altLang="en-US" dirty="0"/>
              <a:t>Change the user’s default media player.</a:t>
            </a:r>
          </a:p>
          <a:p>
            <a:pPr marL="429768" indent="-429768">
              <a:buFont typeface="Calibri" panose="020F0502020204030204" pitchFamily="34" charset="0"/>
              <a:buAutoNum type="arabicPeriod"/>
            </a:pPr>
            <a:r>
              <a:rPr lang="en-US" altLang="en-US" dirty="0"/>
              <a:t>Change the user’s default search engine.</a:t>
            </a:r>
          </a:p>
        </p:txBody>
      </p:sp>
    </p:spTree>
    <p:extLst>
      <p:ext uri="{BB962C8B-B14F-4D97-AF65-F5344CB8AC3E}">
        <p14:creationId xmlns:p14="http://schemas.microsoft.com/office/powerpoint/2010/main" val="30091787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Actions Taken by Spyware </a:t>
            </a:r>
            <a:r>
              <a:rPr lang="en-US" altLang="en-US" sz="2000" b="0" dirty="0"/>
              <a:t>(2 of 2)</a:t>
            </a:r>
            <a:endParaRPr lang="en-US" sz="1200" b="0" dirty="0"/>
          </a:p>
        </p:txBody>
      </p:sp>
      <p:sp>
        <p:nvSpPr>
          <p:cNvPr id="3" name="Content Placeholder 2"/>
          <p:cNvSpPr>
            <a:spLocks noGrp="1"/>
          </p:cNvSpPr>
          <p:nvPr>
            <p:ph type="body" idx="1"/>
          </p:nvPr>
        </p:nvSpPr>
        <p:spPr>
          <a:xfrm>
            <a:off x="457200" y="1495425"/>
            <a:ext cx="8229600" cy="4925253"/>
          </a:xfrm>
        </p:spPr>
        <p:txBody>
          <a:bodyPr/>
          <a:lstStyle/>
          <a:p>
            <a:pPr marL="429768" indent="-429768">
              <a:buFont typeface="Calibri" panose="020F0502020204030204" pitchFamily="34" charset="0"/>
              <a:buAutoNum type="arabicPeriod" startAt="6"/>
            </a:pPr>
            <a:r>
              <a:rPr lang="en-US" altLang="en-US" dirty="0"/>
              <a:t>Add new icons to the Windows desktop.</a:t>
            </a:r>
          </a:p>
          <a:p>
            <a:pPr marL="429768" indent="-429768">
              <a:buFont typeface="Calibri" panose="020F0502020204030204" pitchFamily="34" charset="0"/>
              <a:buAutoNum type="arabicPeriod" startAt="6"/>
            </a:pPr>
            <a:r>
              <a:rPr lang="en-US" altLang="en-US" dirty="0"/>
              <a:t>Replace banner ads on Web pages with those the spyware picks.</a:t>
            </a:r>
          </a:p>
          <a:p>
            <a:pPr marL="429768" indent="-429768">
              <a:buFont typeface="Calibri" panose="020F0502020204030204" pitchFamily="34" charset="0"/>
              <a:buAutoNum type="arabicPeriod" startAt="6"/>
            </a:pPr>
            <a:r>
              <a:rPr lang="en-US" altLang="en-US" dirty="0"/>
              <a:t>Put ads in the standard Windows dialog boxes</a:t>
            </a:r>
          </a:p>
          <a:p>
            <a:pPr marL="429768" indent="-429768">
              <a:buFont typeface="Calibri" panose="020F0502020204030204" pitchFamily="34" charset="0"/>
              <a:buAutoNum type="arabicPeriod" startAt="6"/>
            </a:pPr>
            <a:r>
              <a:rPr lang="en-US" altLang="en-US" dirty="0"/>
              <a:t>Generate a continuous and unstoppable stream of pop-up ads.</a:t>
            </a:r>
          </a:p>
        </p:txBody>
      </p:sp>
    </p:spTree>
    <p:extLst>
      <p:ext uri="{BB962C8B-B14F-4D97-AF65-F5344CB8AC3E}">
        <p14:creationId xmlns:p14="http://schemas.microsoft.com/office/powerpoint/2010/main" val="12858272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Types of Rootkits </a:t>
            </a:r>
            <a:r>
              <a:rPr lang="en-US" altLang="en-US" sz="2000" b="0" dirty="0"/>
              <a:t>(1 of 2)</a:t>
            </a:r>
            <a:endParaRPr lang="en-US" sz="1200" b="0" dirty="0"/>
          </a:p>
        </p:txBody>
      </p:sp>
      <p:sp>
        <p:nvSpPr>
          <p:cNvPr id="3" name="Content Placeholder 2"/>
          <p:cNvSpPr>
            <a:spLocks noGrp="1"/>
          </p:cNvSpPr>
          <p:nvPr>
            <p:ph type="body" idx="1"/>
          </p:nvPr>
        </p:nvSpPr>
        <p:spPr>
          <a:xfrm>
            <a:off x="457200" y="1495425"/>
            <a:ext cx="8229600" cy="4925253"/>
          </a:xfrm>
        </p:spPr>
        <p:txBody>
          <a:bodyPr/>
          <a:lstStyle/>
          <a:p>
            <a:pPr marL="0" indent="0">
              <a:buFont typeface="Arial" charset="0"/>
              <a:buNone/>
              <a:defRPr/>
            </a:pPr>
            <a:r>
              <a:rPr lang="en-US" dirty="0"/>
              <a:t>Five kinds of rootkits – issue is where do they hide?</a:t>
            </a:r>
          </a:p>
          <a:p>
            <a:pPr marL="916686" lvl="1" indent="-429768">
              <a:buFont typeface="+mj-lt"/>
              <a:buAutoNum type="arabicPeriod"/>
              <a:defRPr/>
            </a:pPr>
            <a:r>
              <a:rPr lang="en-US" dirty="0"/>
              <a:t>Firmware rootkit</a:t>
            </a:r>
          </a:p>
          <a:p>
            <a:pPr marL="916686" lvl="1" indent="-429768">
              <a:buFont typeface="+mj-lt"/>
              <a:buAutoNum type="arabicPeriod"/>
              <a:defRPr/>
            </a:pPr>
            <a:r>
              <a:rPr lang="en-US" dirty="0"/>
              <a:t>Hypervisor rootkit</a:t>
            </a:r>
          </a:p>
          <a:p>
            <a:pPr marL="916686" lvl="1" indent="-429768">
              <a:buFont typeface="+mj-lt"/>
              <a:buAutoNum type="arabicPeriod"/>
              <a:defRPr/>
            </a:pPr>
            <a:r>
              <a:rPr lang="en-US" dirty="0"/>
              <a:t>Kernel rootkit</a:t>
            </a:r>
          </a:p>
          <a:p>
            <a:pPr marL="916686" lvl="1" indent="-429768">
              <a:buFont typeface="+mj-lt"/>
              <a:buAutoNum type="arabicPeriod"/>
              <a:defRPr/>
            </a:pPr>
            <a:r>
              <a:rPr lang="en-US" dirty="0"/>
              <a:t>Library rootkit</a:t>
            </a:r>
          </a:p>
          <a:p>
            <a:pPr marL="916686" lvl="1" indent="-429768">
              <a:buFont typeface="+mj-lt"/>
              <a:buAutoNum type="arabicPeriod"/>
              <a:defRPr/>
            </a:pPr>
            <a:r>
              <a:rPr lang="en-US" dirty="0"/>
              <a:t>Application rootkit</a:t>
            </a:r>
          </a:p>
        </p:txBody>
      </p:sp>
    </p:spTree>
    <p:extLst>
      <p:ext uri="{BB962C8B-B14F-4D97-AF65-F5344CB8AC3E}">
        <p14:creationId xmlns:p14="http://schemas.microsoft.com/office/powerpoint/2010/main" val="10587626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Types of Rootkits </a:t>
            </a:r>
            <a:r>
              <a:rPr lang="en-US" altLang="en-US" sz="2000" b="0" dirty="0"/>
              <a:t>(2 of 2)</a:t>
            </a:r>
            <a:endParaRPr lang="en-US" sz="1200" b="0" dirty="0"/>
          </a:p>
        </p:txBody>
      </p:sp>
      <p:pic>
        <p:nvPicPr>
          <p:cNvPr id="5" name="Picture 2" descr="Spots where rootkits can hide. A stack has the following elements from bottom to top: H W, B I O S, Operating system, and Library and applications. In A, the rootkit hides in the H W. In B, a hypervisor has been added to the system, between the HW, B I O S, and the operating system. The root kit hides in the hypervisor. In C, the hypervisor has been removed and the root kit hides in the operating system. In D, the root kit hides in the library process. In E, the root kit hides in the app proces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610774"/>
            <a:ext cx="8229600" cy="34584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5"/>
          <p:cNvSpPr>
            <a:spLocks noGrp="1"/>
          </p:cNvSpPr>
          <p:nvPr>
            <p:ph type="body" idx="1"/>
          </p:nvPr>
        </p:nvSpPr>
        <p:spPr/>
        <p:txBody>
          <a:bodyPr/>
          <a:lstStyle/>
          <a:p>
            <a:r>
              <a:rPr lang="en-US" altLang="en-US" dirty="0"/>
              <a:t>Figure 9-31. Five places a rootkit can hide.</a:t>
            </a:r>
          </a:p>
        </p:txBody>
      </p:sp>
    </p:spTree>
    <p:extLst>
      <p:ext uri="{BB962C8B-B14F-4D97-AF65-F5344CB8AC3E}">
        <p14:creationId xmlns:p14="http://schemas.microsoft.com/office/powerpoint/2010/main" val="9755443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Firewalls</a:t>
            </a:r>
            <a:endParaRPr lang="en-US" sz="1200" b="0" dirty="0"/>
          </a:p>
        </p:txBody>
      </p:sp>
      <p:pic>
        <p:nvPicPr>
          <p:cNvPr id="7" name="Picture 2" descr="A generic hardware firewall. A web server, I P 2 0 7 period 6 8 period 1 6 0 period 1 9 0 colon 8 0, Email server, 2 0 7 period 6 8 period 1 6 0 period 1 9 1 colon 2 5, and F T P server, 2 0 7 period 6 8 period 1 6 0 period 1 9 2 colon 2 1, are connected to a local network. The local network is connected to a bidirectional network connection through a firew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175" y="2192255"/>
            <a:ext cx="8121650" cy="2295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5"/>
          <p:cNvSpPr>
            <a:spLocks noGrp="1"/>
          </p:cNvSpPr>
          <p:nvPr>
            <p:ph type="body" idx="1"/>
          </p:nvPr>
        </p:nvSpPr>
        <p:spPr/>
        <p:txBody>
          <a:bodyPr/>
          <a:lstStyle/>
          <a:p>
            <a:r>
              <a:rPr lang="en-US" altLang="en-US" dirty="0"/>
              <a:t>Figure 9-32. A simplified view of a hardware firewall protecting a LAN with three computers</a:t>
            </a:r>
          </a:p>
        </p:txBody>
      </p:sp>
    </p:spTree>
    <p:extLst>
      <p:ext uri="{BB962C8B-B14F-4D97-AF65-F5344CB8AC3E}">
        <p14:creationId xmlns:p14="http://schemas.microsoft.com/office/powerpoint/2010/main" val="26091072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Virus Scanners </a:t>
            </a:r>
            <a:r>
              <a:rPr lang="en-US" altLang="en-US" sz="2000" b="0" dirty="0"/>
              <a:t>(1 of 2)</a:t>
            </a:r>
            <a:endParaRPr lang="en-US" sz="1200" b="0" dirty="0"/>
          </a:p>
        </p:txBody>
      </p:sp>
      <p:pic>
        <p:nvPicPr>
          <p:cNvPr id="5" name="Picture 2" descr="A virus scanner. A, an executable program with a header. B, the executable program is infected with a virus and the file becomes longer. C, the executable program has an unused free space, the virus program, decompressor, compressor, compressed executable program, and the header. The file has returned to original size. D, the executable program has an unused free space, encrypted virus, decompressor, compressor, encryptor, key, decryptor, compressed executable program, and the header. E, the executable program has unused free space, encrypted virus, decompressor, compressor, encryptor, key, decryptor, compressed executable program and the header. The virus program, decompressor, compressor and the encryptor are encrypt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8373" y="1369794"/>
            <a:ext cx="7427253" cy="39404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5"/>
          <p:cNvSpPr>
            <a:spLocks noGrp="1"/>
          </p:cNvSpPr>
          <p:nvPr>
            <p:ph type="body" idx="1"/>
          </p:nvPr>
        </p:nvSpPr>
        <p:spPr/>
        <p:txBody>
          <a:bodyPr/>
          <a:lstStyle/>
          <a:p>
            <a:r>
              <a:rPr lang="en-US" altLang="en-US" dirty="0"/>
              <a:t>Figure 9-33. (a) A program. (b) An infected program. (c) A compressed infected program. (d) An encrypted virus. (e) A compressed virus with encrypted compression code.</a:t>
            </a:r>
          </a:p>
        </p:txBody>
      </p:sp>
    </p:spTree>
    <p:extLst>
      <p:ext uri="{BB962C8B-B14F-4D97-AF65-F5344CB8AC3E}">
        <p14:creationId xmlns:p14="http://schemas.microsoft.com/office/powerpoint/2010/main" val="25802341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Code Signing</a:t>
            </a:r>
            <a:endParaRPr lang="en-US" sz="1200" b="0" dirty="0"/>
          </a:p>
        </p:txBody>
      </p:sp>
      <p:pic>
        <p:nvPicPr>
          <p:cNvPr id="5" name="Picture 2" descr="The process of code signing. A software vendor and a user system are connected to the internet. Signature generation is associated with the software vendor, while signature verification is associated with the user. The signature and the corresponding program of the vendor are sent to the network system. H equals hash left parenthesis program right parenthesis. Signature equals encrypt left parenthesis H right parenthesis. The generated signature is sent to the user system for verification. H 1 equals hash left parenthesis Program right parenthesis. H 2 equals decrypt left parenthesis Signature right parenthesis. If the hash program and the decrypted signature are same, then the user system will verify the signature, Accept program if H 1 equals H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1975" y="1601705"/>
            <a:ext cx="8020050" cy="3476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5"/>
          <p:cNvSpPr>
            <a:spLocks noGrp="1"/>
          </p:cNvSpPr>
          <p:nvPr>
            <p:ph type="body" idx="1"/>
          </p:nvPr>
        </p:nvSpPr>
        <p:spPr/>
        <p:txBody>
          <a:bodyPr/>
          <a:lstStyle/>
          <a:p>
            <a:r>
              <a:rPr lang="en-US" altLang="en-US" dirty="0"/>
              <a:t>Figure 9-35. How code signing works.</a:t>
            </a:r>
          </a:p>
        </p:txBody>
      </p:sp>
    </p:spTree>
    <p:extLst>
      <p:ext uri="{BB962C8B-B14F-4D97-AF65-F5344CB8AC3E}">
        <p14:creationId xmlns:p14="http://schemas.microsoft.com/office/powerpoint/2010/main" val="1989628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Sandboxing</a:t>
            </a:r>
            <a:endParaRPr lang="en-US" sz="1200" b="0" dirty="0"/>
          </a:p>
        </p:txBody>
      </p:sp>
      <p:pic>
        <p:nvPicPr>
          <p:cNvPr id="7" name="Picture 2" descr="The memory division and instruction checking operation. A, a memory that is divided into 16 M B sandboxes. 0 to 32 M B of storage are categorized as Applet 1 and 64 to 96 M B are categorized as Applet 2. Each applet contains a code part and a data part. Virtual address 224 of the memory storage references the monitor for checking the system. B, computer code has 5 lines. The lines read as follows. Line 1. M O V, R 1 comma S 1. Line 2. S H R hash 24 comma S 1. Line 3. C M P, S 1 comma S 2. Line 4. T R A P N E. Line 5. J M P left parenthesis R 1 right parenthesi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8667" y="1496338"/>
            <a:ext cx="5686665" cy="36873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5"/>
          <p:cNvSpPr>
            <a:spLocks noGrp="1"/>
          </p:cNvSpPr>
          <p:nvPr>
            <p:ph type="body" idx="1"/>
          </p:nvPr>
        </p:nvSpPr>
        <p:spPr/>
        <p:txBody>
          <a:bodyPr/>
          <a:lstStyle/>
          <a:p>
            <a:r>
              <a:rPr lang="en-US" altLang="en-US" dirty="0"/>
              <a:t>Figure 9-38. (a) Memory divided into 16-MB sandboxes. (b) One way of checking an instruction for validity.</a:t>
            </a:r>
          </a:p>
        </p:txBody>
      </p:sp>
    </p:spTree>
    <p:extLst>
      <p:ext uri="{BB962C8B-B14F-4D97-AF65-F5344CB8AC3E}">
        <p14:creationId xmlns:p14="http://schemas.microsoft.com/office/powerpoint/2010/main" val="26210643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Interpretation</a:t>
            </a:r>
            <a:endParaRPr lang="en-US" sz="1200" b="0" dirty="0"/>
          </a:p>
        </p:txBody>
      </p:sp>
      <p:pic>
        <p:nvPicPr>
          <p:cNvPr id="5" name="Picture 2" descr="The interpretation process of applets by a web browser. The hexadecimal virtual addresses are listed beside the interface of the web browser. A sandbox contains an untrusted applet. The sandbox and a trusted applet are housed inside a common interpreter which forms a web brows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2525" y="1392155"/>
            <a:ext cx="6838950" cy="3895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5"/>
          <p:cNvSpPr>
            <a:spLocks noGrp="1"/>
          </p:cNvSpPr>
          <p:nvPr>
            <p:ph type="body" idx="1"/>
          </p:nvPr>
        </p:nvSpPr>
        <p:spPr/>
        <p:txBody>
          <a:bodyPr/>
          <a:lstStyle/>
          <a:p>
            <a:r>
              <a:rPr lang="en-US" altLang="en-US" dirty="0"/>
              <a:t>Figure 9-39. Applets can be interpreted by a Web browser.</a:t>
            </a:r>
          </a:p>
        </p:txBody>
      </p:sp>
    </p:spTree>
    <p:extLst>
      <p:ext uri="{BB962C8B-B14F-4D97-AF65-F5344CB8AC3E}">
        <p14:creationId xmlns:p14="http://schemas.microsoft.com/office/powerpoint/2010/main" val="22047639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Title 1"/>
          <p:cNvSpPr txBox="1">
            <a:spLocks noGrp="1"/>
          </p:cNvSpPr>
          <p:nvPr>
            <p:ph type="title"/>
          </p:nvPr>
        </p:nvSpPr>
        <p:spPr>
          <a:xfrm>
            <a:off x="457200" y="215371"/>
            <a:ext cx="8229600" cy="1097400"/>
          </a:xfrm>
          <a:prstGeom prst="rect">
            <a:avLst/>
          </a:prstGeom>
        </p:spPr>
        <p:txBody>
          <a:bodyPr lIns="91425" tIns="91425" rIns="91425" bIns="91425" anchor="b" anchorCtr="0">
            <a:noAutofit/>
          </a:bodyPr>
          <a:lstStyle/>
          <a:p>
            <a:pPr lvl="0">
              <a:spcBef>
                <a:spcPts val="0"/>
              </a:spcBef>
              <a:buClr>
                <a:schemeClr val="lt2"/>
              </a:buClr>
              <a:buSzPct val="25000"/>
              <a:buFont typeface="Times New Roman"/>
              <a:buNone/>
            </a:pPr>
            <a:r>
              <a:rPr lang="en-US" dirty="0">
                <a:solidFill>
                  <a:schemeClr val="lt2"/>
                </a:solidFill>
              </a:rPr>
              <a:t>Copyright</a:t>
            </a:r>
          </a:p>
        </p:txBody>
      </p:sp>
      <p:pic>
        <p:nvPicPr>
          <p:cNvPr id="386" name="Picture 2" descr="This work is protected by United States copyright laws and is provided solely for the use of instructors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honor the intended pedagogical purposes and the needs of other instructors who rely on these materials."/>
          <p:cNvPicPr preferRelativeResize="0"/>
          <p:nvPr/>
        </p:nvPicPr>
        <p:blipFill>
          <a:blip r:embed="rId3">
            <a:alphaModFix/>
          </a:blip>
          <a:stretch>
            <a:fillRect/>
          </a:stretch>
        </p:blipFill>
        <p:spPr>
          <a:xfrm>
            <a:off x="715650" y="2310096"/>
            <a:ext cx="7419975" cy="2466975"/>
          </a:xfrm>
          <a:prstGeom prst="rect">
            <a:avLst/>
          </a:prstGeom>
          <a:noFill/>
          <a:ln>
            <a:noFill/>
          </a:ln>
        </p:spPr>
      </p:pic>
    </p:spTree>
    <p:extLst>
      <p:ext uri="{BB962C8B-B14F-4D97-AF65-F5344CB8AC3E}">
        <p14:creationId xmlns:p14="http://schemas.microsoft.com/office/powerpoint/2010/main" val="2631376516"/>
      </p:ext>
    </p:extLst>
  </p:cSld>
  <p:clrMapOvr>
    <a:masterClrMapping/>
  </p:clrMapOvr>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64F4933ACCA1D499DD9E6536031753F" ma:contentTypeVersion="0" ma:contentTypeDescription="Create a new document." ma:contentTypeScope="" ma:versionID="f6e0b48212c743127a9bbfd65621b9c2">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10F48C7-979E-4437-A76A-50919CDCE47E}">
  <ds:schemaRefs>
    <ds:schemaRef ds:uri="http://schemas.microsoft.com/office/infopath/2007/PartnerControls"/>
    <ds:schemaRef ds:uri="http://purl.org/dc/elements/1.1/"/>
    <ds:schemaRef ds:uri="http://purl.org/dc/terms/"/>
    <ds:schemaRef ds:uri="http://www.w3.org/XML/1998/namespace"/>
    <ds:schemaRef ds:uri="http://schemas.microsoft.com/office/2006/documentManagement/types"/>
    <ds:schemaRef ds:uri="http://schemas.openxmlformats.org/package/2006/metadata/core-properties"/>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405C30F1-3CA1-4610-A2EC-6FA60B0B5FE9}">
  <ds:schemaRefs>
    <ds:schemaRef ds:uri="http://schemas.microsoft.com/sharepoint/v3/contenttype/forms"/>
  </ds:schemaRefs>
</ds:datastoreItem>
</file>

<file path=customXml/itemProps3.xml><?xml version="1.0" encoding="utf-8"?>
<ds:datastoreItem xmlns:ds="http://schemas.openxmlformats.org/officeDocument/2006/customXml" ds:itemID="{75D850D1-D5E6-4580-AAEF-BDAD0E74B15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11985</TotalTime>
  <Words>1629</Words>
  <Application>Microsoft Office PowerPoint</Application>
  <PresentationFormat>On-screen Show (4:3)</PresentationFormat>
  <Paragraphs>194</Paragraphs>
  <Slides>53</Slides>
  <Notes>2</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53</vt:i4>
      </vt:variant>
    </vt:vector>
  </HeadingPairs>
  <TitlesOfParts>
    <vt:vector size="61" baseType="lpstr">
      <vt:lpstr>Verdana</vt:lpstr>
      <vt:lpstr>Calibri</vt:lpstr>
      <vt:lpstr>Noto Sans Symbols</vt:lpstr>
      <vt:lpstr>Arial</vt:lpstr>
      <vt:lpstr>Times New Roman</vt:lpstr>
      <vt:lpstr>508 Lecture</vt:lpstr>
      <vt:lpstr>1_508 Lecture</vt:lpstr>
      <vt:lpstr>Equation</vt:lpstr>
      <vt:lpstr>Modern Operating Systems</vt:lpstr>
      <vt:lpstr>Network Hardware Ethernet</vt:lpstr>
      <vt:lpstr>The Internet</vt:lpstr>
      <vt:lpstr>Network Services (1 of 2)</vt:lpstr>
      <vt:lpstr>Network Services (2 of 2)</vt:lpstr>
      <vt:lpstr>Network Protocols</vt:lpstr>
      <vt:lpstr>Document-Based Middleware (2 of 3)</vt:lpstr>
      <vt:lpstr>File-System-Based Middleware: Transfer Model</vt:lpstr>
      <vt:lpstr>The Directory Hierarchy</vt:lpstr>
      <vt:lpstr>Naming Transparency</vt:lpstr>
      <vt:lpstr>The Security Environment Threats</vt:lpstr>
      <vt:lpstr>Can We Build Secure Systems?</vt:lpstr>
      <vt:lpstr>Trusted Computing Base</vt:lpstr>
      <vt:lpstr>Protection Domains (1 of 3)</vt:lpstr>
      <vt:lpstr>Protection Domains (2 of 3)</vt:lpstr>
      <vt:lpstr>Protection Domains (3 of 3)</vt:lpstr>
      <vt:lpstr>Access Control Lists (1 of 2)</vt:lpstr>
      <vt:lpstr>Access Control Lists (2 of 2)</vt:lpstr>
      <vt:lpstr>Capabilities (1 of 3)</vt:lpstr>
      <vt:lpstr>Capabilities (2 of 3)</vt:lpstr>
      <vt:lpstr>Capabilities (3 of 3)</vt:lpstr>
      <vt:lpstr>Formal Models of Secure Systems</vt:lpstr>
      <vt:lpstr>Multilevel Security: Bell-LaPadula Model</vt:lpstr>
      <vt:lpstr>Bell- LaPadula Model</vt:lpstr>
      <vt:lpstr>The Biba Model</vt:lpstr>
      <vt:lpstr>Covert Channels (1 of 2)</vt:lpstr>
      <vt:lpstr>Covert Channels (2 of 2)</vt:lpstr>
      <vt:lpstr>Steganography</vt:lpstr>
      <vt:lpstr>Basics of Cryptography</vt:lpstr>
      <vt:lpstr>Secret-Key Cryptography</vt:lpstr>
      <vt:lpstr>Digital Signatures</vt:lpstr>
      <vt:lpstr>Authentication (1 of 2)</vt:lpstr>
      <vt:lpstr>Authentication (2 of 2)</vt:lpstr>
      <vt:lpstr>U N I X Password Security</vt:lpstr>
      <vt:lpstr>Challenge-Response Authentication</vt:lpstr>
      <vt:lpstr>Authentication Using a Physical Object</vt:lpstr>
      <vt:lpstr>Authentication Using Biometrics</vt:lpstr>
      <vt:lpstr>Buffer Overflow Attacks</vt:lpstr>
      <vt:lpstr>Code Reuse Attacks</vt:lpstr>
      <vt:lpstr>Format String Attacks</vt:lpstr>
      <vt:lpstr>Login Spoofing</vt:lpstr>
      <vt:lpstr>Executable Program Viruses (3 of 3)</vt:lpstr>
      <vt:lpstr>Boot Sector Viruses</vt:lpstr>
      <vt:lpstr>Actions Taken by Spyware (1 of 2)</vt:lpstr>
      <vt:lpstr>Actions Taken by Spyware (2 of 2)</vt:lpstr>
      <vt:lpstr>Types of Rootkits (1 of 2)</vt:lpstr>
      <vt:lpstr>Types of Rootkits (2 of 2)</vt:lpstr>
      <vt:lpstr>Firewalls</vt:lpstr>
      <vt:lpstr>Virus Scanners (1 of 2)</vt:lpstr>
      <vt:lpstr>Code Signing</vt:lpstr>
      <vt:lpstr>Sandboxing</vt:lpstr>
      <vt:lpstr>Interpretation</vt:lpstr>
      <vt:lpstr>Copyright</vt:lpstr>
    </vt:vector>
  </TitlesOfParts>
  <Company>Cognizant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Operating Systems, 4e</dc:title>
  <dc:subject>ECS</dc:subject>
  <dc:creator>Tanenbaum/Bos</dc:creator>
  <cp:keywords>ECS</cp:keywords>
  <cp:lastModifiedBy>Anitha SaravanaKumar</cp:lastModifiedBy>
  <cp:revision>616</cp:revision>
  <dcterms:modified xsi:type="dcterms:W3CDTF">2025-10-06T19:05:09Z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y fmtid="{D5CDD505-2E9C-101B-9397-08002B2CF9AE}" pid="8" name="ContentTypeId">
    <vt:lpwstr>0x010100964F4933ACCA1D499DD9E6536031753F</vt:lpwstr>
  </property>
</Properties>
</file>